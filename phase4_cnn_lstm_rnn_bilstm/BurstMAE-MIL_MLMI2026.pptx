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headline: AE signals see micro-damage earlier than vibration, but they are transient and labels are scarce. We solve both with an event-based, self-supervised framework called BurstMAE-MIL. Tease the result: 99.91% accuracy, AUC 1.000, using only a limited number of labeled samples per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Keep it to ~15 seconds. The right panel is the thesis the whole talk defends.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stakes in plain terms: machines fail, and AE is uniquely sensitive to the earliest signs. The right card gives the physical sensing envelope so the audience trusts the modality.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obstacles map one-to-one onto the three design choices of our method. Plant that seed now: event-based segmentation, self-supervised learning, attention MIL.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contribution. Each pillar answers one obstacle from the previous slide. Say it slowly so the structure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boxes left to right. Emphasize the pipeline runs end to end from raw AE to a per-recording fault label. The next three slides zoom into the three colored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energy-MAD detector is robust to changing noise. Point at the red crosses: each is a candidate burst. Bottom plot shows the clean transients we actually feed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masked autoencoding simply: hide most of the spectrogram, force the model to fill in the gaps, and it must learn what AE bursts actually look like. We then throw away the decoder and keep the encoder. This is what makes us label-efficient.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tall amber bars are the bursts the model decides are diagnostic. Pooling weights them, the classifier outputs one label per recording. Crucially, we never told it which burst mattered.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rig, real induced faults verified optically. Stress two integrity points: pretraining used only training-split bursts (no leakage), and all evaluation is at the recording/file level, which matches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contrast hard. The CNN is a strong, conventional baseline and it sits around 90%. We are at 99.9% with the same scarce labels. Pause on the table; let the two 'ours' rows speak.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confusion matrices, both clean diagonals. Note these are different recordings at different speeds, so this is genuine generalization, not a single lucky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UMAP shows the four conditions sitting in distinct islands - the encoder learned fault-specific structure, not surface artifacts. ROC corroborates with perfect separability.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heatmap row is a recording; columns are bursts. Bright cells are where the model looks. The point: this interpretability is free - we get it without ever labeling individual bursts.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bow: each design choice neutralizes one of the three obstacles from slide 4. This problem-to-solution symmetry is the cleanest way to make the contribution memorable.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in three sentences, then point forward. The future-work panel signals this is part of a larger research program, which reviewers and award committees like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warmly. Have backup slides ready for: STFT settings, MAE mask ratio, attention formulation, and why the CNN baseline degrades. Thank the funders briefly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slideLayout" Target="../slideLayouts/slideLayout1.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A2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6A99A"/>
          </a:solidFill>
          <a:ln/>
        </p:spPr>
      </p:sp>
      <p:sp>
        <p:nvSpPr>
          <p:cNvPr id="3" name="Text 1"/>
          <p:cNvSpPr/>
          <p:nvPr/>
        </p:nvSpPr>
        <p:spPr>
          <a:xfrm>
            <a:off x="0" y="713232"/>
            <a:ext cx="12191695" cy="292608"/>
          </a:xfrm>
          <a:prstGeom prst="rect">
            <a:avLst/>
          </a:prstGeom>
          <a:noFill/>
          <a:ln/>
        </p:spPr>
        <p:txBody>
          <a:bodyPr wrap="square" rtlCol="0" anchor="ctr"/>
          <a:lstStyle/>
          <a:p>
            <a:pPr algn="ctr" indent="0" marL="0">
              <a:buNone/>
            </a:pPr>
            <a:r>
              <a:rPr lang="en-US" sz="1300" b="1" spc="300" kern="0" dirty="0">
                <a:solidFill>
                  <a:srgbClr val="16A99A"/>
                </a:solidFill>
                <a:latin typeface="Arial" pitchFamily="34" charset="0"/>
                <a:ea typeface="Arial" pitchFamily="34" charset="-122"/>
                <a:cs typeface="Arial" pitchFamily="34" charset="-120"/>
              </a:rPr>
              <a:t>MLMI 2026  ·  MACHINE LEARNING AND MACHINE INTELLIGENCE  ·  JAPAN</a:t>
            </a:r>
            <a:endParaRPr lang="en-US" sz="1300" dirty="0"/>
          </a:p>
        </p:txBody>
      </p:sp>
      <p:sp>
        <p:nvSpPr>
          <p:cNvPr id="4" name="Text 2"/>
          <p:cNvSpPr/>
          <p:nvPr/>
        </p:nvSpPr>
        <p:spPr>
          <a:xfrm>
            <a:off x="0" y="1170432"/>
            <a:ext cx="12191695" cy="960120"/>
          </a:xfrm>
          <a:prstGeom prst="rect">
            <a:avLst/>
          </a:prstGeom>
          <a:noFill/>
          <a:ln/>
        </p:spPr>
        <p:txBody>
          <a:bodyPr wrap="square" rtlCol="0" anchor="ctr"/>
          <a:lstStyle/>
          <a:p>
            <a:pPr algn="ctr" indent="0" marL="0">
              <a:buNone/>
            </a:pPr>
            <a:r>
              <a:rPr lang="en-US" sz="6000" b="1" dirty="0">
                <a:solidFill>
                  <a:srgbClr val="FFFFFF"/>
                </a:solidFill>
                <a:latin typeface="Georgia" pitchFamily="34" charset="0"/>
                <a:ea typeface="Georgia" pitchFamily="34" charset="-122"/>
                <a:cs typeface="Georgia" pitchFamily="34" charset="-120"/>
              </a:rPr>
              <a:t>BurstMAE–MIL</a:t>
            </a:r>
            <a:endParaRPr lang="en-US" sz="6000" dirty="0"/>
          </a:p>
        </p:txBody>
      </p:sp>
      <p:sp>
        <p:nvSpPr>
          <p:cNvPr id="5" name="Text 3"/>
          <p:cNvSpPr/>
          <p:nvPr/>
        </p:nvSpPr>
        <p:spPr>
          <a:xfrm>
            <a:off x="914400" y="2286000"/>
            <a:ext cx="10360152" cy="914400"/>
          </a:xfrm>
          <a:prstGeom prst="rect">
            <a:avLst/>
          </a:prstGeom>
          <a:noFill/>
          <a:ln/>
        </p:spPr>
        <p:txBody>
          <a:bodyPr wrap="square" rtlCol="0" anchor="ctr"/>
          <a:lstStyle/>
          <a:p>
            <a:pPr algn="ctr" indent="0" marL="0">
              <a:lnSpc>
                <a:spcPct val="112000"/>
              </a:lnSpc>
              <a:buNone/>
            </a:pPr>
            <a:r>
              <a:rPr lang="en-US" sz="1950" i="1" dirty="0">
                <a:solidFill>
                  <a:srgbClr val="CFE8E4"/>
                </a:solidFill>
                <a:latin typeface="Georgia" pitchFamily="34" charset="0"/>
                <a:ea typeface="Georgia" pitchFamily="34" charset="-122"/>
                <a:cs typeface="Georgia" pitchFamily="34" charset="-120"/>
              </a:rPr>
              <a:t>A Self–Supervised, Event–Based Learning Framework for Acoustic</a:t>
            </a:r>
            <a:endParaRPr lang="en-US" sz="1950" dirty="0"/>
          </a:p>
          <a:p>
            <a:pPr algn="ctr" indent="0" marL="0">
              <a:lnSpc>
                <a:spcPct val="112000"/>
              </a:lnSpc>
              <a:buNone/>
            </a:pPr>
            <a:r>
              <a:rPr lang="en-US" sz="1950" i="1" dirty="0">
                <a:solidFill>
                  <a:srgbClr val="CFE8E4"/>
                </a:solidFill>
                <a:latin typeface="Georgia" pitchFamily="34" charset="0"/>
                <a:ea typeface="Georgia" pitchFamily="34" charset="-122"/>
                <a:cs typeface="Georgia" pitchFamily="34" charset="-120"/>
              </a:rPr>
              <a:t>Emission–Based Fault Identification in Milling Machines</a:t>
            </a:r>
            <a:endParaRPr lang="en-US" sz="1950" dirty="0"/>
          </a:p>
        </p:txBody>
      </p:sp>
      <p:sp>
        <p:nvSpPr>
          <p:cNvPr id="6" name="Text 4"/>
          <p:cNvSpPr/>
          <p:nvPr/>
        </p:nvSpPr>
        <p:spPr>
          <a:xfrm>
            <a:off x="0" y="3310128"/>
            <a:ext cx="12191695" cy="310896"/>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Muhammad Umar</a:t>
            </a:r>
            <a:pPr algn="ctr" indent="0" marL="0">
              <a:buNone/>
            </a:pPr>
            <a:r>
              <a:rPr lang="en-US" sz="1500" dirty="0">
                <a:solidFill>
                  <a:srgbClr val="AFC4D6"/>
                </a:solidFill>
                <a:latin typeface="Arial" pitchFamily="34" charset="0"/>
                <a:ea typeface="Arial" pitchFamily="34" charset="-122"/>
                <a:cs typeface="Arial" pitchFamily="34" charset="-120"/>
              </a:rPr>
              <a:t>      Faisal Saleem</a:t>
            </a:r>
            <a:pPr algn="ctr" indent="0" marL="0">
              <a:buNone/>
            </a:pPr>
            <a:r>
              <a:rPr lang="en-US" sz="1500" dirty="0">
                <a:solidFill>
                  <a:srgbClr val="AFC4D6"/>
                </a:solidFill>
                <a:latin typeface="Arial" pitchFamily="34" charset="0"/>
                <a:ea typeface="Arial" pitchFamily="34" charset="-122"/>
                <a:cs typeface="Arial" pitchFamily="34" charset="-120"/>
              </a:rPr>
              <a:t>      Jong–Myon Kim</a:t>
            </a:r>
            <a:pPr algn="ctr" indent="0" marL="0">
              <a:buNone/>
            </a:pPr>
            <a:r>
              <a:rPr lang="en-US" sz="1500" b="1" dirty="0">
                <a:solidFill>
                  <a:srgbClr val="EFA135"/>
                </a:solidFill>
                <a:latin typeface="Arial" pitchFamily="34" charset="0"/>
                <a:ea typeface="Arial" pitchFamily="34" charset="-122"/>
                <a:cs typeface="Arial" pitchFamily="34" charset="-120"/>
              </a:rPr>
              <a:t> *</a:t>
            </a:r>
            <a:endParaRPr lang="en-US" sz="1500" dirty="0"/>
          </a:p>
        </p:txBody>
      </p:sp>
      <p:sp>
        <p:nvSpPr>
          <p:cNvPr id="7" name="Text 5"/>
          <p:cNvSpPr/>
          <p:nvPr/>
        </p:nvSpPr>
        <p:spPr>
          <a:xfrm>
            <a:off x="0" y="3639312"/>
            <a:ext cx="12191695" cy="274320"/>
          </a:xfrm>
          <a:prstGeom prst="rect">
            <a:avLst/>
          </a:prstGeom>
          <a:noFill/>
          <a:ln/>
        </p:spPr>
        <p:txBody>
          <a:bodyPr wrap="square" rtlCol="0" anchor="ctr"/>
          <a:lstStyle/>
          <a:p>
            <a:pPr algn="ctr" indent="0" marL="0">
              <a:buNone/>
            </a:pPr>
            <a:r>
              <a:rPr lang="en-US" sz="1100" dirty="0">
                <a:solidFill>
                  <a:srgbClr val="AFC4D6"/>
                </a:solidFill>
                <a:latin typeface="Arial" pitchFamily="34" charset="0"/>
                <a:ea typeface="Arial" pitchFamily="34" charset="-122"/>
                <a:cs typeface="Arial" pitchFamily="34" charset="-120"/>
              </a:rPr>
              <a:t>Department of Electrical, Electronics &amp; Computer Engineering, University of Ulsan, South Korea   ·   PD Technology Co. Ltd.</a:t>
            </a:r>
            <a:endParaRPr lang="en-US" sz="1100" dirty="0"/>
          </a:p>
        </p:txBody>
      </p:sp>
      <p:sp>
        <p:nvSpPr>
          <p:cNvPr id="8" name="Shape 6"/>
          <p:cNvSpPr/>
          <p:nvPr/>
        </p:nvSpPr>
        <p:spPr>
          <a:xfrm>
            <a:off x="1638148" y="4133088"/>
            <a:ext cx="2697480" cy="841248"/>
          </a:xfrm>
          <a:prstGeom prst="roundRect">
            <a:avLst>
              <a:gd name="adj" fmla="val 10870"/>
            </a:avLst>
          </a:prstGeom>
          <a:solidFill>
            <a:srgbClr val="12283E"/>
          </a:solidFill>
          <a:ln w="12700">
            <a:solidFill>
              <a:srgbClr val="1C3A56"/>
            </a:solidFill>
            <a:prstDash val="solid"/>
          </a:ln>
          <a:effectLst>
            <a:outerShdw sx="100000" sy="100000" kx="0" ky="0" algn="bl" rotWithShape="0" blurRad="88900" dist="25400" dir="5400000">
              <a:srgbClr val="22303C">
                <a:alpha val="10000"/>
              </a:srgbClr>
            </a:outerShdw>
          </a:effectLst>
        </p:spPr>
      </p:sp>
      <p:sp>
        <p:nvSpPr>
          <p:cNvPr id="9" name="Text 7"/>
          <p:cNvSpPr/>
          <p:nvPr/>
        </p:nvSpPr>
        <p:spPr>
          <a:xfrm>
            <a:off x="1638148" y="4224528"/>
            <a:ext cx="2697480" cy="411480"/>
          </a:xfrm>
          <a:prstGeom prst="rect">
            <a:avLst/>
          </a:prstGeom>
          <a:noFill/>
          <a:ln/>
        </p:spPr>
        <p:txBody>
          <a:bodyPr wrap="square" lIns="0" tIns="0" rIns="0" bIns="0" rtlCol="0" anchor="ctr"/>
          <a:lstStyle/>
          <a:p>
            <a:pPr algn="ctr" indent="0" marL="0">
              <a:buNone/>
            </a:pPr>
            <a:r>
              <a:rPr lang="en-US" sz="2600" b="1" dirty="0">
                <a:solidFill>
                  <a:srgbClr val="16A99A"/>
                </a:solidFill>
                <a:latin typeface="Georgia" pitchFamily="34" charset="0"/>
                <a:ea typeface="Georgia" pitchFamily="34" charset="-122"/>
                <a:cs typeface="Georgia" pitchFamily="34" charset="-120"/>
              </a:rPr>
              <a:t>99.91%</a:t>
            </a:r>
            <a:endParaRPr lang="en-US" sz="2600" dirty="0"/>
          </a:p>
        </p:txBody>
      </p:sp>
      <p:sp>
        <p:nvSpPr>
          <p:cNvPr id="10" name="Text 8"/>
          <p:cNvSpPr/>
          <p:nvPr/>
        </p:nvSpPr>
        <p:spPr>
          <a:xfrm>
            <a:off x="1638148" y="4645152"/>
            <a:ext cx="2697480" cy="274320"/>
          </a:xfrm>
          <a:prstGeom prst="rect">
            <a:avLst/>
          </a:prstGeom>
          <a:noFill/>
          <a:ln/>
        </p:spPr>
        <p:txBody>
          <a:bodyPr wrap="square" lIns="0" tIns="0" rIns="0" bIns="0" rtlCol="0" anchor="ctr"/>
          <a:lstStyle/>
          <a:p>
            <a:pPr algn="ctr" indent="0" marL="0">
              <a:buNone/>
            </a:pPr>
            <a:r>
              <a:rPr lang="en-US" sz="1050" dirty="0">
                <a:solidFill>
                  <a:srgbClr val="AFC4D6"/>
                </a:solidFill>
                <a:latin typeface="Arial" pitchFamily="34" charset="0"/>
                <a:ea typeface="Arial" pitchFamily="34" charset="-122"/>
                <a:cs typeface="Arial" pitchFamily="34" charset="-120"/>
              </a:rPr>
              <a:t>Sample-level accuracy</a:t>
            </a:r>
            <a:endParaRPr lang="en-US" sz="1050" dirty="0"/>
          </a:p>
        </p:txBody>
      </p:sp>
      <p:sp>
        <p:nvSpPr>
          <p:cNvPr id="11" name="Shape 9"/>
          <p:cNvSpPr/>
          <p:nvPr/>
        </p:nvSpPr>
        <p:spPr>
          <a:xfrm>
            <a:off x="4747108" y="4133088"/>
            <a:ext cx="2697480" cy="841248"/>
          </a:xfrm>
          <a:prstGeom prst="roundRect">
            <a:avLst>
              <a:gd name="adj" fmla="val 10870"/>
            </a:avLst>
          </a:prstGeom>
          <a:solidFill>
            <a:srgbClr val="12283E"/>
          </a:solidFill>
          <a:ln w="12700">
            <a:solidFill>
              <a:srgbClr val="1C3A56"/>
            </a:solidFill>
            <a:prstDash val="solid"/>
          </a:ln>
          <a:effectLst>
            <a:outerShdw sx="100000" sy="100000" kx="0" ky="0" algn="bl" rotWithShape="0" blurRad="88900" dist="25400" dir="5400000">
              <a:srgbClr val="22303C">
                <a:alpha val="10000"/>
              </a:srgbClr>
            </a:outerShdw>
          </a:effectLst>
        </p:spPr>
      </p:sp>
      <p:sp>
        <p:nvSpPr>
          <p:cNvPr id="12" name="Text 10"/>
          <p:cNvSpPr/>
          <p:nvPr/>
        </p:nvSpPr>
        <p:spPr>
          <a:xfrm>
            <a:off x="4747108" y="4224528"/>
            <a:ext cx="2697480" cy="411480"/>
          </a:xfrm>
          <a:prstGeom prst="rect">
            <a:avLst/>
          </a:prstGeom>
          <a:noFill/>
          <a:ln/>
        </p:spPr>
        <p:txBody>
          <a:bodyPr wrap="square" lIns="0" tIns="0" rIns="0" bIns="0" rtlCol="0" anchor="ctr"/>
          <a:lstStyle/>
          <a:p>
            <a:pPr algn="ctr" indent="0" marL="0">
              <a:buNone/>
            </a:pPr>
            <a:r>
              <a:rPr lang="en-US" sz="2600" b="1" dirty="0">
                <a:solidFill>
                  <a:srgbClr val="EFA135"/>
                </a:solidFill>
                <a:latin typeface="Georgia" pitchFamily="34" charset="0"/>
                <a:ea typeface="Georgia" pitchFamily="34" charset="-122"/>
                <a:cs typeface="Georgia" pitchFamily="34" charset="-120"/>
              </a:rPr>
              <a:t>1.000</a:t>
            </a:r>
            <a:endParaRPr lang="en-US" sz="2600" dirty="0"/>
          </a:p>
        </p:txBody>
      </p:sp>
      <p:sp>
        <p:nvSpPr>
          <p:cNvPr id="13" name="Text 11"/>
          <p:cNvSpPr/>
          <p:nvPr/>
        </p:nvSpPr>
        <p:spPr>
          <a:xfrm>
            <a:off x="4747108" y="4645152"/>
            <a:ext cx="2697480" cy="274320"/>
          </a:xfrm>
          <a:prstGeom prst="rect">
            <a:avLst/>
          </a:prstGeom>
          <a:noFill/>
          <a:ln/>
        </p:spPr>
        <p:txBody>
          <a:bodyPr wrap="square" lIns="0" tIns="0" rIns="0" bIns="0" rtlCol="0" anchor="ctr"/>
          <a:lstStyle/>
          <a:p>
            <a:pPr algn="ctr" indent="0" marL="0">
              <a:buNone/>
            </a:pPr>
            <a:r>
              <a:rPr lang="en-US" sz="1050" dirty="0">
                <a:solidFill>
                  <a:srgbClr val="AFC4D6"/>
                </a:solidFill>
                <a:latin typeface="Arial" pitchFamily="34" charset="0"/>
                <a:ea typeface="Arial" pitchFamily="34" charset="-122"/>
                <a:cs typeface="Arial" pitchFamily="34" charset="-120"/>
              </a:rPr>
              <a:t>ROC–AUC (all classes)</a:t>
            </a:r>
            <a:endParaRPr lang="en-US" sz="1050" dirty="0"/>
          </a:p>
        </p:txBody>
      </p:sp>
      <p:sp>
        <p:nvSpPr>
          <p:cNvPr id="14" name="Shape 12"/>
          <p:cNvSpPr/>
          <p:nvPr/>
        </p:nvSpPr>
        <p:spPr>
          <a:xfrm>
            <a:off x="7856068" y="4133088"/>
            <a:ext cx="2697480" cy="841248"/>
          </a:xfrm>
          <a:prstGeom prst="roundRect">
            <a:avLst>
              <a:gd name="adj" fmla="val 10870"/>
            </a:avLst>
          </a:prstGeom>
          <a:solidFill>
            <a:srgbClr val="12283E"/>
          </a:solidFill>
          <a:ln w="12700">
            <a:solidFill>
              <a:srgbClr val="1C3A56"/>
            </a:solidFill>
            <a:prstDash val="solid"/>
          </a:ln>
          <a:effectLst>
            <a:outerShdw sx="100000" sy="100000" kx="0" ky="0" algn="bl" rotWithShape="0" blurRad="88900" dist="25400" dir="5400000">
              <a:srgbClr val="22303C">
                <a:alpha val="10000"/>
              </a:srgbClr>
            </a:outerShdw>
          </a:effectLst>
        </p:spPr>
      </p:sp>
      <p:sp>
        <p:nvSpPr>
          <p:cNvPr id="15" name="Text 13"/>
          <p:cNvSpPr/>
          <p:nvPr/>
        </p:nvSpPr>
        <p:spPr>
          <a:xfrm>
            <a:off x="7856068" y="4224528"/>
            <a:ext cx="2697480" cy="411480"/>
          </a:xfrm>
          <a:prstGeom prst="rect">
            <a:avLst/>
          </a:prstGeom>
          <a:noFill/>
          <a:ln/>
        </p:spPr>
        <p:txBody>
          <a:bodyPr wrap="square" lIns="0" tIns="0" rIns="0" bIns="0" rtlCol="0" anchor="ctr"/>
          <a:lstStyle/>
          <a:p>
            <a:pPr algn="ctr" indent="0" marL="0">
              <a:buNone/>
            </a:pPr>
            <a:r>
              <a:rPr lang="en-US" sz="2600" b="1" dirty="0">
                <a:solidFill>
                  <a:srgbClr val="16A99A"/>
                </a:solidFill>
                <a:latin typeface="Georgia" pitchFamily="34" charset="0"/>
                <a:ea typeface="Georgia" pitchFamily="34" charset="-122"/>
                <a:cs typeface="Georgia" pitchFamily="34" charset="-120"/>
              </a:rPr>
              <a:t>4 / 2</a:t>
            </a:r>
            <a:endParaRPr lang="en-US" sz="2600" dirty="0"/>
          </a:p>
        </p:txBody>
      </p:sp>
      <p:sp>
        <p:nvSpPr>
          <p:cNvPr id="16" name="Text 14"/>
          <p:cNvSpPr/>
          <p:nvPr/>
        </p:nvSpPr>
        <p:spPr>
          <a:xfrm>
            <a:off x="7856068" y="4645152"/>
            <a:ext cx="2697480" cy="274320"/>
          </a:xfrm>
          <a:prstGeom prst="rect">
            <a:avLst/>
          </a:prstGeom>
          <a:noFill/>
          <a:ln/>
        </p:spPr>
        <p:txBody>
          <a:bodyPr wrap="square" lIns="0" tIns="0" rIns="0" bIns="0" rtlCol="0" anchor="ctr"/>
          <a:lstStyle/>
          <a:p>
            <a:pPr algn="ctr" indent="0" marL="0">
              <a:buNone/>
            </a:pPr>
            <a:r>
              <a:rPr lang="en-US" sz="1050" dirty="0">
                <a:solidFill>
                  <a:srgbClr val="AFC4D6"/>
                </a:solidFill>
                <a:latin typeface="Arial" pitchFamily="34" charset="0"/>
                <a:ea typeface="Arial" pitchFamily="34" charset="-122"/>
                <a:cs typeface="Arial" pitchFamily="34" charset="-120"/>
              </a:rPr>
              <a:t>Fault classes / speeds</a:t>
            </a:r>
            <a:endParaRPr lang="en-US" sz="1050" dirty="0"/>
          </a:p>
        </p:txBody>
      </p:sp>
      <p:pic>
        <p:nvPicPr>
          <p:cNvPr id="17" name="Image 0" descr="/home/claude/assets/wave_hero.png">    </p:cNvPr>
          <p:cNvPicPr>
            <a:picLocks noChangeAspect="1"/>
          </p:cNvPicPr>
          <p:nvPr/>
        </p:nvPicPr>
        <p:blipFill>
          <a:blip r:embed="rId1"/>
          <a:stretch>
            <a:fillRect/>
          </a:stretch>
        </p:blipFill>
        <p:spPr>
          <a:xfrm>
            <a:off x="365760" y="5230368"/>
            <a:ext cx="11457432" cy="1325880"/>
          </a:xfrm>
          <a:prstGeom prst="rect">
            <a:avLst/>
          </a:prstGeom>
        </p:spPr>
      </p:pic>
      <p:sp>
        <p:nvSpPr>
          <p:cNvPr id="18" name="Text 15"/>
          <p:cNvSpPr/>
          <p:nvPr/>
        </p:nvSpPr>
        <p:spPr>
          <a:xfrm>
            <a:off x="0" y="6510528"/>
            <a:ext cx="12191695" cy="256032"/>
          </a:xfrm>
          <a:prstGeom prst="rect">
            <a:avLst/>
          </a:prstGeom>
          <a:noFill/>
          <a:ln/>
        </p:spPr>
        <p:txBody>
          <a:bodyPr wrap="square" rtlCol="0" anchor="ctr"/>
          <a:lstStyle/>
          <a:p>
            <a:pPr algn="ctr" indent="0" marL="0">
              <a:buNone/>
            </a:pPr>
            <a:r>
              <a:rPr lang="en-US" sz="1050" spc="100" kern="0" dirty="0">
                <a:solidFill>
                  <a:srgbClr val="AFC4D6"/>
                </a:solidFill>
                <a:latin typeface="Arial" pitchFamily="34" charset="0"/>
                <a:ea typeface="Arial" pitchFamily="34" charset="-122"/>
                <a:cs typeface="Arial" pitchFamily="34" charset="-120"/>
              </a:rPr>
              <a:t>Presented at MLMI 2026, Japan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640080" y="475488"/>
            <a:ext cx="10789920" cy="274320"/>
          </a:xfrm>
          <a:prstGeom prst="rect">
            <a:avLst/>
          </a:prstGeom>
          <a:noFill/>
          <a:ln/>
        </p:spPr>
        <p:txBody>
          <a:bodyPr wrap="square" lIns="0" tIns="0" rIns="0" bIns="0" rtlCol="0" anchor="ctr"/>
          <a:lstStyle/>
          <a:p>
            <a:pPr algn="l" indent="0" marL="0">
              <a:buNone/>
            </a:pPr>
            <a:r>
              <a:rPr lang="en-US" sz="1250" b="1" spc="300" kern="0" dirty="0">
                <a:solidFill>
                  <a:srgbClr val="16A99A"/>
                </a:solidFill>
                <a:latin typeface="Arial" pitchFamily="34" charset="0"/>
                <a:ea typeface="Arial" pitchFamily="34" charset="-122"/>
                <a:cs typeface="Arial" pitchFamily="34" charset="-120"/>
              </a:rPr>
              <a:t>ROADMAP</a:t>
            </a:r>
            <a:endParaRPr lang="en-US" sz="1250" dirty="0"/>
          </a:p>
        </p:txBody>
      </p:sp>
      <p:sp>
        <p:nvSpPr>
          <p:cNvPr id="3" name="Text 1"/>
          <p:cNvSpPr/>
          <p:nvPr/>
        </p:nvSpPr>
        <p:spPr>
          <a:xfrm>
            <a:off x="640080" y="749808"/>
            <a:ext cx="10881360" cy="777240"/>
          </a:xfrm>
          <a:prstGeom prst="rect">
            <a:avLst/>
          </a:prstGeom>
          <a:noFill/>
          <a:ln/>
        </p:spPr>
        <p:txBody>
          <a:bodyPr wrap="square" lIns="0" tIns="0" rIns="0" bIns="0" rtlCol="0" anchor="ctr"/>
          <a:lstStyle/>
          <a:p>
            <a:pPr algn="l" indent="0" marL="0">
              <a:lnSpc>
                <a:spcPct val="100000"/>
              </a:lnSpc>
              <a:buNone/>
            </a:pPr>
            <a:r>
              <a:rPr lang="en-US" sz="3000" b="1" dirty="0">
                <a:solidFill>
                  <a:srgbClr val="16293B"/>
                </a:solidFill>
                <a:latin typeface="Georgia" pitchFamily="34" charset="0"/>
                <a:ea typeface="Georgia" pitchFamily="34" charset="-122"/>
                <a:cs typeface="Georgia" pitchFamily="34" charset="-120"/>
              </a:rPr>
              <a:t>What we will cover</a:t>
            </a:r>
            <a:endParaRPr lang="en-US" sz="3000" dirty="0"/>
          </a:p>
        </p:txBody>
      </p:sp>
      <p:sp>
        <p:nvSpPr>
          <p:cNvPr id="4" name="Shape 2"/>
          <p:cNvSpPr/>
          <p:nvPr/>
        </p:nvSpPr>
        <p:spPr>
          <a:xfrm>
            <a:off x="640080" y="1828800"/>
            <a:ext cx="566928" cy="566928"/>
          </a:xfrm>
          <a:prstGeom prst="ellipse">
            <a:avLst/>
          </a:prstGeom>
          <a:solidFill>
            <a:srgbClr val="16A99A"/>
          </a:solidFill>
          <a:ln/>
          <a:effectLst>
            <a:outerShdw sx="100000" sy="100000" kx="0" ky="0" algn="bl" rotWithShape="0" blurRad="63500" dist="25400" dir="5400000">
              <a:srgbClr val="0A1622">
                <a:alpha val="16000"/>
              </a:srgbClr>
            </a:outerShdw>
          </a:effectLst>
        </p:spPr>
      </p:sp>
      <p:sp>
        <p:nvSpPr>
          <p:cNvPr id="5" name="Text 3"/>
          <p:cNvSpPr/>
          <p:nvPr/>
        </p:nvSpPr>
        <p:spPr>
          <a:xfrm>
            <a:off x="640080" y="1828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6" name="Text 4"/>
          <p:cNvSpPr/>
          <p:nvPr/>
        </p:nvSpPr>
        <p:spPr>
          <a:xfrm>
            <a:off x="1417320" y="1810512"/>
            <a:ext cx="5852160" cy="365760"/>
          </a:xfrm>
          <a:prstGeom prst="rect">
            <a:avLst/>
          </a:prstGeom>
          <a:noFill/>
          <a:ln/>
        </p:spPr>
        <p:txBody>
          <a:bodyPr wrap="square" lIns="0" tIns="0" rIns="0" bIns="0" rtlCol="0" anchor="ctr"/>
          <a:lstStyle/>
          <a:p>
            <a:pPr indent="0" marL="0">
              <a:buNone/>
            </a:pPr>
            <a:r>
              <a:rPr lang="en-US" sz="1700" b="1" dirty="0">
                <a:solidFill>
                  <a:srgbClr val="16293B"/>
                </a:solidFill>
                <a:latin typeface="Arial" pitchFamily="34" charset="0"/>
                <a:ea typeface="Arial" pitchFamily="34" charset="-122"/>
                <a:cs typeface="Arial" pitchFamily="34" charset="-120"/>
              </a:rPr>
              <a:t>Motivation &amp; Challenge</a:t>
            </a:r>
            <a:endParaRPr lang="en-US" sz="1700" dirty="0"/>
          </a:p>
        </p:txBody>
      </p:sp>
      <p:sp>
        <p:nvSpPr>
          <p:cNvPr id="7" name="Text 5"/>
          <p:cNvSpPr/>
          <p:nvPr/>
        </p:nvSpPr>
        <p:spPr>
          <a:xfrm>
            <a:off x="1417320" y="2157984"/>
            <a:ext cx="6035040" cy="310896"/>
          </a:xfrm>
          <a:prstGeom prst="rect">
            <a:avLst/>
          </a:prstGeom>
          <a:noFill/>
          <a:ln/>
        </p:spPr>
        <p:txBody>
          <a:bodyPr wrap="square" lIns="0" tIns="0" rIns="0" bIns="0" rtlCol="0" anchor="ctr"/>
          <a:lstStyle/>
          <a:p>
            <a:pPr indent="0" marL="0">
              <a:buNone/>
            </a:pPr>
            <a:r>
              <a:rPr lang="en-US" sz="1250" dirty="0">
                <a:solidFill>
                  <a:srgbClr val="5E7184"/>
                </a:solidFill>
                <a:latin typeface="Arial" pitchFamily="34" charset="0"/>
                <a:ea typeface="Arial" pitchFamily="34" charset="-122"/>
                <a:cs typeface="Arial" pitchFamily="34" charset="-120"/>
              </a:rPr>
              <a:t>Why AE matters — and why it is hard to use</a:t>
            </a:r>
            <a:endParaRPr lang="en-US" sz="1250" dirty="0"/>
          </a:p>
        </p:txBody>
      </p:sp>
      <p:sp>
        <p:nvSpPr>
          <p:cNvPr id="8" name="Shape 6"/>
          <p:cNvSpPr/>
          <p:nvPr/>
        </p:nvSpPr>
        <p:spPr>
          <a:xfrm>
            <a:off x="640080" y="2697480"/>
            <a:ext cx="566928" cy="566928"/>
          </a:xfrm>
          <a:prstGeom prst="ellipse">
            <a:avLst/>
          </a:prstGeom>
          <a:solidFill>
            <a:srgbClr val="EFA135"/>
          </a:solidFill>
          <a:ln/>
          <a:effectLst>
            <a:outerShdw sx="100000" sy="100000" kx="0" ky="0" algn="bl" rotWithShape="0" blurRad="63500" dist="25400" dir="5400000">
              <a:srgbClr val="0A1622">
                <a:alpha val="16000"/>
              </a:srgbClr>
            </a:outerShdw>
          </a:effectLst>
        </p:spPr>
      </p:sp>
      <p:sp>
        <p:nvSpPr>
          <p:cNvPr id="9" name="Text 7"/>
          <p:cNvSpPr/>
          <p:nvPr/>
        </p:nvSpPr>
        <p:spPr>
          <a:xfrm>
            <a:off x="640080" y="269748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0" name="Text 8"/>
          <p:cNvSpPr/>
          <p:nvPr/>
        </p:nvSpPr>
        <p:spPr>
          <a:xfrm>
            <a:off x="1417320" y="2679192"/>
            <a:ext cx="5852160" cy="365760"/>
          </a:xfrm>
          <a:prstGeom prst="rect">
            <a:avLst/>
          </a:prstGeom>
          <a:noFill/>
          <a:ln/>
        </p:spPr>
        <p:txBody>
          <a:bodyPr wrap="square" lIns="0" tIns="0" rIns="0" bIns="0" rtlCol="0" anchor="ctr"/>
          <a:lstStyle/>
          <a:p>
            <a:pPr indent="0" marL="0">
              <a:buNone/>
            </a:pPr>
            <a:r>
              <a:rPr lang="en-US" sz="1700" b="1" dirty="0">
                <a:solidFill>
                  <a:srgbClr val="16293B"/>
                </a:solidFill>
                <a:latin typeface="Arial" pitchFamily="34" charset="0"/>
                <a:ea typeface="Arial" pitchFamily="34" charset="-122"/>
                <a:cs typeface="Arial" pitchFamily="34" charset="-120"/>
              </a:rPr>
              <a:t>The BurstMAE–MIL Framework</a:t>
            </a:r>
            <a:endParaRPr lang="en-US" sz="1700" dirty="0"/>
          </a:p>
        </p:txBody>
      </p:sp>
      <p:sp>
        <p:nvSpPr>
          <p:cNvPr id="11" name="Text 9"/>
          <p:cNvSpPr/>
          <p:nvPr/>
        </p:nvSpPr>
        <p:spPr>
          <a:xfrm>
            <a:off x="1417320" y="3026664"/>
            <a:ext cx="6035040" cy="310896"/>
          </a:xfrm>
          <a:prstGeom prst="rect">
            <a:avLst/>
          </a:prstGeom>
          <a:noFill/>
          <a:ln/>
        </p:spPr>
        <p:txBody>
          <a:bodyPr wrap="square" lIns="0" tIns="0" rIns="0" bIns="0" rtlCol="0" anchor="ctr"/>
          <a:lstStyle/>
          <a:p>
            <a:pPr indent="0" marL="0">
              <a:buNone/>
            </a:pPr>
            <a:r>
              <a:rPr lang="en-US" sz="1250" dirty="0">
                <a:solidFill>
                  <a:srgbClr val="5E7184"/>
                </a:solidFill>
                <a:latin typeface="Arial" pitchFamily="34" charset="0"/>
                <a:ea typeface="Arial" pitchFamily="34" charset="-122"/>
                <a:cs typeface="Arial" pitchFamily="34" charset="-120"/>
              </a:rPr>
              <a:t>Bursts → self–supervised encoder → attention MIL</a:t>
            </a:r>
            <a:endParaRPr lang="en-US" sz="1250" dirty="0"/>
          </a:p>
        </p:txBody>
      </p:sp>
      <p:sp>
        <p:nvSpPr>
          <p:cNvPr id="12" name="Shape 10"/>
          <p:cNvSpPr/>
          <p:nvPr/>
        </p:nvSpPr>
        <p:spPr>
          <a:xfrm>
            <a:off x="640080" y="3566160"/>
            <a:ext cx="566928" cy="566928"/>
          </a:xfrm>
          <a:prstGeom prst="ellipse">
            <a:avLst/>
          </a:prstGeom>
          <a:solidFill>
            <a:srgbClr val="16A99A"/>
          </a:solidFill>
          <a:ln/>
          <a:effectLst>
            <a:outerShdw sx="100000" sy="100000" kx="0" ky="0" algn="bl" rotWithShape="0" blurRad="63500" dist="25400" dir="5400000">
              <a:srgbClr val="0A1622">
                <a:alpha val="16000"/>
              </a:srgbClr>
            </a:outerShdw>
          </a:effectLst>
        </p:spPr>
      </p:sp>
      <p:sp>
        <p:nvSpPr>
          <p:cNvPr id="13" name="Text 11"/>
          <p:cNvSpPr/>
          <p:nvPr/>
        </p:nvSpPr>
        <p:spPr>
          <a:xfrm>
            <a:off x="640080" y="35661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4" name="Text 12"/>
          <p:cNvSpPr/>
          <p:nvPr/>
        </p:nvSpPr>
        <p:spPr>
          <a:xfrm>
            <a:off x="1417320" y="3547872"/>
            <a:ext cx="5852160" cy="365760"/>
          </a:xfrm>
          <a:prstGeom prst="rect">
            <a:avLst/>
          </a:prstGeom>
          <a:noFill/>
          <a:ln/>
        </p:spPr>
        <p:txBody>
          <a:bodyPr wrap="square" lIns="0" tIns="0" rIns="0" bIns="0" rtlCol="0" anchor="ctr"/>
          <a:lstStyle/>
          <a:p>
            <a:pPr indent="0" marL="0">
              <a:buNone/>
            </a:pPr>
            <a:r>
              <a:rPr lang="en-US" sz="1700" b="1" dirty="0">
                <a:solidFill>
                  <a:srgbClr val="16293B"/>
                </a:solidFill>
                <a:latin typeface="Arial" pitchFamily="34" charset="0"/>
                <a:ea typeface="Arial" pitchFamily="34" charset="-122"/>
                <a:cs typeface="Arial" pitchFamily="34" charset="-120"/>
              </a:rPr>
              <a:t>Experimental Setup &amp; Data</a:t>
            </a:r>
            <a:endParaRPr lang="en-US" sz="1700" dirty="0"/>
          </a:p>
        </p:txBody>
      </p:sp>
      <p:sp>
        <p:nvSpPr>
          <p:cNvPr id="15" name="Text 13"/>
          <p:cNvSpPr/>
          <p:nvPr/>
        </p:nvSpPr>
        <p:spPr>
          <a:xfrm>
            <a:off x="1417320" y="3895344"/>
            <a:ext cx="6035040" cy="310896"/>
          </a:xfrm>
          <a:prstGeom prst="rect">
            <a:avLst/>
          </a:prstGeom>
          <a:noFill/>
          <a:ln/>
        </p:spPr>
        <p:txBody>
          <a:bodyPr wrap="square" lIns="0" tIns="0" rIns="0" bIns="0" rtlCol="0" anchor="ctr"/>
          <a:lstStyle/>
          <a:p>
            <a:pPr indent="0" marL="0">
              <a:buNone/>
            </a:pPr>
            <a:r>
              <a:rPr lang="en-US" sz="1250" dirty="0">
                <a:solidFill>
                  <a:srgbClr val="5E7184"/>
                </a:solidFill>
                <a:latin typeface="Arial" pitchFamily="34" charset="0"/>
                <a:ea typeface="Arial" pitchFamily="34" charset="-122"/>
                <a:cs typeface="Arial" pitchFamily="34" charset="-120"/>
              </a:rPr>
              <a:t>Milling rig, AE sensing, four fault conditions</a:t>
            </a:r>
            <a:endParaRPr lang="en-US" sz="1250" dirty="0"/>
          </a:p>
        </p:txBody>
      </p:sp>
      <p:sp>
        <p:nvSpPr>
          <p:cNvPr id="16" name="Shape 14"/>
          <p:cNvSpPr/>
          <p:nvPr/>
        </p:nvSpPr>
        <p:spPr>
          <a:xfrm>
            <a:off x="640080" y="4434840"/>
            <a:ext cx="566928" cy="566928"/>
          </a:xfrm>
          <a:prstGeom prst="ellipse">
            <a:avLst/>
          </a:prstGeom>
          <a:solidFill>
            <a:srgbClr val="EFA135"/>
          </a:solidFill>
          <a:ln/>
          <a:effectLst>
            <a:outerShdw sx="100000" sy="100000" kx="0" ky="0" algn="bl" rotWithShape="0" blurRad="63500" dist="25400" dir="5400000">
              <a:srgbClr val="0A1622">
                <a:alpha val="16000"/>
              </a:srgbClr>
            </a:outerShdw>
          </a:effectLst>
        </p:spPr>
      </p:sp>
      <p:sp>
        <p:nvSpPr>
          <p:cNvPr id="17" name="Text 15"/>
          <p:cNvSpPr/>
          <p:nvPr/>
        </p:nvSpPr>
        <p:spPr>
          <a:xfrm>
            <a:off x="640080" y="443484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18" name="Text 16"/>
          <p:cNvSpPr/>
          <p:nvPr/>
        </p:nvSpPr>
        <p:spPr>
          <a:xfrm>
            <a:off x="1417320" y="4416552"/>
            <a:ext cx="5852160" cy="365760"/>
          </a:xfrm>
          <a:prstGeom prst="rect">
            <a:avLst/>
          </a:prstGeom>
          <a:noFill/>
          <a:ln/>
        </p:spPr>
        <p:txBody>
          <a:bodyPr wrap="square" lIns="0" tIns="0" rIns="0" bIns="0" rtlCol="0" anchor="ctr"/>
          <a:lstStyle/>
          <a:p>
            <a:pPr indent="0" marL="0">
              <a:buNone/>
            </a:pPr>
            <a:r>
              <a:rPr lang="en-US" sz="1700" b="1" dirty="0">
                <a:solidFill>
                  <a:srgbClr val="16293B"/>
                </a:solidFill>
                <a:latin typeface="Arial" pitchFamily="34" charset="0"/>
                <a:ea typeface="Arial" pitchFamily="34" charset="-122"/>
                <a:cs typeface="Arial" pitchFamily="34" charset="-120"/>
              </a:rPr>
              <a:t>Results &amp; Interpretability</a:t>
            </a:r>
            <a:endParaRPr lang="en-US" sz="1700" dirty="0"/>
          </a:p>
        </p:txBody>
      </p:sp>
      <p:sp>
        <p:nvSpPr>
          <p:cNvPr id="19" name="Text 17"/>
          <p:cNvSpPr/>
          <p:nvPr/>
        </p:nvSpPr>
        <p:spPr>
          <a:xfrm>
            <a:off x="1417320" y="4764024"/>
            <a:ext cx="6035040" cy="310896"/>
          </a:xfrm>
          <a:prstGeom prst="rect">
            <a:avLst/>
          </a:prstGeom>
          <a:noFill/>
          <a:ln/>
        </p:spPr>
        <p:txBody>
          <a:bodyPr wrap="square" lIns="0" tIns="0" rIns="0" bIns="0" rtlCol="0" anchor="ctr"/>
          <a:lstStyle/>
          <a:p>
            <a:pPr indent="0" marL="0">
              <a:buNone/>
            </a:pPr>
            <a:r>
              <a:rPr lang="en-US" sz="1250" dirty="0">
                <a:solidFill>
                  <a:srgbClr val="5E7184"/>
                </a:solidFill>
                <a:latin typeface="Arial" pitchFamily="34" charset="0"/>
                <a:ea typeface="Arial" pitchFamily="34" charset="-122"/>
                <a:cs typeface="Arial" pitchFamily="34" charset="-120"/>
              </a:rPr>
              <a:t>Near–perfect diagnosis and what the model attends to</a:t>
            </a:r>
            <a:endParaRPr lang="en-US" sz="1250" dirty="0"/>
          </a:p>
        </p:txBody>
      </p:sp>
      <p:sp>
        <p:nvSpPr>
          <p:cNvPr id="20" name="Shape 18"/>
          <p:cNvSpPr/>
          <p:nvPr/>
        </p:nvSpPr>
        <p:spPr>
          <a:xfrm>
            <a:off x="640080" y="5303520"/>
            <a:ext cx="566928" cy="566928"/>
          </a:xfrm>
          <a:prstGeom prst="ellipse">
            <a:avLst/>
          </a:prstGeom>
          <a:solidFill>
            <a:srgbClr val="16A99A"/>
          </a:solidFill>
          <a:ln/>
          <a:effectLst>
            <a:outerShdw sx="100000" sy="100000" kx="0" ky="0" algn="bl" rotWithShape="0" blurRad="63500" dist="25400" dir="5400000">
              <a:srgbClr val="0A1622">
                <a:alpha val="16000"/>
              </a:srgbClr>
            </a:outerShdw>
          </a:effectLst>
        </p:spPr>
      </p:sp>
      <p:sp>
        <p:nvSpPr>
          <p:cNvPr id="21" name="Text 19"/>
          <p:cNvSpPr/>
          <p:nvPr/>
        </p:nvSpPr>
        <p:spPr>
          <a:xfrm>
            <a:off x="640080" y="53035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5</a:t>
            </a:r>
            <a:endParaRPr lang="en-US" sz="2200" dirty="0"/>
          </a:p>
        </p:txBody>
      </p:sp>
      <p:sp>
        <p:nvSpPr>
          <p:cNvPr id="22" name="Text 20"/>
          <p:cNvSpPr/>
          <p:nvPr/>
        </p:nvSpPr>
        <p:spPr>
          <a:xfrm>
            <a:off x="1417320" y="5285232"/>
            <a:ext cx="5852160" cy="365760"/>
          </a:xfrm>
          <a:prstGeom prst="rect">
            <a:avLst/>
          </a:prstGeom>
          <a:noFill/>
          <a:ln/>
        </p:spPr>
        <p:txBody>
          <a:bodyPr wrap="square" lIns="0" tIns="0" rIns="0" bIns="0" rtlCol="0" anchor="ctr"/>
          <a:lstStyle/>
          <a:p>
            <a:pPr indent="0" marL="0">
              <a:buNone/>
            </a:pPr>
            <a:r>
              <a:rPr lang="en-US" sz="1700" b="1" dirty="0">
                <a:solidFill>
                  <a:srgbClr val="16293B"/>
                </a:solidFill>
                <a:latin typeface="Arial" pitchFamily="34" charset="0"/>
                <a:ea typeface="Arial" pitchFamily="34" charset="-122"/>
                <a:cs typeface="Arial" pitchFamily="34" charset="-120"/>
              </a:rPr>
              <a:t>Conclusions &amp; Outlook</a:t>
            </a:r>
            <a:endParaRPr lang="en-US" sz="1700" dirty="0"/>
          </a:p>
        </p:txBody>
      </p:sp>
      <p:sp>
        <p:nvSpPr>
          <p:cNvPr id="23" name="Text 21"/>
          <p:cNvSpPr/>
          <p:nvPr/>
        </p:nvSpPr>
        <p:spPr>
          <a:xfrm>
            <a:off x="1417320" y="5632704"/>
            <a:ext cx="6035040" cy="310896"/>
          </a:xfrm>
          <a:prstGeom prst="rect">
            <a:avLst/>
          </a:prstGeom>
          <a:noFill/>
          <a:ln/>
        </p:spPr>
        <p:txBody>
          <a:bodyPr wrap="square" lIns="0" tIns="0" rIns="0" bIns="0" rtlCol="0" anchor="ctr"/>
          <a:lstStyle/>
          <a:p>
            <a:pPr indent="0" marL="0">
              <a:buNone/>
            </a:pPr>
            <a:r>
              <a:rPr lang="en-US" sz="1250" dirty="0">
                <a:solidFill>
                  <a:srgbClr val="5E7184"/>
                </a:solidFill>
                <a:latin typeface="Arial" pitchFamily="34" charset="0"/>
                <a:ea typeface="Arial" pitchFamily="34" charset="-122"/>
                <a:cs typeface="Arial" pitchFamily="34" charset="-120"/>
              </a:rPr>
              <a:t>Takeaways and directions ahead</a:t>
            </a:r>
            <a:endParaRPr lang="en-US" sz="1250" dirty="0"/>
          </a:p>
        </p:txBody>
      </p:sp>
      <p:sp>
        <p:nvSpPr>
          <p:cNvPr id="24" name="Shape 22"/>
          <p:cNvSpPr/>
          <p:nvPr/>
        </p:nvSpPr>
        <p:spPr>
          <a:xfrm>
            <a:off x="7726680" y="1783080"/>
            <a:ext cx="3794760" cy="4343400"/>
          </a:xfrm>
          <a:prstGeom prst="roundRect">
            <a:avLst>
              <a:gd name="adj" fmla="val 2892"/>
            </a:avLst>
          </a:prstGeom>
          <a:solidFill>
            <a:srgbClr val="0C1A2B"/>
          </a:solidFill>
          <a:ln/>
          <a:effectLst>
            <a:outerShdw sx="100000" sy="100000" kx="0" ky="0" algn="bl" rotWithShape="0" blurRad="152400" dist="50800" dir="5400000">
              <a:srgbClr val="0A1622">
                <a:alpha val="22000"/>
              </a:srgbClr>
            </a:outerShdw>
          </a:effectLst>
        </p:spPr>
      </p:sp>
      <p:sp>
        <p:nvSpPr>
          <p:cNvPr id="25" name="Text 23"/>
          <p:cNvSpPr/>
          <p:nvPr/>
        </p:nvSpPr>
        <p:spPr>
          <a:xfrm>
            <a:off x="8092440" y="2194560"/>
            <a:ext cx="3063240" cy="274320"/>
          </a:xfrm>
          <a:prstGeom prst="rect">
            <a:avLst/>
          </a:prstGeom>
          <a:noFill/>
          <a:ln/>
        </p:spPr>
        <p:txBody>
          <a:bodyPr wrap="square" lIns="0" tIns="0" rIns="0" bIns="0" rtlCol="0" anchor="ctr"/>
          <a:lstStyle/>
          <a:p>
            <a:pPr indent="0" marL="0">
              <a:buNone/>
            </a:pPr>
            <a:r>
              <a:rPr lang="en-US" sz="1200" b="1" spc="200" kern="0" dirty="0">
                <a:solidFill>
                  <a:srgbClr val="16A99A"/>
                </a:solidFill>
                <a:latin typeface="Arial" pitchFamily="34" charset="0"/>
                <a:ea typeface="Arial" pitchFamily="34" charset="-122"/>
                <a:cs typeface="Arial" pitchFamily="34" charset="-120"/>
              </a:rPr>
              <a:t>THE ONE–LINE IDEA</a:t>
            </a:r>
            <a:endParaRPr lang="en-US" sz="1200" dirty="0"/>
          </a:p>
        </p:txBody>
      </p:sp>
      <p:sp>
        <p:nvSpPr>
          <p:cNvPr id="26" name="Text 24"/>
          <p:cNvSpPr/>
          <p:nvPr/>
        </p:nvSpPr>
        <p:spPr>
          <a:xfrm>
            <a:off x="8092440" y="2606040"/>
            <a:ext cx="3063240" cy="1463040"/>
          </a:xfrm>
          <a:prstGeom prst="rect">
            <a:avLst/>
          </a:prstGeom>
          <a:noFill/>
          <a:ln/>
        </p:spPr>
        <p:txBody>
          <a:bodyPr wrap="square" lIns="0" tIns="0" rIns="0" bIns="0" rtlCol="0" anchor="t"/>
          <a:lstStyle/>
          <a:p>
            <a:pPr indent="0" marL="0">
              <a:lnSpc>
                <a:spcPct val="112000"/>
              </a:lnSpc>
              <a:buNone/>
            </a:pPr>
            <a:r>
              <a:rPr lang="en-US" sz="2300" b="1" dirty="0">
                <a:solidFill>
                  <a:srgbClr val="FFFFFF"/>
                </a:solidFill>
                <a:latin typeface="Georgia" pitchFamily="34" charset="0"/>
                <a:ea typeface="Georgia" pitchFamily="34" charset="-122"/>
                <a:cs typeface="Georgia" pitchFamily="34" charset="-120"/>
              </a:rPr>
              <a:t>Diagnostic information in AE lives in the </a:t>
            </a:r>
            <a:pPr indent="0" marL="0">
              <a:lnSpc>
                <a:spcPct val="112000"/>
              </a:lnSpc>
              <a:buNone/>
            </a:pPr>
            <a:r>
              <a:rPr lang="en-US" sz="2300" b="1" dirty="0">
                <a:solidFill>
                  <a:srgbClr val="EFA135"/>
                </a:solidFill>
                <a:latin typeface="Georgia" pitchFamily="34" charset="0"/>
                <a:ea typeface="Georgia" pitchFamily="34" charset="-122"/>
                <a:cs typeface="Georgia" pitchFamily="34" charset="-120"/>
              </a:rPr>
              <a:t>bursts</a:t>
            </a:r>
            <a:pPr indent="0" marL="0">
              <a:lnSpc>
                <a:spcPct val="112000"/>
              </a:lnSpc>
              <a:buNone/>
            </a:pPr>
            <a:r>
              <a:rPr lang="en-US" sz="2300" b="1" dirty="0">
                <a:solidFill>
                  <a:srgbClr val="FFFFFF"/>
                </a:solidFill>
                <a:latin typeface="Georgia" pitchFamily="34" charset="0"/>
                <a:ea typeface="Georgia" pitchFamily="34" charset="-122"/>
                <a:cs typeface="Georgia" pitchFamily="34" charset="-120"/>
              </a:rPr>
              <a:t> — not in the background.</a:t>
            </a:r>
            <a:endParaRPr lang="en-US" sz="2300" dirty="0"/>
          </a:p>
        </p:txBody>
      </p:sp>
      <p:pic>
        <p:nvPicPr>
          <p:cNvPr id="27" name="Image 0" descr="/home/claude/assets/wave_divider.png">    </p:cNvPr>
          <p:cNvPicPr>
            <a:picLocks noChangeAspect="1"/>
          </p:cNvPicPr>
          <p:nvPr/>
        </p:nvPicPr>
        <p:blipFill>
          <a:blip r:embed="rId1"/>
          <a:stretch>
            <a:fillRect/>
          </a:stretch>
        </p:blipFill>
        <p:spPr>
          <a:xfrm>
            <a:off x="8001000" y="4937760"/>
            <a:ext cx="3246120" cy="868680"/>
          </a:xfrm>
          <a:prstGeom prst="rect">
            <a:avLst/>
          </a:prstGeom>
        </p:spPr>
      </p:pic>
      <p:sp>
        <p:nvSpPr>
          <p:cNvPr id="28" name="Text 25"/>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5E7184"/>
                </a:solidFill>
                <a:latin typeface="Arial" pitchFamily="34" charset="0"/>
                <a:ea typeface="Arial" pitchFamily="34" charset="-122"/>
                <a:cs typeface="Arial" pitchFamily="34" charset="-120"/>
              </a:rPr>
              <a:t>02</a:t>
            </a:r>
            <a:endParaRPr lang="en-US" sz="1000" dirty="0"/>
          </a:p>
        </p:txBody>
      </p:sp>
      <p:sp>
        <p:nvSpPr>
          <p:cNvPr id="29" name="Text 26"/>
          <p:cNvSpPr/>
          <p:nvPr/>
        </p:nvSpPr>
        <p:spPr>
          <a:xfrm>
            <a:off x="640080" y="6400800"/>
            <a:ext cx="3200400" cy="274320"/>
          </a:xfrm>
          <a:prstGeom prst="rect">
            <a:avLst/>
          </a:prstGeom>
          <a:noFill/>
          <a:ln/>
        </p:spPr>
        <p:txBody>
          <a:bodyPr wrap="square" lIns="0" tIns="0" rIns="0" bIns="0" rtlCol="0" anchor="ctr"/>
          <a:lstStyle/>
          <a:p>
            <a:pPr algn="l" indent="0" marL="0">
              <a:buNone/>
            </a:pPr>
            <a:r>
              <a:rPr lang="en-US" sz="1000" dirty="0">
                <a:solidFill>
                  <a:srgbClr val="5E7184"/>
                </a:solidFill>
                <a:latin typeface="Arial" pitchFamily="34" charset="0"/>
                <a:ea typeface="Arial" pitchFamily="34" charset="-122"/>
                <a:cs typeface="Arial" pitchFamily="34" charset="-120"/>
              </a:rPr>
              <a:t>BurstMAE-MIL</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640080" y="475488"/>
            <a:ext cx="10789920" cy="274320"/>
          </a:xfrm>
          <a:prstGeom prst="rect">
            <a:avLst/>
          </a:prstGeom>
          <a:noFill/>
          <a:ln/>
        </p:spPr>
        <p:txBody>
          <a:bodyPr wrap="square" lIns="0" tIns="0" rIns="0" bIns="0" rtlCol="0" anchor="ctr"/>
          <a:lstStyle/>
          <a:p>
            <a:pPr algn="l" indent="0" marL="0">
              <a:buNone/>
            </a:pPr>
            <a:r>
              <a:rPr lang="en-US" sz="1250" b="1" spc="300" kern="0" dirty="0">
                <a:solidFill>
                  <a:srgbClr val="16A99A"/>
                </a:solidFill>
                <a:latin typeface="Arial" pitchFamily="34" charset="0"/>
                <a:ea typeface="Arial" pitchFamily="34" charset="-122"/>
                <a:cs typeface="Arial" pitchFamily="34" charset="-120"/>
              </a:rPr>
              <a:t>MOTIVATION</a:t>
            </a:r>
            <a:endParaRPr lang="en-US" sz="1250" dirty="0"/>
          </a:p>
        </p:txBody>
      </p:sp>
      <p:sp>
        <p:nvSpPr>
          <p:cNvPr id="3" name="Text 1"/>
          <p:cNvSpPr/>
          <p:nvPr/>
        </p:nvSpPr>
        <p:spPr>
          <a:xfrm>
            <a:off x="640080" y="749808"/>
            <a:ext cx="10881360" cy="777240"/>
          </a:xfrm>
          <a:prstGeom prst="rect">
            <a:avLst/>
          </a:prstGeom>
          <a:noFill/>
          <a:ln/>
        </p:spPr>
        <p:txBody>
          <a:bodyPr wrap="square" lIns="0" tIns="0" rIns="0" bIns="0" rtlCol="0" anchor="ctr"/>
          <a:lstStyle/>
          <a:p>
            <a:pPr algn="l" indent="0" marL="0">
              <a:lnSpc>
                <a:spcPct val="100000"/>
              </a:lnSpc>
              <a:buNone/>
            </a:pPr>
            <a:r>
              <a:rPr lang="en-US" sz="3000" b="1" dirty="0">
                <a:solidFill>
                  <a:srgbClr val="16293B"/>
                </a:solidFill>
                <a:latin typeface="Georgia" pitchFamily="34" charset="0"/>
                <a:ea typeface="Georgia" pitchFamily="34" charset="-122"/>
                <a:cs typeface="Georgia" pitchFamily="34" charset="-120"/>
              </a:rPr>
              <a:t>Why milling diagnosis matters</a:t>
            </a:r>
            <a:endParaRPr lang="en-US" sz="3000" dirty="0"/>
          </a:p>
        </p:txBody>
      </p:sp>
      <p:sp>
        <p:nvSpPr>
          <p:cNvPr id="4" name="Shape 2"/>
          <p:cNvSpPr/>
          <p:nvPr/>
        </p:nvSpPr>
        <p:spPr>
          <a:xfrm>
            <a:off x="640080" y="1874520"/>
            <a:ext cx="713232" cy="713232"/>
          </a:xfrm>
          <a:prstGeom prst="ellipse">
            <a:avLst/>
          </a:prstGeom>
          <a:solidFill>
            <a:srgbClr val="16A99A"/>
          </a:solidFill>
          <a:ln/>
          <a:effectLst>
            <a:outerShdw sx="100000" sy="100000" kx="0" ky="0" algn="bl" rotWithShape="0" blurRad="76200" dist="25400" dir="5400000">
              <a:srgbClr val="0A1622">
                <a:alpha val="18000"/>
              </a:srgbClr>
            </a:outerShdw>
          </a:effectLst>
        </p:spPr>
      </p:sp>
      <p:pic>
        <p:nvPicPr>
          <p:cNvPr id="5" name="Image 0" descr="preencoded.png">    </p:cNvPr>
          <p:cNvPicPr>
            <a:picLocks noChangeAspect="1"/>
          </p:cNvPicPr>
          <p:nvPr/>
        </p:nvPicPr>
        <p:blipFill>
          <a:blip r:embed="rId1"/>
          <a:stretch>
            <a:fillRect/>
          </a:stretch>
        </p:blipFill>
        <p:spPr>
          <a:xfrm>
            <a:off x="846917" y="2081357"/>
            <a:ext cx="299557" cy="299557"/>
          </a:xfrm>
          <a:prstGeom prst="rect">
            <a:avLst/>
          </a:prstGeom>
        </p:spPr>
      </p:pic>
      <p:sp>
        <p:nvSpPr>
          <p:cNvPr id="6" name="Text 3"/>
          <p:cNvSpPr/>
          <p:nvPr/>
        </p:nvSpPr>
        <p:spPr>
          <a:xfrm>
            <a:off x="1600200" y="1856232"/>
            <a:ext cx="5486400" cy="365760"/>
          </a:xfrm>
          <a:prstGeom prst="rect">
            <a:avLst/>
          </a:prstGeom>
          <a:noFill/>
          <a:ln/>
        </p:spPr>
        <p:txBody>
          <a:bodyPr wrap="square" lIns="0" tIns="0" rIns="0" bIns="0" rtlCol="0" anchor="ctr"/>
          <a:lstStyle/>
          <a:p>
            <a:pPr indent="0" marL="0">
              <a:buNone/>
            </a:pPr>
            <a:r>
              <a:rPr lang="en-US" sz="1650" b="1" dirty="0">
                <a:solidFill>
                  <a:srgbClr val="16293B"/>
                </a:solidFill>
                <a:latin typeface="Arial" pitchFamily="34" charset="0"/>
                <a:ea typeface="Arial" pitchFamily="34" charset="-122"/>
                <a:cs typeface="Arial" pitchFamily="34" charset="-120"/>
              </a:rPr>
              <a:t>Reliability is everything</a:t>
            </a:r>
            <a:endParaRPr lang="en-US" sz="1650" dirty="0"/>
          </a:p>
        </p:txBody>
      </p:sp>
      <p:sp>
        <p:nvSpPr>
          <p:cNvPr id="7" name="Text 4"/>
          <p:cNvSpPr/>
          <p:nvPr/>
        </p:nvSpPr>
        <p:spPr>
          <a:xfrm>
            <a:off x="1600200" y="2221992"/>
            <a:ext cx="5623560" cy="777240"/>
          </a:xfrm>
          <a:prstGeom prst="rect">
            <a:avLst/>
          </a:prstGeom>
          <a:noFill/>
          <a:ln/>
        </p:spPr>
        <p:txBody>
          <a:bodyPr wrap="square" lIns="0" tIns="0" rIns="0" bIns="0" rtlCol="0" anchor="ctr"/>
          <a:lstStyle/>
          <a:p>
            <a:pPr indent="0" marL="0">
              <a:lnSpc>
                <a:spcPct val="105000"/>
              </a:lnSpc>
              <a:buNone/>
            </a:pPr>
            <a:r>
              <a:rPr lang="en-US" sz="1300" dirty="0">
                <a:solidFill>
                  <a:srgbClr val="5E7184"/>
                </a:solidFill>
                <a:latin typeface="Arial" pitchFamily="34" charset="0"/>
                <a:ea typeface="Arial" pitchFamily="34" charset="-122"/>
                <a:cs typeface="Arial" pitchFamily="34" charset="-120"/>
              </a:rPr>
              <a:t>Undetected wear in tools, bearings, and gears causes surface defects, downtime, and costly failures.</a:t>
            </a:r>
            <a:endParaRPr lang="en-US" sz="1300" dirty="0"/>
          </a:p>
        </p:txBody>
      </p:sp>
      <p:sp>
        <p:nvSpPr>
          <p:cNvPr id="8" name="Shape 5"/>
          <p:cNvSpPr/>
          <p:nvPr/>
        </p:nvSpPr>
        <p:spPr>
          <a:xfrm>
            <a:off x="640080" y="3172968"/>
            <a:ext cx="713232" cy="713232"/>
          </a:xfrm>
          <a:prstGeom prst="ellipse">
            <a:avLst/>
          </a:prstGeom>
          <a:solidFill>
            <a:srgbClr val="16A99A"/>
          </a:solidFill>
          <a:ln/>
          <a:effectLst>
            <a:outerShdw sx="100000" sy="100000" kx="0" ky="0" algn="bl" rotWithShape="0" blurRad="76200" dist="25400" dir="5400000">
              <a:srgbClr val="0A1622">
                <a:alpha val="18000"/>
              </a:srgbClr>
            </a:outerShdw>
          </a:effectLst>
        </p:spPr>
      </p:sp>
      <p:pic>
        <p:nvPicPr>
          <p:cNvPr id="9" name="Image 1" descr="preencoded.png">    </p:cNvPr>
          <p:cNvPicPr>
            <a:picLocks noChangeAspect="1"/>
          </p:cNvPicPr>
          <p:nvPr/>
        </p:nvPicPr>
        <p:blipFill>
          <a:blip r:embed="rId2"/>
          <a:stretch>
            <a:fillRect/>
          </a:stretch>
        </p:blipFill>
        <p:spPr>
          <a:xfrm>
            <a:off x="846917" y="3379805"/>
            <a:ext cx="299557" cy="299557"/>
          </a:xfrm>
          <a:prstGeom prst="rect">
            <a:avLst/>
          </a:prstGeom>
        </p:spPr>
      </p:pic>
      <p:sp>
        <p:nvSpPr>
          <p:cNvPr id="10" name="Text 6"/>
          <p:cNvSpPr/>
          <p:nvPr/>
        </p:nvSpPr>
        <p:spPr>
          <a:xfrm>
            <a:off x="1600200" y="3154680"/>
            <a:ext cx="5486400" cy="365760"/>
          </a:xfrm>
          <a:prstGeom prst="rect">
            <a:avLst/>
          </a:prstGeom>
          <a:noFill/>
          <a:ln/>
        </p:spPr>
        <p:txBody>
          <a:bodyPr wrap="square" lIns="0" tIns="0" rIns="0" bIns="0" rtlCol="0" anchor="ctr"/>
          <a:lstStyle/>
          <a:p>
            <a:pPr indent="0" marL="0">
              <a:buNone/>
            </a:pPr>
            <a:r>
              <a:rPr lang="en-US" sz="1650" b="1" dirty="0">
                <a:solidFill>
                  <a:srgbClr val="16293B"/>
                </a:solidFill>
                <a:latin typeface="Arial" pitchFamily="34" charset="0"/>
                <a:ea typeface="Arial" pitchFamily="34" charset="-122"/>
                <a:cs typeface="Arial" pitchFamily="34" charset="-120"/>
              </a:rPr>
              <a:t>Catch damage early</a:t>
            </a:r>
            <a:endParaRPr lang="en-US" sz="1650" dirty="0"/>
          </a:p>
        </p:txBody>
      </p:sp>
      <p:sp>
        <p:nvSpPr>
          <p:cNvPr id="11" name="Text 7"/>
          <p:cNvSpPr/>
          <p:nvPr/>
        </p:nvSpPr>
        <p:spPr>
          <a:xfrm>
            <a:off x="1600200" y="3520440"/>
            <a:ext cx="5623560" cy="777240"/>
          </a:xfrm>
          <a:prstGeom prst="rect">
            <a:avLst/>
          </a:prstGeom>
          <a:noFill/>
          <a:ln/>
        </p:spPr>
        <p:txBody>
          <a:bodyPr wrap="square" lIns="0" tIns="0" rIns="0" bIns="0" rtlCol="0" anchor="ctr"/>
          <a:lstStyle/>
          <a:p>
            <a:pPr indent="0" marL="0">
              <a:lnSpc>
                <a:spcPct val="105000"/>
              </a:lnSpc>
              <a:buNone/>
            </a:pPr>
            <a:r>
              <a:rPr lang="en-US" sz="1300" dirty="0">
                <a:solidFill>
                  <a:srgbClr val="5E7184"/>
                </a:solidFill>
                <a:latin typeface="Arial" pitchFamily="34" charset="0"/>
                <a:ea typeface="Arial" pitchFamily="34" charset="-122"/>
                <a:cs typeface="Arial" pitchFamily="34" charset="-120"/>
              </a:rPr>
              <a:t>In precision machining, small defects propagate fast — early detection prevents severe damage.</a:t>
            </a:r>
            <a:endParaRPr lang="en-US" sz="1300" dirty="0"/>
          </a:p>
        </p:txBody>
      </p:sp>
      <p:sp>
        <p:nvSpPr>
          <p:cNvPr id="12" name="Shape 8"/>
          <p:cNvSpPr/>
          <p:nvPr/>
        </p:nvSpPr>
        <p:spPr>
          <a:xfrm>
            <a:off x="640080" y="4471416"/>
            <a:ext cx="713232" cy="713232"/>
          </a:xfrm>
          <a:prstGeom prst="ellipse">
            <a:avLst/>
          </a:prstGeom>
          <a:solidFill>
            <a:srgbClr val="EFA135"/>
          </a:solidFill>
          <a:ln/>
          <a:effectLst>
            <a:outerShdw sx="100000" sy="100000" kx="0" ky="0" algn="bl" rotWithShape="0" blurRad="76200" dist="25400" dir="5400000">
              <a:srgbClr val="0A1622">
                <a:alpha val="18000"/>
              </a:srgbClr>
            </a:outerShdw>
          </a:effectLst>
        </p:spPr>
      </p:sp>
      <p:pic>
        <p:nvPicPr>
          <p:cNvPr id="13" name="Image 2" descr="preencoded.png">    </p:cNvPr>
          <p:cNvPicPr>
            <a:picLocks noChangeAspect="1"/>
          </p:cNvPicPr>
          <p:nvPr/>
        </p:nvPicPr>
        <p:blipFill>
          <a:blip r:embed="rId3"/>
          <a:stretch>
            <a:fillRect/>
          </a:stretch>
        </p:blipFill>
        <p:spPr>
          <a:xfrm>
            <a:off x="846917" y="4678253"/>
            <a:ext cx="299557" cy="299557"/>
          </a:xfrm>
          <a:prstGeom prst="rect">
            <a:avLst/>
          </a:prstGeom>
        </p:spPr>
      </p:pic>
      <p:sp>
        <p:nvSpPr>
          <p:cNvPr id="14" name="Text 9"/>
          <p:cNvSpPr/>
          <p:nvPr/>
        </p:nvSpPr>
        <p:spPr>
          <a:xfrm>
            <a:off x="1600200" y="4453128"/>
            <a:ext cx="5486400" cy="365760"/>
          </a:xfrm>
          <a:prstGeom prst="rect">
            <a:avLst/>
          </a:prstGeom>
          <a:noFill/>
          <a:ln/>
        </p:spPr>
        <p:txBody>
          <a:bodyPr wrap="square" lIns="0" tIns="0" rIns="0" bIns="0" rtlCol="0" anchor="ctr"/>
          <a:lstStyle/>
          <a:p>
            <a:pPr indent="0" marL="0">
              <a:buNone/>
            </a:pPr>
            <a:r>
              <a:rPr lang="en-US" sz="1650" b="1" dirty="0">
                <a:solidFill>
                  <a:srgbClr val="16293B"/>
                </a:solidFill>
                <a:latin typeface="Arial" pitchFamily="34" charset="0"/>
                <a:ea typeface="Arial" pitchFamily="34" charset="-122"/>
                <a:cs typeface="Arial" pitchFamily="34" charset="-120"/>
              </a:rPr>
              <a:t>AE sees what others miss</a:t>
            </a:r>
            <a:endParaRPr lang="en-US" sz="1650" dirty="0"/>
          </a:p>
        </p:txBody>
      </p:sp>
      <p:sp>
        <p:nvSpPr>
          <p:cNvPr id="15" name="Text 10"/>
          <p:cNvSpPr/>
          <p:nvPr/>
        </p:nvSpPr>
        <p:spPr>
          <a:xfrm>
            <a:off x="1600200" y="4818888"/>
            <a:ext cx="5623560" cy="777240"/>
          </a:xfrm>
          <a:prstGeom prst="rect">
            <a:avLst/>
          </a:prstGeom>
          <a:noFill/>
          <a:ln/>
        </p:spPr>
        <p:txBody>
          <a:bodyPr wrap="square" lIns="0" tIns="0" rIns="0" bIns="0" rtlCol="0" anchor="ctr"/>
          <a:lstStyle/>
          <a:p>
            <a:pPr indent="0" marL="0">
              <a:lnSpc>
                <a:spcPct val="105000"/>
              </a:lnSpc>
              <a:buNone/>
            </a:pPr>
            <a:r>
              <a:rPr lang="en-US" sz="1300" dirty="0">
                <a:solidFill>
                  <a:srgbClr val="5E7184"/>
                </a:solidFill>
                <a:latin typeface="Arial" pitchFamily="34" charset="0"/>
                <a:ea typeface="Arial" pitchFamily="34" charset="-122"/>
                <a:cs typeface="Arial" pitchFamily="34" charset="-120"/>
              </a:rPr>
              <a:t>Acoustic emission captures high–frequency stress waves from micro–cracks, deformation, and friction.</a:t>
            </a:r>
            <a:endParaRPr lang="en-US" sz="1300" dirty="0"/>
          </a:p>
        </p:txBody>
      </p:sp>
      <p:sp>
        <p:nvSpPr>
          <p:cNvPr id="16" name="Shape 11"/>
          <p:cNvSpPr/>
          <p:nvPr/>
        </p:nvSpPr>
        <p:spPr>
          <a:xfrm>
            <a:off x="7635240" y="1828800"/>
            <a:ext cx="3931920" cy="4160520"/>
          </a:xfrm>
          <a:prstGeom prst="roundRect">
            <a:avLst>
              <a:gd name="adj" fmla="val 2791"/>
            </a:avLst>
          </a:prstGeom>
          <a:solidFill>
            <a:srgbClr val="FFFFFF"/>
          </a:solidFill>
          <a:ln w="12700">
            <a:solidFill>
              <a:srgbClr val="DCE4EA"/>
            </a:solidFill>
            <a:prstDash val="solid"/>
          </a:ln>
          <a:effectLst>
            <a:outerShdw sx="100000" sy="100000" kx="0" ky="0" algn="bl" rotWithShape="0" blurRad="127000" dist="38100" dir="5400000">
              <a:srgbClr val="0A1622">
                <a:alpha val="14000"/>
              </a:srgbClr>
            </a:outerShdw>
          </a:effectLst>
        </p:spPr>
      </p:sp>
      <p:sp>
        <p:nvSpPr>
          <p:cNvPr id="17" name="Text 12"/>
          <p:cNvSpPr/>
          <p:nvPr/>
        </p:nvSpPr>
        <p:spPr>
          <a:xfrm>
            <a:off x="8001000" y="2176272"/>
            <a:ext cx="3200400" cy="274320"/>
          </a:xfrm>
          <a:prstGeom prst="rect">
            <a:avLst/>
          </a:prstGeom>
          <a:noFill/>
          <a:ln/>
        </p:spPr>
        <p:txBody>
          <a:bodyPr wrap="square" lIns="0" tIns="0" rIns="0" bIns="0" rtlCol="0" anchor="ctr"/>
          <a:lstStyle/>
          <a:p>
            <a:pPr indent="0" marL="0">
              <a:buNone/>
            </a:pPr>
            <a:r>
              <a:rPr lang="en-US" sz="1200" b="1" spc="200" kern="0" dirty="0">
                <a:solidFill>
                  <a:srgbClr val="0E7C72"/>
                </a:solidFill>
                <a:latin typeface="Arial" pitchFamily="34" charset="0"/>
                <a:ea typeface="Arial" pitchFamily="34" charset="-122"/>
                <a:cs typeface="Arial" pitchFamily="34" charset="-120"/>
              </a:rPr>
              <a:t>THE AE ADVANTAGE</a:t>
            </a:r>
            <a:endParaRPr lang="en-US" sz="1200" dirty="0"/>
          </a:p>
        </p:txBody>
      </p:sp>
      <p:sp>
        <p:nvSpPr>
          <p:cNvPr id="18" name="Text 13"/>
          <p:cNvSpPr/>
          <p:nvPr/>
        </p:nvSpPr>
        <p:spPr>
          <a:xfrm>
            <a:off x="8001000" y="2606040"/>
            <a:ext cx="3200400" cy="457200"/>
          </a:xfrm>
          <a:prstGeom prst="rect">
            <a:avLst/>
          </a:prstGeom>
          <a:noFill/>
          <a:ln/>
        </p:spPr>
        <p:txBody>
          <a:bodyPr wrap="square" lIns="0" tIns="0" rIns="0" bIns="0" rtlCol="0" anchor="ctr"/>
          <a:lstStyle/>
          <a:p>
            <a:pPr indent="0" marL="0">
              <a:buNone/>
            </a:pPr>
            <a:r>
              <a:rPr lang="en-US" sz="3000" b="1" dirty="0">
                <a:solidFill>
                  <a:srgbClr val="16A99A"/>
                </a:solidFill>
                <a:latin typeface="Georgia" pitchFamily="34" charset="0"/>
                <a:ea typeface="Georgia" pitchFamily="34" charset="-122"/>
                <a:cs typeface="Georgia" pitchFamily="34" charset="-120"/>
              </a:rPr>
              <a:t>50–400 kHz</a:t>
            </a:r>
            <a:endParaRPr lang="en-US" sz="3000" dirty="0"/>
          </a:p>
        </p:txBody>
      </p:sp>
      <p:sp>
        <p:nvSpPr>
          <p:cNvPr id="19" name="Text 14"/>
          <p:cNvSpPr/>
          <p:nvPr/>
        </p:nvSpPr>
        <p:spPr>
          <a:xfrm>
            <a:off x="8001000" y="3081528"/>
            <a:ext cx="3200400" cy="274320"/>
          </a:xfrm>
          <a:prstGeom prst="rect">
            <a:avLst/>
          </a:prstGeom>
          <a:noFill/>
          <a:ln/>
        </p:spPr>
        <p:txBody>
          <a:bodyPr wrap="square" lIns="0" tIns="0" rIns="0" bIns="0" rtlCol="0" anchor="ctr"/>
          <a:lstStyle/>
          <a:p>
            <a:pPr indent="0" marL="0">
              <a:buNone/>
            </a:pPr>
            <a:r>
              <a:rPr lang="en-US" sz="1250" dirty="0">
                <a:solidFill>
                  <a:srgbClr val="5E7184"/>
                </a:solidFill>
                <a:latin typeface="Arial" pitchFamily="34" charset="0"/>
                <a:ea typeface="Arial" pitchFamily="34" charset="-122"/>
                <a:cs typeface="Arial" pitchFamily="34" charset="-120"/>
              </a:rPr>
              <a:t>Sensor bandwidth</a:t>
            </a:r>
            <a:endParaRPr lang="en-US" sz="1250" dirty="0"/>
          </a:p>
        </p:txBody>
      </p:sp>
      <p:sp>
        <p:nvSpPr>
          <p:cNvPr id="20" name="Shape 15"/>
          <p:cNvSpPr/>
          <p:nvPr/>
        </p:nvSpPr>
        <p:spPr>
          <a:xfrm>
            <a:off x="8001000" y="3493008"/>
            <a:ext cx="3200400" cy="0"/>
          </a:xfrm>
          <a:prstGeom prst="line">
            <a:avLst/>
          </a:prstGeom>
          <a:noFill/>
          <a:ln w="12700">
            <a:solidFill>
              <a:srgbClr val="DCE4EA"/>
            </a:solidFill>
            <a:prstDash val="solid"/>
          </a:ln>
        </p:spPr>
      </p:sp>
      <p:sp>
        <p:nvSpPr>
          <p:cNvPr id="21" name="Text 16"/>
          <p:cNvSpPr/>
          <p:nvPr/>
        </p:nvSpPr>
        <p:spPr>
          <a:xfrm>
            <a:off x="8001000" y="3630168"/>
            <a:ext cx="3200400" cy="457200"/>
          </a:xfrm>
          <a:prstGeom prst="rect">
            <a:avLst/>
          </a:prstGeom>
          <a:noFill/>
          <a:ln/>
        </p:spPr>
        <p:txBody>
          <a:bodyPr wrap="square" lIns="0" tIns="0" rIns="0" bIns="0" rtlCol="0" anchor="ctr"/>
          <a:lstStyle/>
          <a:p>
            <a:pPr indent="0" marL="0">
              <a:buNone/>
            </a:pPr>
            <a:r>
              <a:rPr lang="en-US" sz="3000" b="1" dirty="0">
                <a:solidFill>
                  <a:srgbClr val="16293B"/>
                </a:solidFill>
                <a:latin typeface="Georgia" pitchFamily="34" charset="0"/>
                <a:ea typeface="Georgia" pitchFamily="34" charset="-122"/>
                <a:cs typeface="Georgia" pitchFamily="34" charset="-120"/>
              </a:rPr>
              <a:t>1 MS/s</a:t>
            </a:r>
            <a:endParaRPr lang="en-US" sz="3000" dirty="0"/>
          </a:p>
        </p:txBody>
      </p:sp>
      <p:sp>
        <p:nvSpPr>
          <p:cNvPr id="22" name="Text 17"/>
          <p:cNvSpPr/>
          <p:nvPr/>
        </p:nvSpPr>
        <p:spPr>
          <a:xfrm>
            <a:off x="8001000" y="4105656"/>
            <a:ext cx="3200400" cy="274320"/>
          </a:xfrm>
          <a:prstGeom prst="rect">
            <a:avLst/>
          </a:prstGeom>
          <a:noFill/>
          <a:ln/>
        </p:spPr>
        <p:txBody>
          <a:bodyPr wrap="square" lIns="0" tIns="0" rIns="0" bIns="0" rtlCol="0" anchor="ctr"/>
          <a:lstStyle/>
          <a:p>
            <a:pPr indent="0" marL="0">
              <a:buNone/>
            </a:pPr>
            <a:r>
              <a:rPr lang="en-US" sz="1250" dirty="0">
                <a:solidFill>
                  <a:srgbClr val="5E7184"/>
                </a:solidFill>
                <a:latin typeface="Arial" pitchFamily="34" charset="0"/>
                <a:ea typeface="Arial" pitchFamily="34" charset="-122"/>
                <a:cs typeface="Arial" pitchFamily="34" charset="-120"/>
              </a:rPr>
              <a:t>Sampling rate, 16–bit</a:t>
            </a:r>
            <a:endParaRPr lang="en-US" sz="1250" dirty="0"/>
          </a:p>
        </p:txBody>
      </p:sp>
      <p:sp>
        <p:nvSpPr>
          <p:cNvPr id="23" name="Shape 18"/>
          <p:cNvSpPr/>
          <p:nvPr/>
        </p:nvSpPr>
        <p:spPr>
          <a:xfrm>
            <a:off x="8001000" y="4517136"/>
            <a:ext cx="3200400" cy="0"/>
          </a:xfrm>
          <a:prstGeom prst="line">
            <a:avLst/>
          </a:prstGeom>
          <a:noFill/>
          <a:ln w="12700">
            <a:solidFill>
              <a:srgbClr val="DCE4EA"/>
            </a:solidFill>
            <a:prstDash val="solid"/>
          </a:ln>
        </p:spPr>
      </p:sp>
      <p:sp>
        <p:nvSpPr>
          <p:cNvPr id="24" name="Text 19"/>
          <p:cNvSpPr/>
          <p:nvPr/>
        </p:nvSpPr>
        <p:spPr>
          <a:xfrm>
            <a:off x="8001000" y="4654296"/>
            <a:ext cx="3200400" cy="457200"/>
          </a:xfrm>
          <a:prstGeom prst="rect">
            <a:avLst/>
          </a:prstGeom>
          <a:noFill/>
          <a:ln/>
        </p:spPr>
        <p:txBody>
          <a:bodyPr wrap="square" lIns="0" tIns="0" rIns="0" bIns="0" rtlCol="0" anchor="ctr"/>
          <a:lstStyle/>
          <a:p>
            <a:pPr indent="0" marL="0">
              <a:buNone/>
            </a:pPr>
            <a:r>
              <a:rPr lang="en-US" sz="3000" b="1" dirty="0">
                <a:solidFill>
                  <a:srgbClr val="16293B"/>
                </a:solidFill>
                <a:latin typeface="Georgia" pitchFamily="34" charset="0"/>
                <a:ea typeface="Georgia" pitchFamily="34" charset="-122"/>
                <a:cs typeface="Georgia" pitchFamily="34" charset="-120"/>
              </a:rPr>
              <a:t>µs–scale</a:t>
            </a:r>
            <a:endParaRPr lang="en-US" sz="3000" dirty="0"/>
          </a:p>
        </p:txBody>
      </p:sp>
      <p:sp>
        <p:nvSpPr>
          <p:cNvPr id="25" name="Text 20"/>
          <p:cNvSpPr/>
          <p:nvPr/>
        </p:nvSpPr>
        <p:spPr>
          <a:xfrm>
            <a:off x="8001000" y="5129784"/>
            <a:ext cx="3200400" cy="274320"/>
          </a:xfrm>
          <a:prstGeom prst="rect">
            <a:avLst/>
          </a:prstGeom>
          <a:noFill/>
          <a:ln/>
        </p:spPr>
        <p:txBody>
          <a:bodyPr wrap="square" lIns="0" tIns="0" rIns="0" bIns="0" rtlCol="0" anchor="ctr"/>
          <a:lstStyle/>
          <a:p>
            <a:pPr indent="0" marL="0">
              <a:buNone/>
            </a:pPr>
            <a:r>
              <a:rPr lang="en-US" sz="1250" dirty="0">
                <a:solidFill>
                  <a:srgbClr val="5E7184"/>
                </a:solidFill>
                <a:latin typeface="Arial" pitchFamily="34" charset="0"/>
                <a:ea typeface="Arial" pitchFamily="34" charset="-122"/>
                <a:cs typeface="Arial" pitchFamily="34" charset="-120"/>
              </a:rPr>
              <a:t>Transient burst events</a:t>
            </a:r>
            <a:endParaRPr lang="en-US" sz="1250" dirty="0"/>
          </a:p>
        </p:txBody>
      </p:sp>
      <p:sp>
        <p:nvSpPr>
          <p:cNvPr id="26" name="Text 21"/>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5E7184"/>
                </a:solidFill>
                <a:latin typeface="Arial" pitchFamily="34" charset="0"/>
                <a:ea typeface="Arial" pitchFamily="34" charset="-122"/>
                <a:cs typeface="Arial" pitchFamily="34" charset="-120"/>
              </a:rPr>
              <a:t>03</a:t>
            </a:r>
            <a:endParaRPr lang="en-US" sz="1000" dirty="0"/>
          </a:p>
        </p:txBody>
      </p:sp>
      <p:sp>
        <p:nvSpPr>
          <p:cNvPr id="27" name="Text 22"/>
          <p:cNvSpPr/>
          <p:nvPr/>
        </p:nvSpPr>
        <p:spPr>
          <a:xfrm>
            <a:off x="640080" y="6400800"/>
            <a:ext cx="3200400" cy="274320"/>
          </a:xfrm>
          <a:prstGeom prst="rect">
            <a:avLst/>
          </a:prstGeom>
          <a:noFill/>
          <a:ln/>
        </p:spPr>
        <p:txBody>
          <a:bodyPr wrap="square" lIns="0" tIns="0" rIns="0" bIns="0" rtlCol="0" anchor="ctr"/>
          <a:lstStyle/>
          <a:p>
            <a:pPr algn="l" indent="0" marL="0">
              <a:buNone/>
            </a:pPr>
            <a:r>
              <a:rPr lang="en-US" sz="1000" dirty="0">
                <a:solidFill>
                  <a:srgbClr val="5E7184"/>
                </a:solidFill>
                <a:latin typeface="Arial" pitchFamily="34" charset="0"/>
                <a:ea typeface="Arial" pitchFamily="34" charset="-122"/>
                <a:cs typeface="Arial" pitchFamily="34" charset="-120"/>
              </a:rPr>
              <a:t>BurstMAE-MIL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640080" y="475488"/>
            <a:ext cx="10789920" cy="274320"/>
          </a:xfrm>
          <a:prstGeom prst="rect">
            <a:avLst/>
          </a:prstGeom>
          <a:noFill/>
          <a:ln/>
        </p:spPr>
        <p:txBody>
          <a:bodyPr wrap="square" lIns="0" tIns="0" rIns="0" bIns="0" rtlCol="0" anchor="ctr"/>
          <a:lstStyle/>
          <a:p>
            <a:pPr algn="l" indent="0" marL="0">
              <a:buNone/>
            </a:pPr>
            <a:r>
              <a:rPr lang="en-US" sz="1250" b="1" spc="300" kern="0" dirty="0">
                <a:solidFill>
                  <a:srgbClr val="16A99A"/>
                </a:solidFill>
                <a:latin typeface="Arial" pitchFamily="34" charset="0"/>
                <a:ea typeface="Arial" pitchFamily="34" charset="-122"/>
                <a:cs typeface="Arial" pitchFamily="34" charset="-120"/>
              </a:rPr>
              <a:t>THE PROBLEM</a:t>
            </a:r>
            <a:endParaRPr lang="en-US" sz="1250" dirty="0"/>
          </a:p>
        </p:txBody>
      </p:sp>
      <p:sp>
        <p:nvSpPr>
          <p:cNvPr id="3" name="Text 1"/>
          <p:cNvSpPr/>
          <p:nvPr/>
        </p:nvSpPr>
        <p:spPr>
          <a:xfrm>
            <a:off x="640080" y="749808"/>
            <a:ext cx="10881360" cy="777240"/>
          </a:xfrm>
          <a:prstGeom prst="rect">
            <a:avLst/>
          </a:prstGeom>
          <a:noFill/>
          <a:ln/>
        </p:spPr>
        <p:txBody>
          <a:bodyPr wrap="square" lIns="0" tIns="0" rIns="0" bIns="0" rtlCol="0" anchor="ctr"/>
          <a:lstStyle/>
          <a:p>
            <a:pPr algn="l" indent="0" marL="0">
              <a:lnSpc>
                <a:spcPct val="100000"/>
              </a:lnSpc>
              <a:buNone/>
            </a:pPr>
            <a:r>
              <a:rPr lang="en-US" sz="3000" b="1" dirty="0">
                <a:solidFill>
                  <a:srgbClr val="16293B"/>
                </a:solidFill>
                <a:latin typeface="Georgia" pitchFamily="34" charset="0"/>
                <a:ea typeface="Georgia" pitchFamily="34" charset="-122"/>
                <a:cs typeface="Georgia" pitchFamily="34" charset="-120"/>
              </a:rPr>
              <a:t>Three obstacles to AE–based diagnosis</a:t>
            </a:r>
            <a:endParaRPr lang="en-US" sz="3000" dirty="0"/>
          </a:p>
        </p:txBody>
      </p:sp>
      <p:sp>
        <p:nvSpPr>
          <p:cNvPr id="4" name="Shape 2"/>
          <p:cNvSpPr/>
          <p:nvPr/>
        </p:nvSpPr>
        <p:spPr>
          <a:xfrm>
            <a:off x="640080" y="1965960"/>
            <a:ext cx="3520440" cy="3886200"/>
          </a:xfrm>
          <a:prstGeom prst="roundRect">
            <a:avLst>
              <a:gd name="adj" fmla="val 2597"/>
            </a:avLst>
          </a:prstGeom>
          <a:solidFill>
            <a:srgbClr val="FFFFFF"/>
          </a:solidFill>
          <a:ln w="12700">
            <a:solidFill>
              <a:srgbClr val="DCE4EA"/>
            </a:solidFill>
            <a:prstDash val="solid"/>
          </a:ln>
          <a:effectLst>
            <a:outerShdw sx="100000" sy="100000" kx="0" ky="0" algn="bl" rotWithShape="0" blurRad="127000" dist="38100" dir="5400000">
              <a:srgbClr val="0A1622">
                <a:alpha val="13000"/>
              </a:srgbClr>
            </a:outerShdw>
          </a:effectLst>
        </p:spPr>
      </p:sp>
      <p:sp>
        <p:nvSpPr>
          <p:cNvPr id="5" name="Shape 3"/>
          <p:cNvSpPr/>
          <p:nvPr/>
        </p:nvSpPr>
        <p:spPr>
          <a:xfrm>
            <a:off x="1051560" y="2423160"/>
            <a:ext cx="868680" cy="868680"/>
          </a:xfrm>
          <a:prstGeom prst="ellipse">
            <a:avLst/>
          </a:prstGeom>
          <a:solidFill>
            <a:srgbClr val="16A99A"/>
          </a:solidFill>
          <a:ln/>
          <a:effectLst>
            <a:outerShdw sx="100000" sy="100000" kx="0" ky="0" algn="bl" rotWithShape="0" blurRad="76200" dist="25400" dir="5400000">
              <a:srgbClr val="0A1622">
                <a:alpha val="18000"/>
              </a:srgbClr>
            </a:outerShdw>
          </a:effectLst>
        </p:spPr>
      </p:sp>
      <p:pic>
        <p:nvPicPr>
          <p:cNvPr id="6" name="Image 0" descr="preencoded.png">    </p:cNvPr>
          <p:cNvPicPr>
            <a:picLocks noChangeAspect="1"/>
          </p:cNvPicPr>
          <p:nvPr/>
        </p:nvPicPr>
        <p:blipFill>
          <a:blip r:embed="rId1"/>
          <a:stretch>
            <a:fillRect/>
          </a:stretch>
        </p:blipFill>
        <p:spPr>
          <a:xfrm>
            <a:off x="1303477" y="2675077"/>
            <a:ext cx="364846" cy="364846"/>
          </a:xfrm>
          <a:prstGeom prst="rect">
            <a:avLst/>
          </a:prstGeom>
        </p:spPr>
      </p:pic>
      <p:sp>
        <p:nvSpPr>
          <p:cNvPr id="7" name="Text 4"/>
          <p:cNvSpPr/>
          <p:nvPr/>
        </p:nvSpPr>
        <p:spPr>
          <a:xfrm>
            <a:off x="3246120" y="2377440"/>
            <a:ext cx="640080" cy="640080"/>
          </a:xfrm>
          <a:prstGeom prst="rect">
            <a:avLst/>
          </a:prstGeom>
          <a:noFill/>
          <a:ln/>
        </p:spPr>
        <p:txBody>
          <a:bodyPr wrap="square" lIns="0" tIns="0" rIns="0" bIns="0" rtlCol="0" anchor="ctr"/>
          <a:lstStyle/>
          <a:p>
            <a:pPr algn="r" indent="0" marL="0">
              <a:buNone/>
            </a:pPr>
            <a:r>
              <a:rPr lang="en-US" sz="3400" b="1" dirty="0">
                <a:solidFill>
                  <a:srgbClr val="DCE4EA"/>
                </a:solidFill>
                <a:latin typeface="Georgia" pitchFamily="34" charset="0"/>
                <a:ea typeface="Georgia" pitchFamily="34" charset="-122"/>
                <a:cs typeface="Georgia" pitchFamily="34" charset="-120"/>
              </a:rPr>
              <a:t>01</a:t>
            </a:r>
            <a:endParaRPr lang="en-US" sz="3400" dirty="0"/>
          </a:p>
        </p:txBody>
      </p:sp>
      <p:sp>
        <p:nvSpPr>
          <p:cNvPr id="8" name="Text 5"/>
          <p:cNvSpPr/>
          <p:nvPr/>
        </p:nvSpPr>
        <p:spPr>
          <a:xfrm>
            <a:off x="1051560" y="3566160"/>
            <a:ext cx="2697480" cy="457200"/>
          </a:xfrm>
          <a:prstGeom prst="rect">
            <a:avLst/>
          </a:prstGeom>
          <a:noFill/>
          <a:ln/>
        </p:spPr>
        <p:txBody>
          <a:bodyPr wrap="square" lIns="0" tIns="0" rIns="0" bIns="0" rtlCol="0" anchor="ctr"/>
          <a:lstStyle/>
          <a:p>
            <a:pPr indent="0" marL="0">
              <a:buNone/>
            </a:pPr>
            <a:r>
              <a:rPr lang="en-US" sz="1850" b="1" dirty="0">
                <a:solidFill>
                  <a:srgbClr val="16293B"/>
                </a:solidFill>
                <a:latin typeface="Arial" pitchFamily="34" charset="0"/>
                <a:ea typeface="Arial" pitchFamily="34" charset="-122"/>
                <a:cs typeface="Arial" pitchFamily="34" charset="-120"/>
              </a:rPr>
              <a:t>Transient &amp; noisy</a:t>
            </a:r>
            <a:endParaRPr lang="en-US" sz="1850" dirty="0"/>
          </a:p>
        </p:txBody>
      </p:sp>
      <p:sp>
        <p:nvSpPr>
          <p:cNvPr id="9" name="Text 6"/>
          <p:cNvSpPr/>
          <p:nvPr/>
        </p:nvSpPr>
        <p:spPr>
          <a:xfrm>
            <a:off x="1051560" y="4160520"/>
            <a:ext cx="2743200" cy="1463040"/>
          </a:xfrm>
          <a:prstGeom prst="rect">
            <a:avLst/>
          </a:prstGeom>
          <a:noFill/>
          <a:ln/>
        </p:spPr>
        <p:txBody>
          <a:bodyPr wrap="square" lIns="0" tIns="0" rIns="0" bIns="0" rtlCol="0" anchor="t"/>
          <a:lstStyle/>
          <a:p>
            <a:pPr indent="0" marL="0">
              <a:lnSpc>
                <a:spcPct val="112000"/>
              </a:lnSpc>
              <a:buNone/>
            </a:pPr>
            <a:r>
              <a:rPr lang="en-US" sz="1350" dirty="0">
                <a:solidFill>
                  <a:srgbClr val="5E7184"/>
                </a:solidFill>
                <a:latin typeface="Arial" pitchFamily="34" charset="0"/>
                <a:ea typeface="Arial" pitchFamily="34" charset="-122"/>
                <a:cs typeface="Arial" pitchFamily="34" charset="-120"/>
              </a:rPr>
              <a:t>AE is non–stationary and dominated by short, high–energy bursts buried in background noise.</a:t>
            </a:r>
            <a:endParaRPr lang="en-US" sz="1350" dirty="0"/>
          </a:p>
        </p:txBody>
      </p:sp>
      <p:sp>
        <p:nvSpPr>
          <p:cNvPr id="10" name="Shape 7"/>
          <p:cNvSpPr/>
          <p:nvPr/>
        </p:nvSpPr>
        <p:spPr>
          <a:xfrm>
            <a:off x="4544568" y="1965960"/>
            <a:ext cx="3520440" cy="3886200"/>
          </a:xfrm>
          <a:prstGeom prst="roundRect">
            <a:avLst>
              <a:gd name="adj" fmla="val 2597"/>
            </a:avLst>
          </a:prstGeom>
          <a:solidFill>
            <a:srgbClr val="FFFFFF"/>
          </a:solidFill>
          <a:ln w="12700">
            <a:solidFill>
              <a:srgbClr val="DCE4EA"/>
            </a:solidFill>
            <a:prstDash val="solid"/>
          </a:ln>
          <a:effectLst>
            <a:outerShdw sx="100000" sy="100000" kx="0" ky="0" algn="bl" rotWithShape="0" blurRad="127000" dist="38100" dir="5400000">
              <a:srgbClr val="0A1622">
                <a:alpha val="13000"/>
              </a:srgbClr>
            </a:outerShdw>
          </a:effectLst>
        </p:spPr>
      </p:sp>
      <p:sp>
        <p:nvSpPr>
          <p:cNvPr id="11" name="Shape 8"/>
          <p:cNvSpPr/>
          <p:nvPr/>
        </p:nvSpPr>
        <p:spPr>
          <a:xfrm>
            <a:off x="4956048" y="2423160"/>
            <a:ext cx="868680" cy="868680"/>
          </a:xfrm>
          <a:prstGeom prst="ellipse">
            <a:avLst/>
          </a:prstGeom>
          <a:solidFill>
            <a:srgbClr val="EFA135"/>
          </a:solidFill>
          <a:ln/>
          <a:effectLst>
            <a:outerShdw sx="100000" sy="100000" kx="0" ky="0" algn="bl" rotWithShape="0" blurRad="76200" dist="25400" dir="5400000">
              <a:srgbClr val="0A1622">
                <a:alpha val="18000"/>
              </a:srgbClr>
            </a:outerShdw>
          </a:effectLst>
        </p:spPr>
      </p:sp>
      <p:pic>
        <p:nvPicPr>
          <p:cNvPr id="12" name="Image 1" descr="preencoded.png">    </p:cNvPr>
          <p:cNvPicPr>
            <a:picLocks noChangeAspect="1"/>
          </p:cNvPicPr>
          <p:nvPr/>
        </p:nvPicPr>
        <p:blipFill>
          <a:blip r:embed="rId2"/>
          <a:stretch>
            <a:fillRect/>
          </a:stretch>
        </p:blipFill>
        <p:spPr>
          <a:xfrm>
            <a:off x="5207965" y="2675077"/>
            <a:ext cx="364846" cy="364846"/>
          </a:xfrm>
          <a:prstGeom prst="rect">
            <a:avLst/>
          </a:prstGeom>
        </p:spPr>
      </p:pic>
      <p:sp>
        <p:nvSpPr>
          <p:cNvPr id="13" name="Text 9"/>
          <p:cNvSpPr/>
          <p:nvPr/>
        </p:nvSpPr>
        <p:spPr>
          <a:xfrm>
            <a:off x="7150608" y="2377440"/>
            <a:ext cx="640080" cy="640080"/>
          </a:xfrm>
          <a:prstGeom prst="rect">
            <a:avLst/>
          </a:prstGeom>
          <a:noFill/>
          <a:ln/>
        </p:spPr>
        <p:txBody>
          <a:bodyPr wrap="square" lIns="0" tIns="0" rIns="0" bIns="0" rtlCol="0" anchor="ctr"/>
          <a:lstStyle/>
          <a:p>
            <a:pPr algn="r" indent="0" marL="0">
              <a:buNone/>
            </a:pPr>
            <a:r>
              <a:rPr lang="en-US" sz="3400" b="1" dirty="0">
                <a:solidFill>
                  <a:srgbClr val="DCE4EA"/>
                </a:solidFill>
                <a:latin typeface="Georgia" pitchFamily="34" charset="0"/>
                <a:ea typeface="Georgia" pitchFamily="34" charset="-122"/>
                <a:cs typeface="Georgia" pitchFamily="34" charset="-120"/>
              </a:rPr>
              <a:t>02</a:t>
            </a:r>
            <a:endParaRPr lang="en-US" sz="3400" dirty="0"/>
          </a:p>
        </p:txBody>
      </p:sp>
      <p:sp>
        <p:nvSpPr>
          <p:cNvPr id="14" name="Text 10"/>
          <p:cNvSpPr/>
          <p:nvPr/>
        </p:nvSpPr>
        <p:spPr>
          <a:xfrm>
            <a:off x="4956048" y="3566160"/>
            <a:ext cx="2697480" cy="457200"/>
          </a:xfrm>
          <a:prstGeom prst="rect">
            <a:avLst/>
          </a:prstGeom>
          <a:noFill/>
          <a:ln/>
        </p:spPr>
        <p:txBody>
          <a:bodyPr wrap="square" lIns="0" tIns="0" rIns="0" bIns="0" rtlCol="0" anchor="ctr"/>
          <a:lstStyle/>
          <a:p>
            <a:pPr indent="0" marL="0">
              <a:buNone/>
            </a:pPr>
            <a:r>
              <a:rPr lang="en-US" sz="1850" b="1" dirty="0">
                <a:solidFill>
                  <a:srgbClr val="16293B"/>
                </a:solidFill>
                <a:latin typeface="Arial" pitchFamily="34" charset="0"/>
                <a:ea typeface="Arial" pitchFamily="34" charset="-122"/>
                <a:cs typeface="Arial" pitchFamily="34" charset="-120"/>
              </a:rPr>
              <a:t>Labels are scarce</a:t>
            </a:r>
            <a:endParaRPr lang="en-US" sz="1850" dirty="0"/>
          </a:p>
        </p:txBody>
      </p:sp>
      <p:sp>
        <p:nvSpPr>
          <p:cNvPr id="15" name="Text 11"/>
          <p:cNvSpPr/>
          <p:nvPr/>
        </p:nvSpPr>
        <p:spPr>
          <a:xfrm>
            <a:off x="4956048" y="4160520"/>
            <a:ext cx="2743200" cy="1463040"/>
          </a:xfrm>
          <a:prstGeom prst="rect">
            <a:avLst/>
          </a:prstGeom>
          <a:noFill/>
          <a:ln/>
        </p:spPr>
        <p:txBody>
          <a:bodyPr wrap="square" lIns="0" tIns="0" rIns="0" bIns="0" rtlCol="0" anchor="t"/>
          <a:lstStyle/>
          <a:p>
            <a:pPr indent="0" marL="0">
              <a:lnSpc>
                <a:spcPct val="112000"/>
              </a:lnSpc>
              <a:buNone/>
            </a:pPr>
            <a:r>
              <a:rPr lang="en-US" sz="1350" dirty="0">
                <a:solidFill>
                  <a:srgbClr val="5E7184"/>
                </a:solidFill>
                <a:latin typeface="Arial" pitchFamily="34" charset="0"/>
                <a:ea typeface="Arial" pitchFamily="34" charset="-122"/>
                <a:cs typeface="Arial" pitchFamily="34" charset="-120"/>
              </a:rPr>
              <a:t>Acquiring large, labeled fault datasets under controlled conditions is impractical in industry.</a:t>
            </a:r>
            <a:endParaRPr lang="en-US" sz="1350" dirty="0"/>
          </a:p>
        </p:txBody>
      </p:sp>
      <p:sp>
        <p:nvSpPr>
          <p:cNvPr id="16" name="Shape 12"/>
          <p:cNvSpPr/>
          <p:nvPr/>
        </p:nvSpPr>
        <p:spPr>
          <a:xfrm>
            <a:off x="8449056" y="1965960"/>
            <a:ext cx="3520440" cy="3886200"/>
          </a:xfrm>
          <a:prstGeom prst="roundRect">
            <a:avLst>
              <a:gd name="adj" fmla="val 2597"/>
            </a:avLst>
          </a:prstGeom>
          <a:solidFill>
            <a:srgbClr val="FFFFFF"/>
          </a:solidFill>
          <a:ln w="12700">
            <a:solidFill>
              <a:srgbClr val="DCE4EA"/>
            </a:solidFill>
            <a:prstDash val="solid"/>
          </a:ln>
          <a:effectLst>
            <a:outerShdw sx="100000" sy="100000" kx="0" ky="0" algn="bl" rotWithShape="0" blurRad="127000" dist="38100" dir="5400000">
              <a:srgbClr val="0A1622">
                <a:alpha val="13000"/>
              </a:srgbClr>
            </a:outerShdw>
          </a:effectLst>
        </p:spPr>
      </p:sp>
      <p:sp>
        <p:nvSpPr>
          <p:cNvPr id="17" name="Shape 13"/>
          <p:cNvSpPr/>
          <p:nvPr/>
        </p:nvSpPr>
        <p:spPr>
          <a:xfrm>
            <a:off x="8860536" y="2423160"/>
            <a:ext cx="868680" cy="868680"/>
          </a:xfrm>
          <a:prstGeom prst="ellipse">
            <a:avLst/>
          </a:prstGeom>
          <a:solidFill>
            <a:srgbClr val="16A99A"/>
          </a:solidFill>
          <a:ln/>
          <a:effectLst>
            <a:outerShdw sx="100000" sy="100000" kx="0" ky="0" algn="bl" rotWithShape="0" blurRad="76200" dist="25400" dir="5400000">
              <a:srgbClr val="0A1622">
                <a:alpha val="18000"/>
              </a:srgbClr>
            </a:outerShdw>
          </a:effectLst>
        </p:spPr>
      </p:sp>
      <p:pic>
        <p:nvPicPr>
          <p:cNvPr id="18" name="Image 2" descr="preencoded.png">    </p:cNvPr>
          <p:cNvPicPr>
            <a:picLocks noChangeAspect="1"/>
          </p:cNvPicPr>
          <p:nvPr/>
        </p:nvPicPr>
        <p:blipFill>
          <a:blip r:embed="rId3"/>
          <a:stretch>
            <a:fillRect/>
          </a:stretch>
        </p:blipFill>
        <p:spPr>
          <a:xfrm>
            <a:off x="9112453" y="2675077"/>
            <a:ext cx="364846" cy="364846"/>
          </a:xfrm>
          <a:prstGeom prst="rect">
            <a:avLst/>
          </a:prstGeom>
        </p:spPr>
      </p:pic>
      <p:sp>
        <p:nvSpPr>
          <p:cNvPr id="19" name="Text 14"/>
          <p:cNvSpPr/>
          <p:nvPr/>
        </p:nvSpPr>
        <p:spPr>
          <a:xfrm>
            <a:off x="11055096" y="2377440"/>
            <a:ext cx="640080" cy="640080"/>
          </a:xfrm>
          <a:prstGeom prst="rect">
            <a:avLst/>
          </a:prstGeom>
          <a:noFill/>
          <a:ln/>
        </p:spPr>
        <p:txBody>
          <a:bodyPr wrap="square" lIns="0" tIns="0" rIns="0" bIns="0" rtlCol="0" anchor="ctr"/>
          <a:lstStyle/>
          <a:p>
            <a:pPr algn="r" indent="0" marL="0">
              <a:buNone/>
            </a:pPr>
            <a:r>
              <a:rPr lang="en-US" sz="3400" b="1" dirty="0">
                <a:solidFill>
                  <a:srgbClr val="DCE4EA"/>
                </a:solidFill>
                <a:latin typeface="Georgia" pitchFamily="34" charset="0"/>
                <a:ea typeface="Georgia" pitchFamily="34" charset="-122"/>
                <a:cs typeface="Georgia" pitchFamily="34" charset="-120"/>
              </a:rPr>
              <a:t>03</a:t>
            </a:r>
            <a:endParaRPr lang="en-US" sz="3400" dirty="0"/>
          </a:p>
        </p:txBody>
      </p:sp>
      <p:sp>
        <p:nvSpPr>
          <p:cNvPr id="20" name="Text 15"/>
          <p:cNvSpPr/>
          <p:nvPr/>
        </p:nvSpPr>
        <p:spPr>
          <a:xfrm>
            <a:off x="8860536" y="3566160"/>
            <a:ext cx="2697480" cy="457200"/>
          </a:xfrm>
          <a:prstGeom prst="rect">
            <a:avLst/>
          </a:prstGeom>
          <a:noFill/>
          <a:ln/>
        </p:spPr>
        <p:txBody>
          <a:bodyPr wrap="square" lIns="0" tIns="0" rIns="0" bIns="0" rtlCol="0" anchor="ctr"/>
          <a:lstStyle/>
          <a:p>
            <a:pPr indent="0" marL="0">
              <a:buNone/>
            </a:pPr>
            <a:r>
              <a:rPr lang="en-US" sz="1850" b="1" dirty="0">
                <a:solidFill>
                  <a:srgbClr val="16293B"/>
                </a:solidFill>
                <a:latin typeface="Arial" pitchFamily="34" charset="0"/>
                <a:ea typeface="Arial" pitchFamily="34" charset="-122"/>
                <a:cs typeface="Arial" pitchFamily="34" charset="-120"/>
              </a:rPr>
              <a:t>Event nature ignored</a:t>
            </a:r>
            <a:endParaRPr lang="en-US" sz="1850" dirty="0"/>
          </a:p>
        </p:txBody>
      </p:sp>
      <p:sp>
        <p:nvSpPr>
          <p:cNvPr id="21" name="Text 16"/>
          <p:cNvSpPr/>
          <p:nvPr/>
        </p:nvSpPr>
        <p:spPr>
          <a:xfrm>
            <a:off x="8860536" y="4160520"/>
            <a:ext cx="2743200" cy="1463040"/>
          </a:xfrm>
          <a:prstGeom prst="rect">
            <a:avLst/>
          </a:prstGeom>
          <a:noFill/>
          <a:ln/>
        </p:spPr>
        <p:txBody>
          <a:bodyPr wrap="square" lIns="0" tIns="0" rIns="0" bIns="0" rtlCol="0" anchor="t"/>
          <a:lstStyle/>
          <a:p>
            <a:pPr indent="0" marL="0">
              <a:lnSpc>
                <a:spcPct val="112000"/>
              </a:lnSpc>
              <a:buNone/>
            </a:pPr>
            <a:r>
              <a:rPr lang="en-US" sz="1350" dirty="0">
                <a:solidFill>
                  <a:srgbClr val="5E7184"/>
                </a:solidFill>
                <a:latin typeface="Arial" pitchFamily="34" charset="0"/>
                <a:ea typeface="Arial" pitchFamily="34" charset="-122"/>
                <a:cs typeface="Arial" pitchFamily="34" charset="-120"/>
              </a:rPr>
              <a:t>Treating AE as a continuous series dilutes informative bursts and adds redundant background.</a:t>
            </a:r>
            <a:endParaRPr lang="en-US" sz="1350" dirty="0"/>
          </a:p>
        </p:txBody>
      </p:sp>
      <p:sp>
        <p:nvSpPr>
          <p:cNvPr id="22" name="Text 17"/>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5E7184"/>
                </a:solidFill>
                <a:latin typeface="Arial" pitchFamily="34" charset="0"/>
                <a:ea typeface="Arial" pitchFamily="34" charset="-122"/>
                <a:cs typeface="Arial" pitchFamily="34" charset="-120"/>
              </a:rPr>
              <a:t>04</a:t>
            </a:r>
            <a:endParaRPr lang="en-US" sz="1000" dirty="0"/>
          </a:p>
        </p:txBody>
      </p:sp>
      <p:sp>
        <p:nvSpPr>
          <p:cNvPr id="23" name="Text 18"/>
          <p:cNvSpPr/>
          <p:nvPr/>
        </p:nvSpPr>
        <p:spPr>
          <a:xfrm>
            <a:off x="640080" y="6400800"/>
            <a:ext cx="3200400" cy="274320"/>
          </a:xfrm>
          <a:prstGeom prst="rect">
            <a:avLst/>
          </a:prstGeom>
          <a:noFill/>
          <a:ln/>
        </p:spPr>
        <p:txBody>
          <a:bodyPr wrap="square" lIns="0" tIns="0" rIns="0" bIns="0" rtlCol="0" anchor="ctr"/>
          <a:lstStyle/>
          <a:p>
            <a:pPr algn="l" indent="0" marL="0">
              <a:buNone/>
            </a:pPr>
            <a:r>
              <a:rPr lang="en-US" sz="1000" dirty="0">
                <a:solidFill>
                  <a:srgbClr val="5E7184"/>
                </a:solidFill>
                <a:latin typeface="Arial" pitchFamily="34" charset="0"/>
                <a:ea typeface="Arial" pitchFamily="34" charset="-122"/>
                <a:cs typeface="Arial" pitchFamily="34" charset="-120"/>
              </a:rPr>
              <a:t>BurstMAE-MIL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A2B"/>
        </a:solidFill>
      </p:bgPr>
    </p:bg>
    <p:spTree>
      <p:nvGrpSpPr>
        <p:cNvPr id="1" name=""/>
        <p:cNvGrpSpPr/>
        <p:nvPr/>
      </p:nvGrpSpPr>
      <p:grpSpPr>
        <a:xfrm>
          <a:off x="0" y="0"/>
          <a:ext cx="0" cy="0"/>
          <a:chOff x="0" y="0"/>
          <a:chExt cx="0" cy="0"/>
        </a:xfrm>
      </p:grpSpPr>
      <p:sp>
        <p:nvSpPr>
          <p:cNvPr id="2" name="Text 0"/>
          <p:cNvSpPr/>
          <p:nvPr/>
        </p:nvSpPr>
        <p:spPr>
          <a:xfrm>
            <a:off x="640080" y="548640"/>
            <a:ext cx="10789920" cy="274320"/>
          </a:xfrm>
          <a:prstGeom prst="rect">
            <a:avLst/>
          </a:prstGeom>
          <a:noFill/>
          <a:ln/>
        </p:spPr>
        <p:txBody>
          <a:bodyPr wrap="square" lIns="0" tIns="0" rIns="0" bIns="0" rtlCol="0" anchor="ctr"/>
          <a:lstStyle/>
          <a:p>
            <a:pPr indent="0" marL="0">
              <a:buNone/>
            </a:pPr>
            <a:r>
              <a:rPr lang="en-US" sz="1250" b="1" spc="300" kern="0" dirty="0">
                <a:solidFill>
                  <a:srgbClr val="16A99A"/>
                </a:solidFill>
                <a:latin typeface="Arial" pitchFamily="34" charset="0"/>
                <a:ea typeface="Arial" pitchFamily="34" charset="-122"/>
                <a:cs typeface="Arial" pitchFamily="34" charset="-120"/>
              </a:rPr>
              <a:t>THE BIG IDEA</a:t>
            </a:r>
            <a:endParaRPr lang="en-US" sz="1250" dirty="0"/>
          </a:p>
        </p:txBody>
      </p:sp>
      <p:sp>
        <p:nvSpPr>
          <p:cNvPr id="3" name="Text 1"/>
          <p:cNvSpPr/>
          <p:nvPr/>
        </p:nvSpPr>
        <p:spPr>
          <a:xfrm>
            <a:off x="640080" y="868680"/>
            <a:ext cx="10881360" cy="1325880"/>
          </a:xfrm>
          <a:prstGeom prst="rect">
            <a:avLst/>
          </a:prstGeom>
          <a:noFill/>
          <a:ln/>
        </p:spPr>
        <p:txBody>
          <a:bodyPr wrap="square" lIns="0" tIns="0" rIns="0" bIns="0" rtlCol="0" anchor="t"/>
          <a:lstStyle/>
          <a:p>
            <a:pPr indent="0" marL="0">
              <a:lnSpc>
                <a:spcPct val="110000"/>
              </a:lnSpc>
              <a:buNone/>
            </a:pPr>
            <a:r>
              <a:rPr lang="en-US" sz="2700" b="1" dirty="0">
                <a:solidFill>
                  <a:srgbClr val="FFFFFF"/>
                </a:solidFill>
                <a:latin typeface="Georgia" pitchFamily="34" charset="0"/>
                <a:ea typeface="Georgia" pitchFamily="34" charset="-122"/>
                <a:cs typeface="Georgia" pitchFamily="34" charset="-120"/>
              </a:rPr>
              <a:t>Focus learning on </a:t>
            </a:r>
            <a:pPr indent="0" marL="0">
              <a:lnSpc>
                <a:spcPct val="110000"/>
              </a:lnSpc>
              <a:buNone/>
            </a:pPr>
            <a:r>
              <a:rPr lang="en-US" sz="2700" b="1" dirty="0">
                <a:solidFill>
                  <a:srgbClr val="EFA135"/>
                </a:solidFill>
                <a:latin typeface="Georgia" pitchFamily="34" charset="0"/>
                <a:ea typeface="Georgia" pitchFamily="34" charset="-122"/>
                <a:cs typeface="Georgia" pitchFamily="34" charset="-120"/>
              </a:rPr>
              <a:t>physically meaningful bursts</a:t>
            </a:r>
            <a:pPr indent="0" marL="0">
              <a:lnSpc>
                <a:spcPct val="110000"/>
              </a:lnSpc>
              <a:buNone/>
            </a:pPr>
            <a:r>
              <a:rPr lang="en-US" sz="2700" b="1" dirty="0">
                <a:solidFill>
                  <a:srgbClr val="FFFFFF"/>
                </a:solidFill>
                <a:latin typeface="Georgia" pitchFamily="34" charset="0"/>
                <a:ea typeface="Georgia" pitchFamily="34" charset="-122"/>
                <a:cs typeface="Georgia" pitchFamily="34" charset="-120"/>
              </a:rPr>
              <a:t>, learn them </a:t>
            </a:r>
            <a:pPr indent="0" marL="0">
              <a:lnSpc>
                <a:spcPct val="110000"/>
              </a:lnSpc>
              <a:buNone/>
            </a:pPr>
            <a:r>
              <a:rPr lang="en-US" sz="2700" b="1" dirty="0">
                <a:solidFill>
                  <a:srgbClr val="16A99A"/>
                </a:solidFill>
                <a:latin typeface="Georgia" pitchFamily="34" charset="0"/>
                <a:ea typeface="Georgia" pitchFamily="34" charset="-122"/>
                <a:cs typeface="Georgia" pitchFamily="34" charset="-120"/>
              </a:rPr>
              <a:t>without labels</a:t>
            </a:r>
            <a:pPr indent="0" marL="0">
              <a:lnSpc>
                <a:spcPct val="110000"/>
              </a:lnSpc>
              <a:buNone/>
            </a:pPr>
            <a:r>
              <a:rPr lang="en-US" sz="2700" b="1" dirty="0">
                <a:solidFill>
                  <a:srgbClr val="FFFFFF"/>
                </a:solidFill>
                <a:latin typeface="Georgia" pitchFamily="34" charset="0"/>
                <a:ea typeface="Georgia" pitchFamily="34" charset="-122"/>
                <a:cs typeface="Georgia" pitchFamily="34" charset="-120"/>
              </a:rPr>
              <a:t>, and let </a:t>
            </a:r>
            <a:pPr indent="0" marL="0">
              <a:lnSpc>
                <a:spcPct val="110000"/>
              </a:lnSpc>
              <a:buNone/>
            </a:pPr>
            <a:r>
              <a:rPr lang="en-US" sz="2700" b="1" dirty="0">
                <a:solidFill>
                  <a:srgbClr val="16A99A"/>
                </a:solidFill>
                <a:latin typeface="Georgia" pitchFamily="34" charset="0"/>
                <a:ea typeface="Georgia" pitchFamily="34" charset="-122"/>
                <a:cs typeface="Georgia" pitchFamily="34" charset="-120"/>
              </a:rPr>
              <a:t>attention</a:t>
            </a:r>
            <a:pPr indent="0" marL="0">
              <a:lnSpc>
                <a:spcPct val="110000"/>
              </a:lnSpc>
              <a:buNone/>
            </a:pPr>
            <a:r>
              <a:rPr lang="en-US" sz="2700" b="1" dirty="0">
                <a:solidFill>
                  <a:srgbClr val="FFFFFF"/>
                </a:solidFill>
                <a:latin typeface="Georgia" pitchFamily="34" charset="0"/>
                <a:ea typeface="Georgia" pitchFamily="34" charset="-122"/>
                <a:cs typeface="Georgia" pitchFamily="34" charset="-120"/>
              </a:rPr>
              <a:t> pick the diagnostic ones.</a:t>
            </a:r>
            <a:endParaRPr lang="en-US" sz="2700" dirty="0"/>
          </a:p>
        </p:txBody>
      </p:sp>
      <p:sp>
        <p:nvSpPr>
          <p:cNvPr id="4" name="Shape 2"/>
          <p:cNvSpPr/>
          <p:nvPr/>
        </p:nvSpPr>
        <p:spPr>
          <a:xfrm>
            <a:off x="640080" y="2514600"/>
            <a:ext cx="3520440" cy="3429000"/>
          </a:xfrm>
          <a:prstGeom prst="roundRect">
            <a:avLst>
              <a:gd name="adj" fmla="val 2667"/>
            </a:avLst>
          </a:prstGeom>
          <a:solidFill>
            <a:srgbClr val="12283E"/>
          </a:solidFill>
          <a:ln w="12700">
            <a:solidFill>
              <a:srgbClr val="1C3A56"/>
            </a:solidFill>
            <a:prstDash val="solid"/>
          </a:ln>
          <a:effectLst>
            <a:outerShdw sx="100000" sy="100000" kx="0" ky="0" algn="bl" rotWithShape="0" blurRad="127000" dist="38100" dir="5400000">
              <a:srgbClr val="0A1622">
                <a:alpha val="25000"/>
              </a:srgbClr>
            </a:outerShdw>
          </a:effectLst>
        </p:spPr>
      </p:sp>
      <p:sp>
        <p:nvSpPr>
          <p:cNvPr id="5" name="Shape 3"/>
          <p:cNvSpPr/>
          <p:nvPr/>
        </p:nvSpPr>
        <p:spPr>
          <a:xfrm>
            <a:off x="1051560" y="2898648"/>
            <a:ext cx="822960" cy="822960"/>
          </a:xfrm>
          <a:prstGeom prst="ellipse">
            <a:avLst/>
          </a:prstGeom>
          <a:solidFill>
            <a:srgbClr val="16A99A"/>
          </a:solidFill>
          <a:ln/>
          <a:effectLst>
            <a:outerShdw sx="100000" sy="100000" kx="0" ky="0" algn="bl" rotWithShape="0" blurRad="76200" dist="25400" dir="5400000">
              <a:srgbClr val="0A1622">
                <a:alpha val="18000"/>
              </a:srgbClr>
            </a:outerShdw>
          </a:effectLst>
        </p:spPr>
      </p:sp>
      <p:pic>
        <p:nvPicPr>
          <p:cNvPr id="6" name="Image 0" descr="preencoded.png">    </p:cNvPr>
          <p:cNvPicPr>
            <a:picLocks noChangeAspect="1"/>
          </p:cNvPicPr>
          <p:nvPr/>
        </p:nvPicPr>
        <p:blipFill>
          <a:blip r:embed="rId1"/>
          <a:stretch>
            <a:fillRect/>
          </a:stretch>
        </p:blipFill>
        <p:spPr>
          <a:xfrm>
            <a:off x="1290218" y="3137306"/>
            <a:ext cx="345643" cy="345643"/>
          </a:xfrm>
          <a:prstGeom prst="rect">
            <a:avLst/>
          </a:prstGeom>
        </p:spPr>
      </p:pic>
      <p:sp>
        <p:nvSpPr>
          <p:cNvPr id="7" name="Text 4"/>
          <p:cNvSpPr/>
          <p:nvPr/>
        </p:nvSpPr>
        <p:spPr>
          <a:xfrm>
            <a:off x="1051560" y="3886200"/>
            <a:ext cx="278892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Event–based</a:t>
            </a:r>
            <a:endParaRPr lang="en-US" sz="1900" dirty="0"/>
          </a:p>
        </p:txBody>
      </p:sp>
      <p:sp>
        <p:nvSpPr>
          <p:cNvPr id="8" name="Text 5"/>
          <p:cNvSpPr/>
          <p:nvPr/>
        </p:nvSpPr>
        <p:spPr>
          <a:xfrm>
            <a:off x="1051560" y="4343400"/>
            <a:ext cx="2788920" cy="914400"/>
          </a:xfrm>
          <a:prstGeom prst="rect">
            <a:avLst/>
          </a:prstGeom>
          <a:noFill/>
          <a:ln/>
        </p:spPr>
        <p:txBody>
          <a:bodyPr wrap="square" lIns="0" tIns="0" rIns="0" bIns="0" rtlCol="0" anchor="t"/>
          <a:lstStyle/>
          <a:p>
            <a:pPr indent="0" marL="0">
              <a:lnSpc>
                <a:spcPct val="110000"/>
              </a:lnSpc>
              <a:buNone/>
            </a:pPr>
            <a:r>
              <a:rPr lang="en-US" sz="1300" dirty="0">
                <a:solidFill>
                  <a:srgbClr val="CFE8E4"/>
                </a:solidFill>
                <a:latin typeface="Arial" pitchFamily="34" charset="0"/>
                <a:ea typeface="Arial" pitchFamily="34" charset="-122"/>
                <a:cs typeface="Arial" pitchFamily="34" charset="-120"/>
              </a:rPr>
              <a:t>Robust energy + MAD detection isolates transient stress–wave bursts.</a:t>
            </a:r>
            <a:endParaRPr lang="en-US" sz="1300" dirty="0"/>
          </a:p>
        </p:txBody>
      </p:sp>
      <p:sp>
        <p:nvSpPr>
          <p:cNvPr id="9" name="Text 6"/>
          <p:cNvSpPr/>
          <p:nvPr/>
        </p:nvSpPr>
        <p:spPr>
          <a:xfrm>
            <a:off x="1051560" y="5486400"/>
            <a:ext cx="2788920" cy="274320"/>
          </a:xfrm>
          <a:prstGeom prst="rect">
            <a:avLst/>
          </a:prstGeom>
          <a:noFill/>
          <a:ln/>
        </p:spPr>
        <p:txBody>
          <a:bodyPr wrap="square" lIns="0" tIns="0" rIns="0" bIns="0" rtlCol="0" anchor="ctr"/>
          <a:lstStyle/>
          <a:p>
            <a:pPr indent="0" marL="0">
              <a:buNone/>
            </a:pPr>
            <a:r>
              <a:rPr lang="en-US" sz="1000" b="1" spc="100" kern="0" dirty="0">
                <a:solidFill>
                  <a:srgbClr val="EFA135"/>
                </a:solidFill>
                <a:latin typeface="Arial" pitchFamily="34" charset="0"/>
                <a:ea typeface="Arial" pitchFamily="34" charset="-122"/>
                <a:cs typeface="Arial" pitchFamily="34" charset="-120"/>
              </a:rPr>
              <a:t>SOLVES: TRANSIENT &amp; NOISY</a:t>
            </a:r>
            <a:endParaRPr lang="en-US" sz="1000" dirty="0"/>
          </a:p>
        </p:txBody>
      </p:sp>
      <p:sp>
        <p:nvSpPr>
          <p:cNvPr id="10" name="Shape 7"/>
          <p:cNvSpPr/>
          <p:nvPr/>
        </p:nvSpPr>
        <p:spPr>
          <a:xfrm>
            <a:off x="4544568" y="2514600"/>
            <a:ext cx="3520440" cy="3429000"/>
          </a:xfrm>
          <a:prstGeom prst="roundRect">
            <a:avLst>
              <a:gd name="adj" fmla="val 2667"/>
            </a:avLst>
          </a:prstGeom>
          <a:solidFill>
            <a:srgbClr val="12283E"/>
          </a:solidFill>
          <a:ln w="12700">
            <a:solidFill>
              <a:srgbClr val="1C3A56"/>
            </a:solidFill>
            <a:prstDash val="solid"/>
          </a:ln>
          <a:effectLst>
            <a:outerShdw sx="100000" sy="100000" kx="0" ky="0" algn="bl" rotWithShape="0" blurRad="127000" dist="38100" dir="5400000">
              <a:srgbClr val="0A1622">
                <a:alpha val="25000"/>
              </a:srgbClr>
            </a:outerShdw>
          </a:effectLst>
        </p:spPr>
      </p:sp>
      <p:sp>
        <p:nvSpPr>
          <p:cNvPr id="11" name="Shape 8"/>
          <p:cNvSpPr/>
          <p:nvPr/>
        </p:nvSpPr>
        <p:spPr>
          <a:xfrm>
            <a:off x="4956048" y="2898648"/>
            <a:ext cx="822960" cy="822960"/>
          </a:xfrm>
          <a:prstGeom prst="ellipse">
            <a:avLst/>
          </a:prstGeom>
          <a:solidFill>
            <a:srgbClr val="EFA135"/>
          </a:solidFill>
          <a:ln/>
          <a:effectLst>
            <a:outerShdw sx="100000" sy="100000" kx="0" ky="0" algn="bl" rotWithShape="0" blurRad="76200" dist="25400" dir="5400000">
              <a:srgbClr val="0A1622">
                <a:alpha val="18000"/>
              </a:srgbClr>
            </a:outerShdw>
          </a:effectLst>
        </p:spPr>
      </p:sp>
      <p:pic>
        <p:nvPicPr>
          <p:cNvPr id="12" name="Image 1" descr="preencoded.png">    </p:cNvPr>
          <p:cNvPicPr>
            <a:picLocks noChangeAspect="1"/>
          </p:cNvPicPr>
          <p:nvPr/>
        </p:nvPicPr>
        <p:blipFill>
          <a:blip r:embed="rId2"/>
          <a:stretch>
            <a:fillRect/>
          </a:stretch>
        </p:blipFill>
        <p:spPr>
          <a:xfrm>
            <a:off x="5194706" y="3137306"/>
            <a:ext cx="345643" cy="345643"/>
          </a:xfrm>
          <a:prstGeom prst="rect">
            <a:avLst/>
          </a:prstGeom>
        </p:spPr>
      </p:pic>
      <p:sp>
        <p:nvSpPr>
          <p:cNvPr id="13" name="Text 9"/>
          <p:cNvSpPr/>
          <p:nvPr/>
        </p:nvSpPr>
        <p:spPr>
          <a:xfrm>
            <a:off x="4956048" y="3886200"/>
            <a:ext cx="278892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Self–supervised</a:t>
            </a:r>
            <a:endParaRPr lang="en-US" sz="1900" dirty="0"/>
          </a:p>
        </p:txBody>
      </p:sp>
      <p:sp>
        <p:nvSpPr>
          <p:cNvPr id="14" name="Text 10"/>
          <p:cNvSpPr/>
          <p:nvPr/>
        </p:nvSpPr>
        <p:spPr>
          <a:xfrm>
            <a:off x="4956048" y="4343400"/>
            <a:ext cx="2788920" cy="914400"/>
          </a:xfrm>
          <a:prstGeom prst="rect">
            <a:avLst/>
          </a:prstGeom>
          <a:noFill/>
          <a:ln/>
        </p:spPr>
        <p:txBody>
          <a:bodyPr wrap="square" lIns="0" tIns="0" rIns="0" bIns="0" rtlCol="0" anchor="t"/>
          <a:lstStyle/>
          <a:p>
            <a:pPr indent="0" marL="0">
              <a:lnSpc>
                <a:spcPct val="110000"/>
              </a:lnSpc>
              <a:buNone/>
            </a:pPr>
            <a:r>
              <a:rPr lang="en-US" sz="1300" dirty="0">
                <a:solidFill>
                  <a:srgbClr val="CFE8E4"/>
                </a:solidFill>
                <a:latin typeface="Arial" pitchFamily="34" charset="0"/>
                <a:ea typeface="Arial" pitchFamily="34" charset="-122"/>
                <a:cs typeface="Arial" pitchFamily="34" charset="-120"/>
              </a:rPr>
              <a:t>A masked autoencoder learns burst structure from unlabeled data.</a:t>
            </a:r>
            <a:endParaRPr lang="en-US" sz="1300" dirty="0"/>
          </a:p>
        </p:txBody>
      </p:sp>
      <p:sp>
        <p:nvSpPr>
          <p:cNvPr id="15" name="Text 11"/>
          <p:cNvSpPr/>
          <p:nvPr/>
        </p:nvSpPr>
        <p:spPr>
          <a:xfrm>
            <a:off x="4956048" y="5486400"/>
            <a:ext cx="2788920" cy="274320"/>
          </a:xfrm>
          <a:prstGeom prst="rect">
            <a:avLst/>
          </a:prstGeom>
          <a:noFill/>
          <a:ln/>
        </p:spPr>
        <p:txBody>
          <a:bodyPr wrap="square" lIns="0" tIns="0" rIns="0" bIns="0" rtlCol="0" anchor="ctr"/>
          <a:lstStyle/>
          <a:p>
            <a:pPr indent="0" marL="0">
              <a:buNone/>
            </a:pPr>
            <a:r>
              <a:rPr lang="en-US" sz="1000" b="1" spc="100" kern="0" dirty="0">
                <a:solidFill>
                  <a:srgbClr val="EFA135"/>
                </a:solidFill>
                <a:latin typeface="Arial" pitchFamily="34" charset="0"/>
                <a:ea typeface="Arial" pitchFamily="34" charset="-122"/>
                <a:cs typeface="Arial" pitchFamily="34" charset="-120"/>
              </a:rPr>
              <a:t>SOLVES: LABEL SCARCITY</a:t>
            </a:r>
            <a:endParaRPr lang="en-US" sz="1000" dirty="0"/>
          </a:p>
        </p:txBody>
      </p:sp>
      <p:sp>
        <p:nvSpPr>
          <p:cNvPr id="16" name="Shape 12"/>
          <p:cNvSpPr/>
          <p:nvPr/>
        </p:nvSpPr>
        <p:spPr>
          <a:xfrm>
            <a:off x="8449056" y="2514600"/>
            <a:ext cx="3520440" cy="3429000"/>
          </a:xfrm>
          <a:prstGeom prst="roundRect">
            <a:avLst>
              <a:gd name="adj" fmla="val 2667"/>
            </a:avLst>
          </a:prstGeom>
          <a:solidFill>
            <a:srgbClr val="12283E"/>
          </a:solidFill>
          <a:ln w="12700">
            <a:solidFill>
              <a:srgbClr val="1C3A56"/>
            </a:solidFill>
            <a:prstDash val="solid"/>
          </a:ln>
          <a:effectLst>
            <a:outerShdw sx="100000" sy="100000" kx="0" ky="0" algn="bl" rotWithShape="0" blurRad="127000" dist="38100" dir="5400000">
              <a:srgbClr val="0A1622">
                <a:alpha val="25000"/>
              </a:srgbClr>
            </a:outerShdw>
          </a:effectLst>
        </p:spPr>
      </p:sp>
      <p:sp>
        <p:nvSpPr>
          <p:cNvPr id="17" name="Shape 13"/>
          <p:cNvSpPr/>
          <p:nvPr/>
        </p:nvSpPr>
        <p:spPr>
          <a:xfrm>
            <a:off x="8860536" y="2898648"/>
            <a:ext cx="822960" cy="822960"/>
          </a:xfrm>
          <a:prstGeom prst="ellipse">
            <a:avLst/>
          </a:prstGeom>
          <a:solidFill>
            <a:srgbClr val="16A99A"/>
          </a:solidFill>
          <a:ln/>
          <a:effectLst>
            <a:outerShdw sx="100000" sy="100000" kx="0" ky="0" algn="bl" rotWithShape="0" blurRad="76200" dist="25400" dir="5400000">
              <a:srgbClr val="0A1622">
                <a:alpha val="18000"/>
              </a:srgbClr>
            </a:outerShdw>
          </a:effectLst>
        </p:spPr>
      </p:sp>
      <p:pic>
        <p:nvPicPr>
          <p:cNvPr id="18" name="Image 2" descr="preencoded.png">    </p:cNvPr>
          <p:cNvPicPr>
            <a:picLocks noChangeAspect="1"/>
          </p:cNvPicPr>
          <p:nvPr/>
        </p:nvPicPr>
        <p:blipFill>
          <a:blip r:embed="rId3"/>
          <a:stretch>
            <a:fillRect/>
          </a:stretch>
        </p:blipFill>
        <p:spPr>
          <a:xfrm>
            <a:off x="9099194" y="3137306"/>
            <a:ext cx="345643" cy="345643"/>
          </a:xfrm>
          <a:prstGeom prst="rect">
            <a:avLst/>
          </a:prstGeom>
        </p:spPr>
      </p:pic>
      <p:sp>
        <p:nvSpPr>
          <p:cNvPr id="19" name="Text 14"/>
          <p:cNvSpPr/>
          <p:nvPr/>
        </p:nvSpPr>
        <p:spPr>
          <a:xfrm>
            <a:off x="8860536" y="3886200"/>
            <a:ext cx="278892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Weakly supervised</a:t>
            </a:r>
            <a:endParaRPr lang="en-US" sz="1900" dirty="0"/>
          </a:p>
        </p:txBody>
      </p:sp>
      <p:sp>
        <p:nvSpPr>
          <p:cNvPr id="20" name="Text 15"/>
          <p:cNvSpPr/>
          <p:nvPr/>
        </p:nvSpPr>
        <p:spPr>
          <a:xfrm>
            <a:off x="8860536" y="4343400"/>
            <a:ext cx="2788920" cy="914400"/>
          </a:xfrm>
          <a:prstGeom prst="rect">
            <a:avLst/>
          </a:prstGeom>
          <a:noFill/>
          <a:ln/>
        </p:spPr>
        <p:txBody>
          <a:bodyPr wrap="square" lIns="0" tIns="0" rIns="0" bIns="0" rtlCol="0" anchor="t"/>
          <a:lstStyle/>
          <a:p>
            <a:pPr indent="0" marL="0">
              <a:lnSpc>
                <a:spcPct val="110000"/>
              </a:lnSpc>
              <a:buNone/>
            </a:pPr>
            <a:r>
              <a:rPr lang="en-US" sz="1300" dirty="0">
                <a:solidFill>
                  <a:srgbClr val="CFE8E4"/>
                </a:solidFill>
                <a:latin typeface="Arial" pitchFamily="34" charset="0"/>
                <a:ea typeface="Arial" pitchFamily="34" charset="-122"/>
                <a:cs typeface="Arial" pitchFamily="34" charset="-120"/>
              </a:rPr>
              <a:t>Attention MIL aggregates bursts using only recording–level labels.</a:t>
            </a:r>
            <a:endParaRPr lang="en-US" sz="1300" dirty="0"/>
          </a:p>
        </p:txBody>
      </p:sp>
      <p:sp>
        <p:nvSpPr>
          <p:cNvPr id="21" name="Text 16"/>
          <p:cNvSpPr/>
          <p:nvPr/>
        </p:nvSpPr>
        <p:spPr>
          <a:xfrm>
            <a:off x="8860536" y="5486400"/>
            <a:ext cx="2788920" cy="274320"/>
          </a:xfrm>
          <a:prstGeom prst="rect">
            <a:avLst/>
          </a:prstGeom>
          <a:noFill/>
          <a:ln/>
        </p:spPr>
        <p:txBody>
          <a:bodyPr wrap="square" lIns="0" tIns="0" rIns="0" bIns="0" rtlCol="0" anchor="ctr"/>
          <a:lstStyle/>
          <a:p>
            <a:pPr indent="0" marL="0">
              <a:buNone/>
            </a:pPr>
            <a:r>
              <a:rPr lang="en-US" sz="1000" b="1" spc="100" kern="0" dirty="0">
                <a:solidFill>
                  <a:srgbClr val="EFA135"/>
                </a:solidFill>
                <a:latin typeface="Arial" pitchFamily="34" charset="0"/>
                <a:ea typeface="Arial" pitchFamily="34" charset="-122"/>
                <a:cs typeface="Arial" pitchFamily="34" charset="-120"/>
              </a:rPr>
              <a:t>SOLVES: EVENT NATURE IGNORED</a:t>
            </a:r>
            <a:endParaRPr lang="en-US" sz="1000" dirty="0"/>
          </a:p>
        </p:txBody>
      </p:sp>
      <p:sp>
        <p:nvSpPr>
          <p:cNvPr id="22" name="Text 17"/>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AFC4D6"/>
                </a:solidFill>
                <a:latin typeface="Arial" pitchFamily="34" charset="0"/>
                <a:ea typeface="Arial" pitchFamily="34" charset="-122"/>
                <a:cs typeface="Arial" pitchFamily="34" charset="-120"/>
              </a:rPr>
              <a:t>05</a:t>
            </a:r>
            <a:endParaRPr lang="en-US" sz="1000" dirty="0"/>
          </a:p>
        </p:txBody>
      </p:sp>
      <p:sp>
        <p:nvSpPr>
          <p:cNvPr id="23" name="Text 18"/>
          <p:cNvSpPr/>
          <p:nvPr/>
        </p:nvSpPr>
        <p:spPr>
          <a:xfrm>
            <a:off x="640080" y="6400800"/>
            <a:ext cx="3200400" cy="274320"/>
          </a:xfrm>
          <a:prstGeom prst="rect">
            <a:avLst/>
          </a:prstGeom>
          <a:noFill/>
          <a:ln/>
        </p:spPr>
        <p:txBody>
          <a:bodyPr wrap="square" lIns="0" tIns="0" rIns="0" bIns="0" rtlCol="0" anchor="ctr"/>
          <a:lstStyle/>
          <a:p>
            <a:pPr algn="l" indent="0" marL="0">
              <a:buNone/>
            </a:pPr>
            <a:r>
              <a:rPr lang="en-US" sz="1000" dirty="0">
                <a:solidFill>
                  <a:srgbClr val="AFC4D6"/>
                </a:solidFill>
                <a:latin typeface="Arial" pitchFamily="34" charset="0"/>
                <a:ea typeface="Arial" pitchFamily="34" charset="-122"/>
                <a:cs typeface="Arial" pitchFamily="34" charset="-120"/>
              </a:rPr>
              <a:t>BurstMAE-MIL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640080" y="475488"/>
            <a:ext cx="10789920" cy="274320"/>
          </a:xfrm>
          <a:prstGeom prst="rect">
            <a:avLst/>
          </a:prstGeom>
          <a:noFill/>
          <a:ln/>
        </p:spPr>
        <p:txBody>
          <a:bodyPr wrap="square" lIns="0" tIns="0" rIns="0" bIns="0" rtlCol="0" anchor="ctr"/>
          <a:lstStyle/>
          <a:p>
            <a:pPr algn="l" indent="0" marL="0">
              <a:buNone/>
            </a:pPr>
            <a:r>
              <a:rPr lang="en-US" sz="1250" b="1" spc="300" kern="0" dirty="0">
                <a:solidFill>
                  <a:srgbClr val="16A99A"/>
                </a:solidFill>
                <a:latin typeface="Arial" pitchFamily="34" charset="0"/>
                <a:ea typeface="Arial" pitchFamily="34" charset="-122"/>
                <a:cs typeface="Arial" pitchFamily="34" charset="-120"/>
              </a:rPr>
              <a:t>METHOD · OVERVIEW</a:t>
            </a:r>
            <a:endParaRPr lang="en-US" sz="1250" dirty="0"/>
          </a:p>
        </p:txBody>
      </p:sp>
      <p:sp>
        <p:nvSpPr>
          <p:cNvPr id="3" name="Text 1"/>
          <p:cNvSpPr/>
          <p:nvPr/>
        </p:nvSpPr>
        <p:spPr>
          <a:xfrm>
            <a:off x="640080" y="749808"/>
            <a:ext cx="10881360" cy="777240"/>
          </a:xfrm>
          <a:prstGeom prst="rect">
            <a:avLst/>
          </a:prstGeom>
          <a:noFill/>
          <a:ln/>
        </p:spPr>
        <p:txBody>
          <a:bodyPr wrap="square" lIns="0" tIns="0" rIns="0" bIns="0" rtlCol="0" anchor="ctr"/>
          <a:lstStyle/>
          <a:p>
            <a:pPr algn="l" indent="0" marL="0">
              <a:lnSpc>
                <a:spcPct val="100000"/>
              </a:lnSpc>
              <a:buNone/>
            </a:pPr>
            <a:r>
              <a:rPr lang="en-US" sz="3000" b="1" dirty="0">
                <a:solidFill>
                  <a:srgbClr val="16293B"/>
                </a:solidFill>
                <a:latin typeface="Georgia" pitchFamily="34" charset="0"/>
                <a:ea typeface="Georgia" pitchFamily="34" charset="-122"/>
                <a:cs typeface="Georgia" pitchFamily="34" charset="-120"/>
              </a:rPr>
              <a:t>BurstMAE–MIL at a glance</a:t>
            </a:r>
            <a:endParaRPr lang="en-US" sz="3000" dirty="0"/>
          </a:p>
        </p:txBody>
      </p:sp>
      <p:sp>
        <p:nvSpPr>
          <p:cNvPr id="4" name="Shape 2"/>
          <p:cNvSpPr/>
          <p:nvPr/>
        </p:nvSpPr>
        <p:spPr>
          <a:xfrm>
            <a:off x="2954022" y="1673352"/>
            <a:ext cx="6283651" cy="4242816"/>
          </a:xfrm>
          <a:prstGeom prst="roundRect">
            <a:avLst>
              <a:gd name="adj" fmla="val 1724"/>
            </a:avLst>
          </a:prstGeom>
          <a:solidFill>
            <a:srgbClr val="FFFFFF"/>
          </a:solidFill>
          <a:ln w="12700">
            <a:solidFill>
              <a:srgbClr val="DCE4EA"/>
            </a:solidFill>
            <a:prstDash val="solid"/>
          </a:ln>
          <a:effectLst>
            <a:outerShdw sx="100000" sy="100000" kx="0" ky="0" algn="bl" rotWithShape="0" blurRad="127000" dist="38100" dir="5400000">
              <a:srgbClr val="0A1622">
                <a:alpha val="13000"/>
              </a:srgbClr>
            </a:outerShdw>
          </a:effectLst>
        </p:spPr>
      </p:sp>
      <p:pic>
        <p:nvPicPr>
          <p:cNvPr id="5" name="Image 0" descr="/home/claude/assets/fig_framework.png">    </p:cNvPr>
          <p:cNvPicPr>
            <a:picLocks noChangeAspect="1"/>
          </p:cNvPicPr>
          <p:nvPr/>
        </p:nvPicPr>
        <p:blipFill>
          <a:blip r:embed="rId1"/>
          <a:stretch>
            <a:fillRect/>
          </a:stretch>
        </p:blipFill>
        <p:spPr>
          <a:xfrm>
            <a:off x="3063750" y="1783080"/>
            <a:ext cx="6064195" cy="4023360"/>
          </a:xfrm>
          <a:prstGeom prst="rect">
            <a:avLst/>
          </a:prstGeom>
        </p:spPr>
      </p:pic>
      <p:sp>
        <p:nvSpPr>
          <p:cNvPr id="6" name="Text 3"/>
          <p:cNvSpPr/>
          <p:nvPr/>
        </p:nvSpPr>
        <p:spPr>
          <a:xfrm>
            <a:off x="640080" y="6062472"/>
            <a:ext cx="10908792" cy="365760"/>
          </a:xfrm>
          <a:prstGeom prst="rect">
            <a:avLst/>
          </a:prstGeom>
          <a:noFill/>
          <a:ln/>
        </p:spPr>
        <p:txBody>
          <a:bodyPr wrap="square" lIns="0" tIns="0" rIns="0" bIns="0" rtlCol="0" anchor="ctr"/>
          <a:lstStyle/>
          <a:p>
            <a:pPr algn="ctr" indent="0" marL="0">
              <a:buNone/>
            </a:pPr>
            <a:r>
              <a:rPr lang="en-US" sz="1450" b="1" dirty="0">
                <a:solidFill>
                  <a:srgbClr val="16293B"/>
                </a:solidFill>
                <a:latin typeface="Arial" pitchFamily="34" charset="0"/>
                <a:ea typeface="Arial" pitchFamily="34" charset="-122"/>
                <a:cs typeface="Arial" pitchFamily="34" charset="-120"/>
              </a:rPr>
              <a:t>Raw AE</a:t>
            </a:r>
            <a:pPr algn="ctr" indent="0" marL="0">
              <a:buNone/>
            </a:pPr>
            <a:r>
              <a:rPr lang="en-US" sz="1450" b="1" dirty="0">
                <a:solidFill>
                  <a:srgbClr val="EFA135"/>
                </a:solidFill>
                <a:latin typeface="Arial" pitchFamily="34" charset="0"/>
                <a:ea typeface="Arial" pitchFamily="34" charset="-122"/>
                <a:cs typeface="Arial" pitchFamily="34" charset="-120"/>
              </a:rPr>
              <a:t>  →  </a:t>
            </a:r>
            <a:pPr algn="ctr" indent="0" marL="0">
              <a:buNone/>
            </a:pPr>
            <a:r>
              <a:rPr lang="en-US" sz="1450" b="1" dirty="0">
                <a:solidFill>
                  <a:srgbClr val="16293B"/>
                </a:solidFill>
                <a:latin typeface="Arial" pitchFamily="34" charset="0"/>
                <a:ea typeface="Arial" pitchFamily="34" charset="-122"/>
                <a:cs typeface="Arial" pitchFamily="34" charset="-120"/>
              </a:rPr>
              <a:t>Burst events</a:t>
            </a:r>
            <a:pPr algn="ctr" indent="0" marL="0">
              <a:buNone/>
            </a:pPr>
            <a:r>
              <a:rPr lang="en-US" sz="1450" b="1" dirty="0">
                <a:solidFill>
                  <a:srgbClr val="EFA135"/>
                </a:solidFill>
                <a:latin typeface="Arial" pitchFamily="34" charset="0"/>
                <a:ea typeface="Arial" pitchFamily="34" charset="-122"/>
                <a:cs typeface="Arial" pitchFamily="34" charset="-120"/>
              </a:rPr>
              <a:t>  →  </a:t>
            </a:r>
            <a:pPr algn="ctr" indent="0" marL="0">
              <a:buNone/>
            </a:pPr>
            <a:r>
              <a:rPr lang="en-US" sz="1450" b="1" dirty="0">
                <a:solidFill>
                  <a:srgbClr val="16293B"/>
                </a:solidFill>
                <a:latin typeface="Arial" pitchFamily="34" charset="0"/>
                <a:ea typeface="Arial" pitchFamily="34" charset="-122"/>
                <a:cs typeface="Arial" pitchFamily="34" charset="-120"/>
              </a:rPr>
              <a:t>Self–supervised encoder</a:t>
            </a:r>
            <a:pPr algn="ctr" indent="0" marL="0">
              <a:buNone/>
            </a:pPr>
            <a:r>
              <a:rPr lang="en-US" sz="1450" b="1" dirty="0">
                <a:solidFill>
                  <a:srgbClr val="EFA135"/>
                </a:solidFill>
                <a:latin typeface="Arial" pitchFamily="34" charset="0"/>
                <a:ea typeface="Arial" pitchFamily="34" charset="-122"/>
                <a:cs typeface="Arial" pitchFamily="34" charset="-120"/>
              </a:rPr>
              <a:t>  →  </a:t>
            </a:r>
            <a:pPr algn="ctr" indent="0" marL="0">
              <a:buNone/>
            </a:pPr>
            <a:r>
              <a:rPr lang="en-US" sz="1450" b="1" dirty="0">
                <a:solidFill>
                  <a:srgbClr val="16293B"/>
                </a:solidFill>
                <a:latin typeface="Arial" pitchFamily="34" charset="0"/>
                <a:ea typeface="Arial" pitchFamily="34" charset="-122"/>
                <a:cs typeface="Arial" pitchFamily="34" charset="-120"/>
              </a:rPr>
              <a:t>Attention MIL</a:t>
            </a:r>
            <a:pPr algn="ctr" indent="0" marL="0">
              <a:buNone/>
            </a:pPr>
            <a:r>
              <a:rPr lang="en-US" sz="1450" b="1" dirty="0">
                <a:solidFill>
                  <a:srgbClr val="EFA135"/>
                </a:solidFill>
                <a:latin typeface="Arial" pitchFamily="34" charset="0"/>
                <a:ea typeface="Arial" pitchFamily="34" charset="-122"/>
                <a:cs typeface="Arial" pitchFamily="34" charset="-120"/>
              </a:rPr>
              <a:t>  →  </a:t>
            </a:r>
            <a:pPr algn="ctr" indent="0" marL="0">
              <a:buNone/>
            </a:pPr>
            <a:r>
              <a:rPr lang="en-US" sz="1450" b="1" dirty="0">
                <a:solidFill>
                  <a:srgbClr val="0E7C72"/>
                </a:solidFill>
                <a:latin typeface="Arial" pitchFamily="34" charset="0"/>
                <a:ea typeface="Arial" pitchFamily="34" charset="-122"/>
                <a:cs typeface="Arial" pitchFamily="34" charset="-120"/>
              </a:rPr>
              <a:t>Fault diagnosis</a:t>
            </a:r>
            <a:endParaRPr lang="en-US" sz="1450" dirty="0"/>
          </a:p>
        </p:txBody>
      </p:sp>
      <p:sp>
        <p:nvSpPr>
          <p:cNvPr id="7" name="Text 4"/>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5E7184"/>
                </a:solidFill>
                <a:latin typeface="Arial" pitchFamily="34" charset="0"/>
                <a:ea typeface="Arial" pitchFamily="34" charset="-122"/>
                <a:cs typeface="Arial" pitchFamily="34" charset="-120"/>
              </a:rPr>
              <a:t>06</a:t>
            </a:r>
            <a:endParaRPr lang="en-US" sz="1000" dirty="0"/>
          </a:p>
        </p:txBody>
      </p:sp>
      <p:sp>
        <p:nvSpPr>
          <p:cNvPr id="8" name="Text 5"/>
          <p:cNvSpPr/>
          <p:nvPr/>
        </p:nvSpPr>
        <p:spPr>
          <a:xfrm>
            <a:off x="640080" y="6400800"/>
            <a:ext cx="3200400" cy="274320"/>
          </a:xfrm>
          <a:prstGeom prst="rect">
            <a:avLst/>
          </a:prstGeom>
          <a:noFill/>
          <a:ln/>
        </p:spPr>
        <p:txBody>
          <a:bodyPr wrap="square" lIns="0" tIns="0" rIns="0" bIns="0" rtlCol="0" anchor="ctr"/>
          <a:lstStyle/>
          <a:p>
            <a:pPr algn="l" indent="0" marL="0">
              <a:buNone/>
            </a:pPr>
            <a:r>
              <a:rPr lang="en-US" sz="1000" dirty="0">
                <a:solidFill>
                  <a:srgbClr val="5E7184"/>
                </a:solidFill>
                <a:latin typeface="Arial" pitchFamily="34" charset="0"/>
                <a:ea typeface="Arial" pitchFamily="34" charset="-122"/>
                <a:cs typeface="Arial" pitchFamily="34" charset="-120"/>
              </a:rPr>
              <a:t>BurstMAE-MIL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640080" y="475488"/>
            <a:ext cx="10789920" cy="274320"/>
          </a:xfrm>
          <a:prstGeom prst="rect">
            <a:avLst/>
          </a:prstGeom>
          <a:noFill/>
          <a:ln/>
        </p:spPr>
        <p:txBody>
          <a:bodyPr wrap="square" lIns="0" tIns="0" rIns="0" bIns="0" rtlCol="0" anchor="ctr"/>
          <a:lstStyle/>
          <a:p>
            <a:pPr algn="l" indent="0" marL="0">
              <a:buNone/>
            </a:pPr>
            <a:r>
              <a:rPr lang="en-US" sz="1250" b="1" spc="300" kern="0" dirty="0">
                <a:solidFill>
                  <a:srgbClr val="16A99A"/>
                </a:solidFill>
                <a:latin typeface="Arial" pitchFamily="34" charset="0"/>
                <a:ea typeface="Arial" pitchFamily="34" charset="-122"/>
                <a:cs typeface="Arial" pitchFamily="34" charset="-120"/>
              </a:rPr>
              <a:t>METHOD · STEP 1</a:t>
            </a:r>
            <a:endParaRPr lang="en-US" sz="1250" dirty="0"/>
          </a:p>
        </p:txBody>
      </p:sp>
      <p:sp>
        <p:nvSpPr>
          <p:cNvPr id="3" name="Text 1"/>
          <p:cNvSpPr/>
          <p:nvPr/>
        </p:nvSpPr>
        <p:spPr>
          <a:xfrm>
            <a:off x="640080" y="749808"/>
            <a:ext cx="10881360" cy="777240"/>
          </a:xfrm>
          <a:prstGeom prst="rect">
            <a:avLst/>
          </a:prstGeom>
          <a:noFill/>
          <a:ln/>
        </p:spPr>
        <p:txBody>
          <a:bodyPr wrap="square" lIns="0" tIns="0" rIns="0" bIns="0" rtlCol="0" anchor="ctr"/>
          <a:lstStyle/>
          <a:p>
            <a:pPr algn="l" indent="0" marL="0">
              <a:lnSpc>
                <a:spcPct val="100000"/>
              </a:lnSpc>
              <a:buNone/>
            </a:pPr>
            <a:r>
              <a:rPr lang="en-US" sz="3000" b="1" dirty="0">
                <a:solidFill>
                  <a:srgbClr val="16293B"/>
                </a:solidFill>
                <a:latin typeface="Georgia" pitchFamily="34" charset="0"/>
                <a:ea typeface="Georgia" pitchFamily="34" charset="-122"/>
                <a:cs typeface="Georgia" pitchFamily="34" charset="-120"/>
              </a:rPr>
              <a:t>Event–based burst segmentation</a:t>
            </a:r>
            <a:endParaRPr lang="en-US" sz="3000" dirty="0"/>
          </a:p>
        </p:txBody>
      </p:sp>
      <p:sp>
        <p:nvSpPr>
          <p:cNvPr id="4" name="Shape 2"/>
          <p:cNvSpPr/>
          <p:nvPr/>
        </p:nvSpPr>
        <p:spPr>
          <a:xfrm>
            <a:off x="640080" y="1874520"/>
            <a:ext cx="457200" cy="457200"/>
          </a:xfrm>
          <a:prstGeom prst="ellipse">
            <a:avLst/>
          </a:prstGeom>
          <a:solidFill>
            <a:srgbClr val="16A99A"/>
          </a:solidFill>
          <a:ln/>
          <a:effectLst>
            <a:outerShdw sx="100000" sy="100000" kx="0" ky="0" algn="bl" rotWithShape="0" blurRad="50800" dist="12700" dir="5400000">
              <a:srgbClr val="0A1622">
                <a:alpha val="16000"/>
              </a:srgbClr>
            </a:outerShdw>
          </a:effectLst>
        </p:spPr>
      </p:sp>
      <p:sp>
        <p:nvSpPr>
          <p:cNvPr id="5" name="Text 3"/>
          <p:cNvSpPr/>
          <p:nvPr/>
        </p:nvSpPr>
        <p:spPr>
          <a:xfrm>
            <a:off x="640080" y="18745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1</a:t>
            </a:r>
            <a:endParaRPr lang="en-US" sz="1700" dirty="0"/>
          </a:p>
        </p:txBody>
      </p:sp>
      <p:sp>
        <p:nvSpPr>
          <p:cNvPr id="6" name="Text 4"/>
          <p:cNvSpPr/>
          <p:nvPr/>
        </p:nvSpPr>
        <p:spPr>
          <a:xfrm>
            <a:off x="1280160" y="1837944"/>
            <a:ext cx="4297680" cy="329184"/>
          </a:xfrm>
          <a:prstGeom prst="rect">
            <a:avLst/>
          </a:prstGeom>
          <a:noFill/>
          <a:ln/>
        </p:spPr>
        <p:txBody>
          <a:bodyPr wrap="square" lIns="0" tIns="0" rIns="0" bIns="0" rtlCol="0" anchor="ctr"/>
          <a:lstStyle/>
          <a:p>
            <a:pPr indent="0" marL="0">
              <a:buNone/>
            </a:pPr>
            <a:r>
              <a:rPr lang="en-US" sz="1550" b="1" dirty="0">
                <a:solidFill>
                  <a:srgbClr val="16293B"/>
                </a:solidFill>
                <a:latin typeface="Arial" pitchFamily="34" charset="0"/>
                <a:ea typeface="Arial" pitchFamily="34" charset="-122"/>
                <a:cs typeface="Arial" pitchFamily="34" charset="-120"/>
              </a:rPr>
              <a:t>Short–time energy</a:t>
            </a:r>
            <a:endParaRPr lang="en-US" sz="1550" dirty="0"/>
          </a:p>
        </p:txBody>
      </p:sp>
      <p:sp>
        <p:nvSpPr>
          <p:cNvPr id="7" name="Text 5"/>
          <p:cNvSpPr/>
          <p:nvPr/>
        </p:nvSpPr>
        <p:spPr>
          <a:xfrm>
            <a:off x="1280160" y="2167128"/>
            <a:ext cx="4389120" cy="548640"/>
          </a:xfrm>
          <a:prstGeom prst="rect">
            <a:avLst/>
          </a:prstGeom>
          <a:noFill/>
          <a:ln/>
        </p:spPr>
        <p:txBody>
          <a:bodyPr wrap="square" lIns="0" tIns="0" rIns="0" bIns="0" rtlCol="0" anchor="ctr"/>
          <a:lstStyle/>
          <a:p>
            <a:pPr indent="0" marL="0">
              <a:lnSpc>
                <a:spcPct val="103000"/>
              </a:lnSpc>
              <a:buNone/>
            </a:pPr>
            <a:r>
              <a:rPr lang="en-US" sz="1200" dirty="0">
                <a:solidFill>
                  <a:srgbClr val="5E7184"/>
                </a:solidFill>
                <a:latin typeface="Arial" pitchFamily="34" charset="0"/>
                <a:ea typeface="Arial" pitchFamily="34" charset="-122"/>
                <a:cs typeface="Arial" pitchFamily="34" charset="-120"/>
              </a:rPr>
              <a:t>Sliding–window energy E[n] over the raw AE signal.</a:t>
            </a:r>
            <a:endParaRPr lang="en-US" sz="1200" dirty="0"/>
          </a:p>
        </p:txBody>
      </p:sp>
      <p:sp>
        <p:nvSpPr>
          <p:cNvPr id="8" name="Shape 6"/>
          <p:cNvSpPr/>
          <p:nvPr/>
        </p:nvSpPr>
        <p:spPr>
          <a:xfrm>
            <a:off x="640080" y="2834640"/>
            <a:ext cx="457200" cy="457200"/>
          </a:xfrm>
          <a:prstGeom prst="ellipse">
            <a:avLst/>
          </a:prstGeom>
          <a:solidFill>
            <a:srgbClr val="16A99A"/>
          </a:solidFill>
          <a:ln/>
          <a:effectLst>
            <a:outerShdw sx="100000" sy="100000" kx="0" ky="0" algn="bl" rotWithShape="0" blurRad="50800" dist="12700" dir="5400000">
              <a:srgbClr val="0A1622">
                <a:alpha val="16000"/>
              </a:srgbClr>
            </a:outerShdw>
          </a:effectLst>
        </p:spPr>
      </p:sp>
      <p:sp>
        <p:nvSpPr>
          <p:cNvPr id="9" name="Text 7"/>
          <p:cNvSpPr/>
          <p:nvPr/>
        </p:nvSpPr>
        <p:spPr>
          <a:xfrm>
            <a:off x="640080" y="283464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2</a:t>
            </a:r>
            <a:endParaRPr lang="en-US" sz="1700" dirty="0"/>
          </a:p>
        </p:txBody>
      </p:sp>
      <p:sp>
        <p:nvSpPr>
          <p:cNvPr id="10" name="Text 8"/>
          <p:cNvSpPr/>
          <p:nvPr/>
        </p:nvSpPr>
        <p:spPr>
          <a:xfrm>
            <a:off x="1280160" y="2798064"/>
            <a:ext cx="4297680" cy="329184"/>
          </a:xfrm>
          <a:prstGeom prst="rect">
            <a:avLst/>
          </a:prstGeom>
          <a:noFill/>
          <a:ln/>
        </p:spPr>
        <p:txBody>
          <a:bodyPr wrap="square" lIns="0" tIns="0" rIns="0" bIns="0" rtlCol="0" anchor="ctr"/>
          <a:lstStyle/>
          <a:p>
            <a:pPr indent="0" marL="0">
              <a:buNone/>
            </a:pPr>
            <a:r>
              <a:rPr lang="en-US" sz="1550" b="1" dirty="0">
                <a:solidFill>
                  <a:srgbClr val="16293B"/>
                </a:solidFill>
                <a:latin typeface="Arial" pitchFamily="34" charset="0"/>
                <a:ea typeface="Arial" pitchFamily="34" charset="-122"/>
                <a:cs typeface="Arial" pitchFamily="34" charset="-120"/>
              </a:rPr>
              <a:t>Peak detection</a:t>
            </a:r>
            <a:endParaRPr lang="en-US" sz="1550" dirty="0"/>
          </a:p>
        </p:txBody>
      </p:sp>
      <p:sp>
        <p:nvSpPr>
          <p:cNvPr id="11" name="Text 9"/>
          <p:cNvSpPr/>
          <p:nvPr/>
        </p:nvSpPr>
        <p:spPr>
          <a:xfrm>
            <a:off x="1280160" y="3127248"/>
            <a:ext cx="4389120" cy="548640"/>
          </a:xfrm>
          <a:prstGeom prst="rect">
            <a:avLst/>
          </a:prstGeom>
          <a:noFill/>
          <a:ln/>
        </p:spPr>
        <p:txBody>
          <a:bodyPr wrap="square" lIns="0" tIns="0" rIns="0" bIns="0" rtlCol="0" anchor="ctr"/>
          <a:lstStyle/>
          <a:p>
            <a:pPr indent="0" marL="0">
              <a:lnSpc>
                <a:spcPct val="103000"/>
              </a:lnSpc>
              <a:buNone/>
            </a:pPr>
            <a:r>
              <a:rPr lang="en-US" sz="1200" dirty="0">
                <a:solidFill>
                  <a:srgbClr val="5E7184"/>
                </a:solidFill>
                <a:latin typeface="Arial" pitchFamily="34" charset="0"/>
                <a:ea typeface="Arial" pitchFamily="34" charset="-122"/>
                <a:cs typeface="Arial" pitchFamily="34" charset="-120"/>
              </a:rPr>
              <a:t>Bursts located as local energy maxima.</a:t>
            </a:r>
            <a:endParaRPr lang="en-US" sz="1200" dirty="0"/>
          </a:p>
        </p:txBody>
      </p:sp>
      <p:sp>
        <p:nvSpPr>
          <p:cNvPr id="12" name="Shape 10"/>
          <p:cNvSpPr/>
          <p:nvPr/>
        </p:nvSpPr>
        <p:spPr>
          <a:xfrm>
            <a:off x="640080" y="3794760"/>
            <a:ext cx="457200" cy="457200"/>
          </a:xfrm>
          <a:prstGeom prst="ellipse">
            <a:avLst/>
          </a:prstGeom>
          <a:solidFill>
            <a:srgbClr val="16A99A"/>
          </a:solidFill>
          <a:ln/>
          <a:effectLst>
            <a:outerShdw sx="100000" sy="100000" kx="0" ky="0" algn="bl" rotWithShape="0" blurRad="50800" dist="12700" dir="5400000">
              <a:srgbClr val="0A1622">
                <a:alpha val="16000"/>
              </a:srgbClr>
            </a:outerShdw>
          </a:effectLst>
        </p:spPr>
      </p:sp>
      <p:sp>
        <p:nvSpPr>
          <p:cNvPr id="13" name="Text 11"/>
          <p:cNvSpPr/>
          <p:nvPr/>
        </p:nvSpPr>
        <p:spPr>
          <a:xfrm>
            <a:off x="640080" y="37947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3</a:t>
            </a:r>
            <a:endParaRPr lang="en-US" sz="1700" dirty="0"/>
          </a:p>
        </p:txBody>
      </p:sp>
      <p:sp>
        <p:nvSpPr>
          <p:cNvPr id="14" name="Text 12"/>
          <p:cNvSpPr/>
          <p:nvPr/>
        </p:nvSpPr>
        <p:spPr>
          <a:xfrm>
            <a:off x="1280160" y="3758184"/>
            <a:ext cx="4297680" cy="329184"/>
          </a:xfrm>
          <a:prstGeom prst="rect">
            <a:avLst/>
          </a:prstGeom>
          <a:noFill/>
          <a:ln/>
        </p:spPr>
        <p:txBody>
          <a:bodyPr wrap="square" lIns="0" tIns="0" rIns="0" bIns="0" rtlCol="0" anchor="ctr"/>
          <a:lstStyle/>
          <a:p>
            <a:pPr indent="0" marL="0">
              <a:buNone/>
            </a:pPr>
            <a:r>
              <a:rPr lang="en-US" sz="1550" b="1" dirty="0">
                <a:solidFill>
                  <a:srgbClr val="16293B"/>
                </a:solidFill>
                <a:latin typeface="Arial" pitchFamily="34" charset="0"/>
                <a:ea typeface="Arial" pitchFamily="34" charset="-122"/>
                <a:cs typeface="Arial" pitchFamily="34" charset="-120"/>
              </a:rPr>
              <a:t>Adaptive MAD threshold</a:t>
            </a:r>
            <a:endParaRPr lang="en-US" sz="1550" dirty="0"/>
          </a:p>
        </p:txBody>
      </p:sp>
      <p:sp>
        <p:nvSpPr>
          <p:cNvPr id="15" name="Text 13"/>
          <p:cNvSpPr/>
          <p:nvPr/>
        </p:nvSpPr>
        <p:spPr>
          <a:xfrm>
            <a:off x="1280160" y="4087368"/>
            <a:ext cx="4389120" cy="548640"/>
          </a:xfrm>
          <a:prstGeom prst="rect">
            <a:avLst/>
          </a:prstGeom>
          <a:noFill/>
          <a:ln/>
        </p:spPr>
        <p:txBody>
          <a:bodyPr wrap="square" lIns="0" tIns="0" rIns="0" bIns="0" rtlCol="0" anchor="ctr"/>
          <a:lstStyle/>
          <a:p>
            <a:pPr indent="0" marL="0">
              <a:lnSpc>
                <a:spcPct val="103000"/>
              </a:lnSpc>
              <a:buNone/>
            </a:pPr>
            <a:r>
              <a:rPr lang="en-US" sz="1200" dirty="0">
                <a:solidFill>
                  <a:srgbClr val="5E7184"/>
                </a:solidFill>
                <a:latin typeface="Arial" pitchFamily="34" charset="0"/>
                <a:ea typeface="Arial" pitchFamily="34" charset="-122"/>
                <a:cs typeface="Arial" pitchFamily="34" charset="-120"/>
              </a:rPr>
              <a:t>Robust threshold from median absolute deviation.</a:t>
            </a:r>
            <a:endParaRPr lang="en-US" sz="1200" dirty="0"/>
          </a:p>
        </p:txBody>
      </p:sp>
      <p:sp>
        <p:nvSpPr>
          <p:cNvPr id="16" name="Shape 14"/>
          <p:cNvSpPr/>
          <p:nvPr/>
        </p:nvSpPr>
        <p:spPr>
          <a:xfrm>
            <a:off x="640080" y="4754880"/>
            <a:ext cx="457200" cy="457200"/>
          </a:xfrm>
          <a:prstGeom prst="ellipse">
            <a:avLst/>
          </a:prstGeom>
          <a:solidFill>
            <a:srgbClr val="16A99A"/>
          </a:solidFill>
          <a:ln/>
          <a:effectLst>
            <a:outerShdw sx="100000" sy="100000" kx="0" ky="0" algn="bl" rotWithShape="0" blurRad="50800" dist="12700" dir="5400000">
              <a:srgbClr val="0A1622">
                <a:alpha val="16000"/>
              </a:srgbClr>
            </a:outerShdw>
          </a:effectLst>
        </p:spPr>
      </p:sp>
      <p:sp>
        <p:nvSpPr>
          <p:cNvPr id="17" name="Text 15"/>
          <p:cNvSpPr/>
          <p:nvPr/>
        </p:nvSpPr>
        <p:spPr>
          <a:xfrm>
            <a:off x="640080" y="475488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4</a:t>
            </a:r>
            <a:endParaRPr lang="en-US" sz="1700" dirty="0"/>
          </a:p>
        </p:txBody>
      </p:sp>
      <p:sp>
        <p:nvSpPr>
          <p:cNvPr id="18" name="Text 16"/>
          <p:cNvSpPr/>
          <p:nvPr/>
        </p:nvSpPr>
        <p:spPr>
          <a:xfrm>
            <a:off x="1280160" y="4718304"/>
            <a:ext cx="4297680" cy="329184"/>
          </a:xfrm>
          <a:prstGeom prst="rect">
            <a:avLst/>
          </a:prstGeom>
          <a:noFill/>
          <a:ln/>
        </p:spPr>
        <p:txBody>
          <a:bodyPr wrap="square" lIns="0" tIns="0" rIns="0" bIns="0" rtlCol="0" anchor="ctr"/>
          <a:lstStyle/>
          <a:p>
            <a:pPr indent="0" marL="0">
              <a:buNone/>
            </a:pPr>
            <a:r>
              <a:rPr lang="en-US" sz="1550" b="1" dirty="0">
                <a:solidFill>
                  <a:srgbClr val="16293B"/>
                </a:solidFill>
                <a:latin typeface="Arial" pitchFamily="34" charset="0"/>
                <a:ea typeface="Arial" pitchFamily="34" charset="-122"/>
                <a:cs typeface="Arial" pitchFamily="34" charset="-120"/>
              </a:rPr>
              <a:t>Burst extraction</a:t>
            </a:r>
            <a:endParaRPr lang="en-US" sz="1550" dirty="0"/>
          </a:p>
        </p:txBody>
      </p:sp>
      <p:sp>
        <p:nvSpPr>
          <p:cNvPr id="19" name="Text 17"/>
          <p:cNvSpPr/>
          <p:nvPr/>
        </p:nvSpPr>
        <p:spPr>
          <a:xfrm>
            <a:off x="1280160" y="5047488"/>
            <a:ext cx="4389120" cy="548640"/>
          </a:xfrm>
          <a:prstGeom prst="rect">
            <a:avLst/>
          </a:prstGeom>
          <a:noFill/>
          <a:ln/>
        </p:spPr>
        <p:txBody>
          <a:bodyPr wrap="square" lIns="0" tIns="0" rIns="0" bIns="0" rtlCol="0" anchor="ctr"/>
          <a:lstStyle/>
          <a:p>
            <a:pPr indent="0" marL="0">
              <a:lnSpc>
                <a:spcPct val="103000"/>
              </a:lnSpc>
              <a:buNone/>
            </a:pPr>
            <a:r>
              <a:rPr lang="en-US" sz="1200" dirty="0">
                <a:solidFill>
                  <a:srgbClr val="5E7184"/>
                </a:solidFill>
                <a:latin typeface="Arial" pitchFamily="34" charset="0"/>
                <a:ea typeface="Arial" pitchFamily="34" charset="-122"/>
                <a:cs typeface="Arial" pitchFamily="34" charset="-120"/>
              </a:rPr>
              <a:t>Fixed–length segments centered on each peak.</a:t>
            </a:r>
            <a:endParaRPr lang="en-US" sz="1200" dirty="0"/>
          </a:p>
        </p:txBody>
      </p:sp>
      <p:sp>
        <p:nvSpPr>
          <p:cNvPr id="20" name="Shape 18"/>
          <p:cNvSpPr/>
          <p:nvPr/>
        </p:nvSpPr>
        <p:spPr>
          <a:xfrm>
            <a:off x="640080" y="5760720"/>
            <a:ext cx="4983480" cy="713232"/>
          </a:xfrm>
          <a:prstGeom prst="roundRect">
            <a:avLst>
              <a:gd name="adj" fmla="val 10256"/>
            </a:avLst>
          </a:prstGeom>
          <a:solidFill>
            <a:srgbClr val="E7F4F2"/>
          </a:solidFill>
          <a:ln/>
          <a:effectLst>
            <a:outerShdw sx="100000" sy="100000" kx="0" ky="0" algn="bl" rotWithShape="0" blurRad="88900" dist="25400" dir="5400000">
              <a:srgbClr val="22303C">
                <a:alpha val="10000"/>
              </a:srgbClr>
            </a:outerShdw>
          </a:effectLst>
        </p:spPr>
      </p:sp>
      <p:sp>
        <p:nvSpPr>
          <p:cNvPr id="21" name="Text 19"/>
          <p:cNvSpPr/>
          <p:nvPr/>
        </p:nvSpPr>
        <p:spPr>
          <a:xfrm>
            <a:off x="868680" y="5760720"/>
            <a:ext cx="4526280" cy="713232"/>
          </a:xfrm>
          <a:prstGeom prst="rect">
            <a:avLst/>
          </a:prstGeom>
          <a:noFill/>
          <a:ln/>
        </p:spPr>
        <p:txBody>
          <a:bodyPr wrap="square" lIns="0" tIns="0" rIns="0" bIns="0" rtlCol="0" anchor="ctr"/>
          <a:lstStyle/>
          <a:p>
            <a:pPr indent="0" marL="0">
              <a:buNone/>
            </a:pPr>
            <a:r>
              <a:rPr lang="en-US" sz="1250" dirty="0">
                <a:solidFill>
                  <a:srgbClr val="26394C"/>
                </a:solidFill>
                <a:latin typeface="Arial" pitchFamily="34" charset="0"/>
                <a:ea typeface="Arial" pitchFamily="34" charset="-122"/>
                <a:cs typeface="Arial" pitchFamily="34" charset="-120"/>
              </a:rPr>
              <a:t>Learning focuses on </a:t>
            </a:r>
            <a:pPr indent="0" marL="0">
              <a:buNone/>
            </a:pPr>
            <a:r>
              <a:rPr lang="en-US" sz="1250" b="1" dirty="0">
                <a:solidFill>
                  <a:srgbClr val="0E7C72"/>
                </a:solidFill>
                <a:latin typeface="Arial" pitchFamily="34" charset="0"/>
                <a:ea typeface="Arial" pitchFamily="34" charset="-122"/>
                <a:cs typeface="Arial" pitchFamily="34" charset="-120"/>
              </a:rPr>
              <a:t>physical stress–wave activity</a:t>
            </a:r>
            <a:pPr indent="0" marL="0">
              <a:buNone/>
            </a:pPr>
            <a:r>
              <a:rPr lang="en-US" sz="1250" dirty="0">
                <a:solidFill>
                  <a:srgbClr val="26394C"/>
                </a:solidFill>
                <a:latin typeface="Arial" pitchFamily="34" charset="0"/>
                <a:ea typeface="Arial" pitchFamily="34" charset="-122"/>
                <a:cs typeface="Arial" pitchFamily="34" charset="-120"/>
              </a:rPr>
              <a:t> — not background.</a:t>
            </a:r>
            <a:endParaRPr lang="en-US" sz="1250" dirty="0"/>
          </a:p>
        </p:txBody>
      </p:sp>
      <p:sp>
        <p:nvSpPr>
          <p:cNvPr id="22" name="Shape 20"/>
          <p:cNvSpPr/>
          <p:nvPr/>
        </p:nvSpPr>
        <p:spPr>
          <a:xfrm>
            <a:off x="5989320" y="1783080"/>
            <a:ext cx="5559552" cy="1691640"/>
          </a:xfrm>
          <a:prstGeom prst="roundRect">
            <a:avLst>
              <a:gd name="adj" fmla="val 4324"/>
            </a:avLst>
          </a:prstGeom>
          <a:solidFill>
            <a:srgbClr val="FFFFFF"/>
          </a:solidFill>
          <a:ln w="12700">
            <a:solidFill>
              <a:srgbClr val="DCE4EA"/>
            </a:solidFill>
            <a:prstDash val="solid"/>
          </a:ln>
          <a:effectLst>
            <a:outerShdw sx="100000" sy="100000" kx="0" ky="0" algn="bl" rotWithShape="0" blurRad="101600" dist="25400" dir="5400000">
              <a:srgbClr val="0A1622">
                <a:alpha val="12000"/>
              </a:srgbClr>
            </a:outerShdw>
          </a:effectLst>
        </p:spPr>
      </p:sp>
      <p:sp>
        <p:nvSpPr>
          <p:cNvPr id="23" name="Text 21"/>
          <p:cNvSpPr/>
          <p:nvPr/>
        </p:nvSpPr>
        <p:spPr>
          <a:xfrm>
            <a:off x="6217920" y="1892808"/>
            <a:ext cx="5102352" cy="256032"/>
          </a:xfrm>
          <a:prstGeom prst="rect">
            <a:avLst/>
          </a:prstGeom>
          <a:noFill/>
          <a:ln/>
        </p:spPr>
        <p:txBody>
          <a:bodyPr wrap="square" lIns="0" tIns="0" rIns="0" bIns="0" rtlCol="0" anchor="ctr"/>
          <a:lstStyle/>
          <a:p>
            <a:pPr indent="0" marL="0">
              <a:buNone/>
            </a:pPr>
            <a:r>
              <a:rPr lang="en-US" sz="1150" b="1" dirty="0">
                <a:solidFill>
                  <a:srgbClr val="0E7C72"/>
                </a:solidFill>
                <a:latin typeface="Arial" pitchFamily="34" charset="0"/>
                <a:ea typeface="Arial" pitchFamily="34" charset="-122"/>
                <a:cs typeface="Arial" pitchFamily="34" charset="-120"/>
              </a:rPr>
              <a:t>Short–time energy with adaptive MAD threshold  (× detected peaks)</a:t>
            </a:r>
            <a:endParaRPr lang="en-US" sz="1150" dirty="0"/>
          </a:p>
        </p:txBody>
      </p:sp>
      <p:pic>
        <p:nvPicPr>
          <p:cNvPr id="24" name="Image 0" descr="/home/claude/assets/fig_ste.png">    </p:cNvPr>
          <p:cNvPicPr>
            <a:picLocks noChangeAspect="1"/>
          </p:cNvPicPr>
          <p:nvPr/>
        </p:nvPicPr>
        <p:blipFill>
          <a:blip r:embed="rId1"/>
          <a:stretch>
            <a:fillRect/>
          </a:stretch>
        </p:blipFill>
        <p:spPr>
          <a:xfrm>
            <a:off x="6217920" y="2167128"/>
            <a:ext cx="5102352" cy="1252039"/>
          </a:xfrm>
          <a:prstGeom prst="rect">
            <a:avLst/>
          </a:prstGeom>
        </p:spPr>
      </p:pic>
      <p:sp>
        <p:nvSpPr>
          <p:cNvPr id="25" name="Shape 22"/>
          <p:cNvSpPr/>
          <p:nvPr/>
        </p:nvSpPr>
        <p:spPr>
          <a:xfrm>
            <a:off x="5989320" y="3657600"/>
            <a:ext cx="5559552" cy="1691640"/>
          </a:xfrm>
          <a:prstGeom prst="roundRect">
            <a:avLst>
              <a:gd name="adj" fmla="val 4324"/>
            </a:avLst>
          </a:prstGeom>
          <a:solidFill>
            <a:srgbClr val="FFFFFF"/>
          </a:solidFill>
          <a:ln w="12700">
            <a:solidFill>
              <a:srgbClr val="DCE4EA"/>
            </a:solidFill>
            <a:prstDash val="solid"/>
          </a:ln>
          <a:effectLst>
            <a:outerShdw sx="100000" sy="100000" kx="0" ky="0" algn="bl" rotWithShape="0" blurRad="101600" dist="25400" dir="5400000">
              <a:srgbClr val="0A1622">
                <a:alpha val="12000"/>
              </a:srgbClr>
            </a:outerShdw>
          </a:effectLst>
        </p:spPr>
      </p:sp>
      <p:sp>
        <p:nvSpPr>
          <p:cNvPr id="26" name="Text 23"/>
          <p:cNvSpPr/>
          <p:nvPr/>
        </p:nvSpPr>
        <p:spPr>
          <a:xfrm>
            <a:off x="6217920" y="3767328"/>
            <a:ext cx="5102352" cy="256032"/>
          </a:xfrm>
          <a:prstGeom prst="rect">
            <a:avLst/>
          </a:prstGeom>
          <a:noFill/>
          <a:ln/>
        </p:spPr>
        <p:txBody>
          <a:bodyPr wrap="square" lIns="0" tIns="0" rIns="0" bIns="0" rtlCol="0" anchor="ctr"/>
          <a:lstStyle/>
          <a:p>
            <a:pPr indent="0" marL="0">
              <a:buNone/>
            </a:pPr>
            <a:r>
              <a:rPr lang="en-US" sz="1150" b="1" dirty="0">
                <a:solidFill>
                  <a:srgbClr val="0E7C72"/>
                </a:solidFill>
                <a:latin typeface="Arial" pitchFamily="34" charset="0"/>
                <a:ea typeface="Arial" pitchFamily="34" charset="-122"/>
                <a:cs typeface="Arial" pitchFamily="34" charset="-120"/>
              </a:rPr>
              <a:t>Extracted transient burst events</a:t>
            </a:r>
            <a:endParaRPr lang="en-US" sz="1150" dirty="0"/>
          </a:p>
        </p:txBody>
      </p:sp>
      <p:pic>
        <p:nvPicPr>
          <p:cNvPr id="27" name="Image 1" descr="/home/claude/assets/fig_bursts.png">    </p:cNvPr>
          <p:cNvPicPr>
            <a:picLocks noChangeAspect="1"/>
          </p:cNvPicPr>
          <p:nvPr/>
        </p:nvPicPr>
        <p:blipFill>
          <a:blip r:embed="rId2"/>
          <a:stretch>
            <a:fillRect/>
          </a:stretch>
        </p:blipFill>
        <p:spPr>
          <a:xfrm>
            <a:off x="6217920" y="4041648"/>
            <a:ext cx="5102352" cy="1250076"/>
          </a:xfrm>
          <a:prstGeom prst="rect">
            <a:avLst/>
          </a:prstGeom>
        </p:spPr>
      </p:pic>
      <p:sp>
        <p:nvSpPr>
          <p:cNvPr id="28" name="Shape 24"/>
          <p:cNvSpPr/>
          <p:nvPr/>
        </p:nvSpPr>
        <p:spPr>
          <a:xfrm>
            <a:off x="5989320" y="5623560"/>
            <a:ext cx="5559552" cy="566928"/>
          </a:xfrm>
          <a:prstGeom prst="roundRect">
            <a:avLst>
              <a:gd name="adj" fmla="val 12903"/>
            </a:avLst>
          </a:prstGeom>
          <a:solidFill>
            <a:srgbClr val="0C1A2B"/>
          </a:solidFill>
          <a:ln/>
          <a:effectLst>
            <a:outerShdw sx="100000" sy="100000" kx="0" ky="0" algn="bl" rotWithShape="0" blurRad="88900" dist="25400" dir="5400000">
              <a:srgbClr val="22303C">
                <a:alpha val="10000"/>
              </a:srgbClr>
            </a:outerShdw>
          </a:effectLst>
        </p:spPr>
      </p:sp>
      <p:sp>
        <p:nvSpPr>
          <p:cNvPr id="29" name="Text 25"/>
          <p:cNvSpPr/>
          <p:nvPr/>
        </p:nvSpPr>
        <p:spPr>
          <a:xfrm>
            <a:off x="6263640" y="5623560"/>
            <a:ext cx="5010912" cy="566928"/>
          </a:xfrm>
          <a:prstGeom prst="rect">
            <a:avLst/>
          </a:prstGeom>
          <a:noFill/>
          <a:ln/>
        </p:spPr>
        <p:txBody>
          <a:bodyPr wrap="square" lIns="0" tIns="0" rIns="0" bIns="0" rtlCol="0" anchor="ctr"/>
          <a:lstStyle/>
          <a:p>
            <a:pPr indent="0" marL="0">
              <a:buNone/>
            </a:pPr>
            <a:r>
              <a:rPr lang="en-US" sz="1350" b="1" i="1" dirty="0">
                <a:solidFill>
                  <a:srgbClr val="FFFFFF"/>
                </a:solidFill>
                <a:latin typeface="Arial" pitchFamily="34" charset="0"/>
                <a:ea typeface="Arial" pitchFamily="34" charset="-122"/>
                <a:cs typeface="Arial" pitchFamily="34" charset="-120"/>
              </a:rPr>
              <a:t>E[n] = Σ x²[k]</a:t>
            </a:r>
            <a:pPr indent="0" marL="0">
              <a:buNone/>
            </a:pPr>
            <a:r>
              <a:rPr lang="en-US" sz="1350" dirty="0">
                <a:solidFill>
                  <a:srgbClr val="CFE8E4"/>
                </a:solidFill>
                <a:latin typeface="Arial" pitchFamily="34" charset="0"/>
                <a:ea typeface="Arial" pitchFamily="34" charset="-122"/>
                <a:cs typeface="Arial" pitchFamily="34" charset="-120"/>
              </a:rPr>
              <a:t>     ·  threshold = μ + 6·MAD</a:t>
            </a:r>
            <a:endParaRPr lang="en-US" sz="1350" dirty="0"/>
          </a:p>
        </p:txBody>
      </p:sp>
      <p:sp>
        <p:nvSpPr>
          <p:cNvPr id="30" name="Text 26"/>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5E7184"/>
                </a:solidFill>
                <a:latin typeface="Arial" pitchFamily="34" charset="0"/>
                <a:ea typeface="Arial" pitchFamily="34" charset="-122"/>
                <a:cs typeface="Arial" pitchFamily="34" charset="-120"/>
              </a:rPr>
              <a:t>07</a:t>
            </a:r>
            <a:endParaRPr lang="en-US" sz="1000" dirty="0"/>
          </a:p>
        </p:txBody>
      </p:sp>
      <p:sp>
        <p:nvSpPr>
          <p:cNvPr id="31" name="Text 27"/>
          <p:cNvSpPr/>
          <p:nvPr/>
        </p:nvSpPr>
        <p:spPr>
          <a:xfrm>
            <a:off x="640080" y="6400800"/>
            <a:ext cx="3200400" cy="274320"/>
          </a:xfrm>
          <a:prstGeom prst="rect">
            <a:avLst/>
          </a:prstGeom>
          <a:noFill/>
          <a:ln/>
        </p:spPr>
        <p:txBody>
          <a:bodyPr wrap="square" lIns="0" tIns="0" rIns="0" bIns="0" rtlCol="0" anchor="ctr"/>
          <a:lstStyle/>
          <a:p>
            <a:pPr algn="l" indent="0" marL="0">
              <a:buNone/>
            </a:pPr>
            <a:r>
              <a:rPr lang="en-US" sz="1000" dirty="0">
                <a:solidFill>
                  <a:srgbClr val="5E7184"/>
                </a:solidFill>
                <a:latin typeface="Arial" pitchFamily="34" charset="0"/>
                <a:ea typeface="Arial" pitchFamily="34" charset="-122"/>
                <a:cs typeface="Arial" pitchFamily="34" charset="-120"/>
              </a:rPr>
              <a:t>BurstMAE-MIL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640080" y="475488"/>
            <a:ext cx="10789920" cy="274320"/>
          </a:xfrm>
          <a:prstGeom prst="rect">
            <a:avLst/>
          </a:prstGeom>
          <a:noFill/>
          <a:ln/>
        </p:spPr>
        <p:txBody>
          <a:bodyPr wrap="square" lIns="0" tIns="0" rIns="0" bIns="0" rtlCol="0" anchor="ctr"/>
          <a:lstStyle/>
          <a:p>
            <a:pPr algn="l" indent="0" marL="0">
              <a:buNone/>
            </a:pPr>
            <a:r>
              <a:rPr lang="en-US" sz="1250" b="1" spc="300" kern="0" dirty="0">
                <a:solidFill>
                  <a:srgbClr val="16A99A"/>
                </a:solidFill>
                <a:latin typeface="Arial" pitchFamily="34" charset="0"/>
                <a:ea typeface="Arial" pitchFamily="34" charset="-122"/>
                <a:cs typeface="Arial" pitchFamily="34" charset="-120"/>
              </a:rPr>
              <a:t>METHOD · STEP 2</a:t>
            </a:r>
            <a:endParaRPr lang="en-US" sz="1250" dirty="0"/>
          </a:p>
        </p:txBody>
      </p:sp>
      <p:sp>
        <p:nvSpPr>
          <p:cNvPr id="3" name="Text 1"/>
          <p:cNvSpPr/>
          <p:nvPr/>
        </p:nvSpPr>
        <p:spPr>
          <a:xfrm>
            <a:off x="640080" y="749808"/>
            <a:ext cx="10881360" cy="777240"/>
          </a:xfrm>
          <a:prstGeom prst="rect">
            <a:avLst/>
          </a:prstGeom>
          <a:noFill/>
          <a:ln/>
        </p:spPr>
        <p:txBody>
          <a:bodyPr wrap="square" lIns="0" tIns="0" rIns="0" bIns="0" rtlCol="0" anchor="ctr"/>
          <a:lstStyle/>
          <a:p>
            <a:pPr algn="l" indent="0" marL="0">
              <a:lnSpc>
                <a:spcPct val="100000"/>
              </a:lnSpc>
              <a:buNone/>
            </a:pPr>
            <a:r>
              <a:rPr lang="en-US" sz="3000" b="1" dirty="0">
                <a:solidFill>
                  <a:srgbClr val="16293B"/>
                </a:solidFill>
                <a:latin typeface="Georgia" pitchFamily="34" charset="0"/>
                <a:ea typeface="Georgia" pitchFamily="34" charset="-122"/>
                <a:cs typeface="Georgia" pitchFamily="34" charset="-120"/>
              </a:rPr>
              <a:t>Self–supervised representation learning</a:t>
            </a:r>
            <a:endParaRPr lang="en-US" sz="3000" dirty="0"/>
          </a:p>
        </p:txBody>
      </p:sp>
      <p:sp>
        <p:nvSpPr>
          <p:cNvPr id="4" name="Shape 2"/>
          <p:cNvSpPr/>
          <p:nvPr/>
        </p:nvSpPr>
        <p:spPr>
          <a:xfrm>
            <a:off x="640080" y="1874520"/>
            <a:ext cx="566928" cy="566928"/>
          </a:xfrm>
          <a:prstGeom prst="ellipse">
            <a:avLst/>
          </a:prstGeom>
          <a:solidFill>
            <a:srgbClr val="16A99A"/>
          </a:solidFill>
          <a:ln/>
          <a:effectLst>
            <a:outerShdw sx="100000" sy="100000" kx="0" ky="0" algn="bl" rotWithShape="0" blurRad="76200" dist="25400" dir="5400000">
              <a:srgbClr val="0A1622">
                <a:alpha val="18000"/>
              </a:srgbClr>
            </a:outerShdw>
          </a:effectLst>
        </p:spPr>
      </p:sp>
      <p:pic>
        <p:nvPicPr>
          <p:cNvPr id="5" name="Image 0" descr="preencoded.png">    </p:cNvPr>
          <p:cNvPicPr>
            <a:picLocks noChangeAspect="1"/>
          </p:cNvPicPr>
          <p:nvPr/>
        </p:nvPicPr>
        <p:blipFill>
          <a:blip r:embed="rId1"/>
          <a:stretch>
            <a:fillRect/>
          </a:stretch>
        </p:blipFill>
        <p:spPr>
          <a:xfrm>
            <a:off x="804489" y="2038929"/>
            <a:ext cx="238110" cy="238110"/>
          </a:xfrm>
          <a:prstGeom prst="rect">
            <a:avLst/>
          </a:prstGeom>
        </p:spPr>
      </p:pic>
      <p:sp>
        <p:nvSpPr>
          <p:cNvPr id="6" name="Text 3"/>
          <p:cNvSpPr/>
          <p:nvPr/>
        </p:nvSpPr>
        <p:spPr>
          <a:xfrm>
            <a:off x="1417320" y="1847088"/>
            <a:ext cx="4206240" cy="310896"/>
          </a:xfrm>
          <a:prstGeom prst="rect">
            <a:avLst/>
          </a:prstGeom>
          <a:noFill/>
          <a:ln/>
        </p:spPr>
        <p:txBody>
          <a:bodyPr wrap="square" lIns="0" tIns="0" rIns="0" bIns="0" rtlCol="0" anchor="ctr"/>
          <a:lstStyle/>
          <a:p>
            <a:pPr indent="0" marL="0">
              <a:buNone/>
            </a:pPr>
            <a:r>
              <a:rPr lang="en-US" sz="1550" b="1" dirty="0">
                <a:solidFill>
                  <a:srgbClr val="16293B"/>
                </a:solidFill>
                <a:latin typeface="Arial" pitchFamily="34" charset="0"/>
                <a:ea typeface="Arial" pitchFamily="34" charset="-122"/>
                <a:cs typeface="Arial" pitchFamily="34" charset="-120"/>
              </a:rPr>
              <a:t>STFT spectrograms</a:t>
            </a:r>
            <a:endParaRPr lang="en-US" sz="1550" dirty="0"/>
          </a:p>
        </p:txBody>
      </p:sp>
      <p:sp>
        <p:nvSpPr>
          <p:cNvPr id="7" name="Text 4"/>
          <p:cNvSpPr/>
          <p:nvPr/>
        </p:nvSpPr>
        <p:spPr>
          <a:xfrm>
            <a:off x="1417320" y="2157984"/>
            <a:ext cx="4343400" cy="566928"/>
          </a:xfrm>
          <a:prstGeom prst="rect">
            <a:avLst/>
          </a:prstGeom>
          <a:noFill/>
          <a:ln/>
        </p:spPr>
        <p:txBody>
          <a:bodyPr wrap="square" lIns="0" tIns="0" rIns="0" bIns="0" rtlCol="0" anchor="ctr"/>
          <a:lstStyle/>
          <a:p>
            <a:pPr indent="0" marL="0">
              <a:lnSpc>
                <a:spcPct val="104000"/>
              </a:lnSpc>
              <a:buNone/>
            </a:pPr>
            <a:r>
              <a:rPr lang="en-US" sz="1200" dirty="0">
                <a:solidFill>
                  <a:srgbClr val="5E7184"/>
                </a:solidFill>
                <a:latin typeface="Arial" pitchFamily="34" charset="0"/>
                <a:ea typeface="Arial" pitchFamily="34" charset="-122"/>
                <a:cs typeface="Arial" pitchFamily="34" charset="-120"/>
              </a:rPr>
              <a:t>Each burst → log–magnitude time–frequency image.</a:t>
            </a:r>
            <a:endParaRPr lang="en-US" sz="1200" dirty="0"/>
          </a:p>
        </p:txBody>
      </p:sp>
      <p:sp>
        <p:nvSpPr>
          <p:cNvPr id="8" name="Shape 5"/>
          <p:cNvSpPr/>
          <p:nvPr/>
        </p:nvSpPr>
        <p:spPr>
          <a:xfrm>
            <a:off x="640080" y="2825496"/>
            <a:ext cx="566928" cy="566928"/>
          </a:xfrm>
          <a:prstGeom prst="ellipse">
            <a:avLst/>
          </a:prstGeom>
          <a:solidFill>
            <a:srgbClr val="EFA135"/>
          </a:solidFill>
          <a:ln/>
          <a:effectLst>
            <a:outerShdw sx="100000" sy="100000" kx="0" ky="0" algn="bl" rotWithShape="0" blurRad="76200" dist="25400" dir="5400000">
              <a:srgbClr val="0A1622">
                <a:alpha val="18000"/>
              </a:srgbClr>
            </a:outerShdw>
          </a:effectLst>
        </p:spPr>
      </p:sp>
      <p:pic>
        <p:nvPicPr>
          <p:cNvPr id="9" name="Image 1" descr="preencoded.png">    </p:cNvPr>
          <p:cNvPicPr>
            <a:picLocks noChangeAspect="1"/>
          </p:cNvPicPr>
          <p:nvPr/>
        </p:nvPicPr>
        <p:blipFill>
          <a:blip r:embed="rId2"/>
          <a:stretch>
            <a:fillRect/>
          </a:stretch>
        </p:blipFill>
        <p:spPr>
          <a:xfrm>
            <a:off x="804489" y="2989905"/>
            <a:ext cx="238110" cy="238110"/>
          </a:xfrm>
          <a:prstGeom prst="rect">
            <a:avLst/>
          </a:prstGeom>
        </p:spPr>
      </p:pic>
      <p:sp>
        <p:nvSpPr>
          <p:cNvPr id="10" name="Text 6"/>
          <p:cNvSpPr/>
          <p:nvPr/>
        </p:nvSpPr>
        <p:spPr>
          <a:xfrm>
            <a:off x="1417320" y="2798064"/>
            <a:ext cx="4206240" cy="310896"/>
          </a:xfrm>
          <a:prstGeom prst="rect">
            <a:avLst/>
          </a:prstGeom>
          <a:noFill/>
          <a:ln/>
        </p:spPr>
        <p:txBody>
          <a:bodyPr wrap="square" lIns="0" tIns="0" rIns="0" bIns="0" rtlCol="0" anchor="ctr"/>
          <a:lstStyle/>
          <a:p>
            <a:pPr indent="0" marL="0">
              <a:buNone/>
            </a:pPr>
            <a:r>
              <a:rPr lang="en-US" sz="1550" b="1" dirty="0">
                <a:solidFill>
                  <a:srgbClr val="16293B"/>
                </a:solidFill>
                <a:latin typeface="Arial" pitchFamily="34" charset="0"/>
                <a:ea typeface="Arial" pitchFamily="34" charset="-122"/>
                <a:cs typeface="Arial" pitchFamily="34" charset="-120"/>
              </a:rPr>
              <a:t>Mask &amp; reconstruct</a:t>
            </a:r>
            <a:endParaRPr lang="en-US" sz="1550" dirty="0"/>
          </a:p>
        </p:txBody>
      </p:sp>
      <p:sp>
        <p:nvSpPr>
          <p:cNvPr id="11" name="Text 7"/>
          <p:cNvSpPr/>
          <p:nvPr/>
        </p:nvSpPr>
        <p:spPr>
          <a:xfrm>
            <a:off x="1417320" y="3108960"/>
            <a:ext cx="4343400" cy="566928"/>
          </a:xfrm>
          <a:prstGeom prst="rect">
            <a:avLst/>
          </a:prstGeom>
          <a:noFill/>
          <a:ln/>
        </p:spPr>
        <p:txBody>
          <a:bodyPr wrap="square" lIns="0" tIns="0" rIns="0" bIns="0" rtlCol="0" anchor="ctr"/>
          <a:lstStyle/>
          <a:p>
            <a:pPr indent="0" marL="0">
              <a:lnSpc>
                <a:spcPct val="104000"/>
              </a:lnSpc>
              <a:buNone/>
            </a:pPr>
            <a:r>
              <a:rPr lang="en-US" sz="1200" dirty="0">
                <a:solidFill>
                  <a:srgbClr val="5E7184"/>
                </a:solidFill>
                <a:latin typeface="Arial" pitchFamily="34" charset="0"/>
                <a:ea typeface="Arial" pitchFamily="34" charset="-122"/>
                <a:cs typeface="Arial" pitchFamily="34" charset="-120"/>
              </a:rPr>
              <a:t>Most patches are hidden; the model rebuilds them from context.</a:t>
            </a:r>
            <a:endParaRPr lang="en-US" sz="1200" dirty="0"/>
          </a:p>
        </p:txBody>
      </p:sp>
      <p:sp>
        <p:nvSpPr>
          <p:cNvPr id="12" name="Shape 8"/>
          <p:cNvSpPr/>
          <p:nvPr/>
        </p:nvSpPr>
        <p:spPr>
          <a:xfrm>
            <a:off x="640080" y="3776472"/>
            <a:ext cx="566928" cy="566928"/>
          </a:xfrm>
          <a:prstGeom prst="ellipse">
            <a:avLst/>
          </a:prstGeom>
          <a:solidFill>
            <a:srgbClr val="16A99A"/>
          </a:solidFill>
          <a:ln/>
          <a:effectLst>
            <a:outerShdw sx="100000" sy="100000" kx="0" ky="0" algn="bl" rotWithShape="0" blurRad="76200" dist="25400" dir="5400000">
              <a:srgbClr val="0A1622">
                <a:alpha val="18000"/>
              </a:srgbClr>
            </a:outerShdw>
          </a:effectLst>
        </p:spPr>
      </p:sp>
      <p:pic>
        <p:nvPicPr>
          <p:cNvPr id="13" name="Image 2" descr="preencoded.png">    </p:cNvPr>
          <p:cNvPicPr>
            <a:picLocks noChangeAspect="1"/>
          </p:cNvPicPr>
          <p:nvPr/>
        </p:nvPicPr>
        <p:blipFill>
          <a:blip r:embed="rId3"/>
          <a:stretch>
            <a:fillRect/>
          </a:stretch>
        </p:blipFill>
        <p:spPr>
          <a:xfrm>
            <a:off x="804489" y="3940881"/>
            <a:ext cx="238110" cy="238110"/>
          </a:xfrm>
          <a:prstGeom prst="rect">
            <a:avLst/>
          </a:prstGeom>
        </p:spPr>
      </p:pic>
      <p:sp>
        <p:nvSpPr>
          <p:cNvPr id="14" name="Text 9"/>
          <p:cNvSpPr/>
          <p:nvPr/>
        </p:nvSpPr>
        <p:spPr>
          <a:xfrm>
            <a:off x="1417320" y="3749040"/>
            <a:ext cx="4206240" cy="310896"/>
          </a:xfrm>
          <a:prstGeom prst="rect">
            <a:avLst/>
          </a:prstGeom>
          <a:noFill/>
          <a:ln/>
        </p:spPr>
        <p:txBody>
          <a:bodyPr wrap="square" lIns="0" tIns="0" rIns="0" bIns="0" rtlCol="0" anchor="ctr"/>
          <a:lstStyle/>
          <a:p>
            <a:pPr indent="0" marL="0">
              <a:buNone/>
            </a:pPr>
            <a:r>
              <a:rPr lang="en-US" sz="1550" b="1" dirty="0">
                <a:solidFill>
                  <a:srgbClr val="16293B"/>
                </a:solidFill>
                <a:latin typeface="Arial" pitchFamily="34" charset="0"/>
                <a:ea typeface="Arial" pitchFamily="34" charset="-122"/>
                <a:cs typeface="Arial" pitchFamily="34" charset="-120"/>
              </a:rPr>
              <a:t>No labels needed</a:t>
            </a:r>
            <a:endParaRPr lang="en-US" sz="1550" dirty="0"/>
          </a:p>
        </p:txBody>
      </p:sp>
      <p:sp>
        <p:nvSpPr>
          <p:cNvPr id="15" name="Text 10"/>
          <p:cNvSpPr/>
          <p:nvPr/>
        </p:nvSpPr>
        <p:spPr>
          <a:xfrm>
            <a:off x="1417320" y="4059936"/>
            <a:ext cx="4343400" cy="566928"/>
          </a:xfrm>
          <a:prstGeom prst="rect">
            <a:avLst/>
          </a:prstGeom>
          <a:noFill/>
          <a:ln/>
        </p:spPr>
        <p:txBody>
          <a:bodyPr wrap="square" lIns="0" tIns="0" rIns="0" bIns="0" rtlCol="0" anchor="ctr"/>
          <a:lstStyle/>
          <a:p>
            <a:pPr indent="0" marL="0">
              <a:lnSpc>
                <a:spcPct val="104000"/>
              </a:lnSpc>
              <a:buNone/>
            </a:pPr>
            <a:r>
              <a:rPr lang="en-US" sz="1200" dirty="0">
                <a:solidFill>
                  <a:srgbClr val="5E7184"/>
                </a:solidFill>
                <a:latin typeface="Arial" pitchFamily="34" charset="0"/>
                <a:ea typeface="Arial" pitchFamily="34" charset="-122"/>
                <a:cs typeface="Arial" pitchFamily="34" charset="-120"/>
              </a:rPr>
              <a:t>The encoder learns intrinsic AE structure from unlabeled bursts.</a:t>
            </a:r>
            <a:endParaRPr lang="en-US" sz="1200" dirty="0"/>
          </a:p>
        </p:txBody>
      </p:sp>
      <p:sp>
        <p:nvSpPr>
          <p:cNvPr id="16" name="Shape 11"/>
          <p:cNvSpPr/>
          <p:nvPr/>
        </p:nvSpPr>
        <p:spPr>
          <a:xfrm>
            <a:off x="640080" y="4727448"/>
            <a:ext cx="566928" cy="566928"/>
          </a:xfrm>
          <a:prstGeom prst="ellipse">
            <a:avLst/>
          </a:prstGeom>
          <a:solidFill>
            <a:srgbClr val="16A99A"/>
          </a:solidFill>
          <a:ln/>
          <a:effectLst>
            <a:outerShdw sx="100000" sy="100000" kx="0" ky="0" algn="bl" rotWithShape="0" blurRad="76200" dist="25400" dir="5400000">
              <a:srgbClr val="0A1622">
                <a:alpha val="18000"/>
              </a:srgbClr>
            </a:outerShdw>
          </a:effectLst>
        </p:spPr>
      </p:sp>
      <p:pic>
        <p:nvPicPr>
          <p:cNvPr id="17" name="Image 3" descr="preencoded.png">    </p:cNvPr>
          <p:cNvPicPr>
            <a:picLocks noChangeAspect="1"/>
          </p:cNvPicPr>
          <p:nvPr/>
        </p:nvPicPr>
        <p:blipFill>
          <a:blip r:embed="rId4"/>
          <a:stretch>
            <a:fillRect/>
          </a:stretch>
        </p:blipFill>
        <p:spPr>
          <a:xfrm>
            <a:off x="804489" y="4891857"/>
            <a:ext cx="238110" cy="238110"/>
          </a:xfrm>
          <a:prstGeom prst="rect">
            <a:avLst/>
          </a:prstGeom>
        </p:spPr>
      </p:pic>
      <p:sp>
        <p:nvSpPr>
          <p:cNvPr id="18" name="Text 12"/>
          <p:cNvSpPr/>
          <p:nvPr/>
        </p:nvSpPr>
        <p:spPr>
          <a:xfrm>
            <a:off x="1417320" y="4700016"/>
            <a:ext cx="4206240" cy="310896"/>
          </a:xfrm>
          <a:prstGeom prst="rect">
            <a:avLst/>
          </a:prstGeom>
          <a:noFill/>
          <a:ln/>
        </p:spPr>
        <p:txBody>
          <a:bodyPr wrap="square" lIns="0" tIns="0" rIns="0" bIns="0" rtlCol="0" anchor="ctr"/>
          <a:lstStyle/>
          <a:p>
            <a:pPr indent="0" marL="0">
              <a:buNone/>
            </a:pPr>
            <a:r>
              <a:rPr lang="en-US" sz="1550" b="1" dirty="0">
                <a:solidFill>
                  <a:srgbClr val="16293B"/>
                </a:solidFill>
                <a:latin typeface="Arial" pitchFamily="34" charset="0"/>
                <a:ea typeface="Arial" pitchFamily="34" charset="-122"/>
                <a:cs typeface="Arial" pitchFamily="34" charset="-120"/>
              </a:rPr>
              <a:t>Transfer the encoder</a:t>
            </a:r>
            <a:endParaRPr lang="en-US" sz="1550" dirty="0"/>
          </a:p>
        </p:txBody>
      </p:sp>
      <p:sp>
        <p:nvSpPr>
          <p:cNvPr id="19" name="Text 13"/>
          <p:cNvSpPr/>
          <p:nvPr/>
        </p:nvSpPr>
        <p:spPr>
          <a:xfrm>
            <a:off x="1417320" y="5010912"/>
            <a:ext cx="4343400" cy="566928"/>
          </a:xfrm>
          <a:prstGeom prst="rect">
            <a:avLst/>
          </a:prstGeom>
          <a:noFill/>
          <a:ln/>
        </p:spPr>
        <p:txBody>
          <a:bodyPr wrap="square" lIns="0" tIns="0" rIns="0" bIns="0" rtlCol="0" anchor="ctr"/>
          <a:lstStyle/>
          <a:p>
            <a:pPr indent="0" marL="0">
              <a:lnSpc>
                <a:spcPct val="104000"/>
              </a:lnSpc>
              <a:buNone/>
            </a:pPr>
            <a:r>
              <a:rPr lang="en-US" sz="1200" dirty="0">
                <a:solidFill>
                  <a:srgbClr val="5E7184"/>
                </a:solidFill>
                <a:latin typeface="Arial" pitchFamily="34" charset="0"/>
                <a:ea typeface="Arial" pitchFamily="34" charset="-122"/>
                <a:cs typeface="Arial" pitchFamily="34" charset="-120"/>
              </a:rPr>
              <a:t>Decoder is discarded; the encoder becomes a feature extractor.</a:t>
            </a:r>
            <a:endParaRPr lang="en-US" sz="1200" dirty="0"/>
          </a:p>
        </p:txBody>
      </p:sp>
      <p:sp>
        <p:nvSpPr>
          <p:cNvPr id="20" name="Shape 14"/>
          <p:cNvSpPr/>
          <p:nvPr/>
        </p:nvSpPr>
        <p:spPr>
          <a:xfrm>
            <a:off x="5897880" y="1783080"/>
            <a:ext cx="5650992" cy="4251960"/>
          </a:xfrm>
          <a:prstGeom prst="roundRect">
            <a:avLst>
              <a:gd name="adj" fmla="val 2151"/>
            </a:avLst>
          </a:prstGeom>
          <a:solidFill>
            <a:srgbClr val="FFFFFF"/>
          </a:solidFill>
          <a:ln w="12700">
            <a:solidFill>
              <a:srgbClr val="DCE4EA"/>
            </a:solidFill>
            <a:prstDash val="solid"/>
          </a:ln>
          <a:effectLst>
            <a:outerShdw sx="100000" sy="100000" kx="0" ky="0" algn="bl" rotWithShape="0" blurRad="114300" dist="38100" dir="5400000">
              <a:srgbClr val="0A1622">
                <a:alpha val="13000"/>
              </a:srgbClr>
            </a:outerShdw>
          </a:effectLst>
        </p:spPr>
      </p:sp>
      <p:sp>
        <p:nvSpPr>
          <p:cNvPr id="21" name="Text 15"/>
          <p:cNvSpPr/>
          <p:nvPr/>
        </p:nvSpPr>
        <p:spPr>
          <a:xfrm>
            <a:off x="6309360" y="2167128"/>
            <a:ext cx="2377440" cy="256032"/>
          </a:xfrm>
          <a:prstGeom prst="rect">
            <a:avLst/>
          </a:prstGeom>
          <a:noFill/>
          <a:ln/>
        </p:spPr>
        <p:txBody>
          <a:bodyPr wrap="square" lIns="0" tIns="0" rIns="0" bIns="0" rtlCol="0" anchor="ctr"/>
          <a:lstStyle/>
          <a:p>
            <a:pPr indent="0" marL="0">
              <a:buNone/>
            </a:pPr>
            <a:r>
              <a:rPr lang="en-US" sz="1050" b="1" spc="100" kern="0" dirty="0">
                <a:solidFill>
                  <a:srgbClr val="5E7184"/>
                </a:solidFill>
                <a:latin typeface="Arial" pitchFamily="34" charset="0"/>
                <a:ea typeface="Arial" pitchFamily="34" charset="-122"/>
                <a:cs typeface="Arial" pitchFamily="34" charset="-120"/>
              </a:rPr>
              <a:t>MASKED INPUT</a:t>
            </a:r>
            <a:endParaRPr lang="en-US" sz="1050" dirty="0"/>
          </a:p>
        </p:txBody>
      </p:sp>
      <p:sp>
        <p:nvSpPr>
          <p:cNvPr id="22" name="Shape 16"/>
          <p:cNvSpPr/>
          <p:nvPr/>
        </p:nvSpPr>
        <p:spPr>
          <a:xfrm>
            <a:off x="6309360" y="2651760"/>
            <a:ext cx="384048" cy="384048"/>
          </a:xfrm>
          <a:prstGeom prst="roundRect">
            <a:avLst>
              <a:gd name="adj" fmla="val 9524"/>
            </a:avLst>
          </a:prstGeom>
          <a:solidFill>
            <a:srgbClr val="EEF2F5"/>
          </a:solidFill>
          <a:ln w="9525">
            <a:solidFill>
              <a:srgbClr val="CBD6DE"/>
            </a:solidFill>
            <a:prstDash val="dash"/>
          </a:ln>
        </p:spPr>
      </p:sp>
      <p:sp>
        <p:nvSpPr>
          <p:cNvPr id="23" name="Shape 17"/>
          <p:cNvSpPr/>
          <p:nvPr/>
        </p:nvSpPr>
        <p:spPr>
          <a:xfrm>
            <a:off x="6757416" y="2651760"/>
            <a:ext cx="384048" cy="384048"/>
          </a:xfrm>
          <a:prstGeom prst="roundRect">
            <a:avLst>
              <a:gd name="adj" fmla="val 9524"/>
            </a:avLst>
          </a:prstGeom>
          <a:solidFill>
            <a:srgbClr val="16A99A"/>
          </a:solidFill>
          <a:ln/>
        </p:spPr>
      </p:sp>
      <p:sp>
        <p:nvSpPr>
          <p:cNvPr id="24" name="Shape 18"/>
          <p:cNvSpPr/>
          <p:nvPr/>
        </p:nvSpPr>
        <p:spPr>
          <a:xfrm>
            <a:off x="7205472" y="2651760"/>
            <a:ext cx="384048" cy="384048"/>
          </a:xfrm>
          <a:prstGeom prst="roundRect">
            <a:avLst>
              <a:gd name="adj" fmla="val 9524"/>
            </a:avLst>
          </a:prstGeom>
          <a:solidFill>
            <a:srgbClr val="EEF2F5"/>
          </a:solidFill>
          <a:ln w="9525">
            <a:solidFill>
              <a:srgbClr val="CBD6DE"/>
            </a:solidFill>
            <a:prstDash val="dash"/>
          </a:ln>
        </p:spPr>
      </p:sp>
      <p:sp>
        <p:nvSpPr>
          <p:cNvPr id="25" name="Shape 19"/>
          <p:cNvSpPr/>
          <p:nvPr/>
        </p:nvSpPr>
        <p:spPr>
          <a:xfrm>
            <a:off x="7653528" y="2651760"/>
            <a:ext cx="384048" cy="384048"/>
          </a:xfrm>
          <a:prstGeom prst="roundRect">
            <a:avLst>
              <a:gd name="adj" fmla="val 9524"/>
            </a:avLst>
          </a:prstGeom>
          <a:solidFill>
            <a:srgbClr val="EEF2F5"/>
          </a:solidFill>
          <a:ln w="9525">
            <a:solidFill>
              <a:srgbClr val="CBD6DE"/>
            </a:solidFill>
            <a:prstDash val="dash"/>
          </a:ln>
        </p:spPr>
      </p:sp>
      <p:sp>
        <p:nvSpPr>
          <p:cNvPr id="26" name="Shape 20"/>
          <p:cNvSpPr/>
          <p:nvPr/>
        </p:nvSpPr>
        <p:spPr>
          <a:xfrm>
            <a:off x="8101584" y="2651760"/>
            <a:ext cx="384048" cy="384048"/>
          </a:xfrm>
          <a:prstGeom prst="roundRect">
            <a:avLst>
              <a:gd name="adj" fmla="val 9524"/>
            </a:avLst>
          </a:prstGeom>
          <a:solidFill>
            <a:srgbClr val="16A99A"/>
          </a:solidFill>
          <a:ln/>
        </p:spPr>
      </p:sp>
      <p:sp>
        <p:nvSpPr>
          <p:cNvPr id="27" name="Shape 21"/>
          <p:cNvSpPr/>
          <p:nvPr/>
        </p:nvSpPr>
        <p:spPr>
          <a:xfrm>
            <a:off x="6309360" y="3099816"/>
            <a:ext cx="384048" cy="384048"/>
          </a:xfrm>
          <a:prstGeom prst="roundRect">
            <a:avLst>
              <a:gd name="adj" fmla="val 9524"/>
            </a:avLst>
          </a:prstGeom>
          <a:solidFill>
            <a:srgbClr val="EEF2F5"/>
          </a:solidFill>
          <a:ln w="9525">
            <a:solidFill>
              <a:srgbClr val="CBD6DE"/>
            </a:solidFill>
            <a:prstDash val="dash"/>
          </a:ln>
        </p:spPr>
      </p:sp>
      <p:sp>
        <p:nvSpPr>
          <p:cNvPr id="28" name="Shape 22"/>
          <p:cNvSpPr/>
          <p:nvPr/>
        </p:nvSpPr>
        <p:spPr>
          <a:xfrm>
            <a:off x="6757416" y="3099816"/>
            <a:ext cx="384048" cy="384048"/>
          </a:xfrm>
          <a:prstGeom prst="roundRect">
            <a:avLst>
              <a:gd name="adj" fmla="val 9524"/>
            </a:avLst>
          </a:prstGeom>
          <a:solidFill>
            <a:srgbClr val="16A99A"/>
          </a:solidFill>
          <a:ln/>
        </p:spPr>
      </p:sp>
      <p:sp>
        <p:nvSpPr>
          <p:cNvPr id="29" name="Shape 23"/>
          <p:cNvSpPr/>
          <p:nvPr/>
        </p:nvSpPr>
        <p:spPr>
          <a:xfrm>
            <a:off x="7205472" y="3099816"/>
            <a:ext cx="384048" cy="384048"/>
          </a:xfrm>
          <a:prstGeom prst="roundRect">
            <a:avLst>
              <a:gd name="adj" fmla="val 9524"/>
            </a:avLst>
          </a:prstGeom>
          <a:solidFill>
            <a:srgbClr val="EEF2F5"/>
          </a:solidFill>
          <a:ln w="9525">
            <a:solidFill>
              <a:srgbClr val="CBD6DE"/>
            </a:solidFill>
            <a:prstDash val="dash"/>
          </a:ln>
        </p:spPr>
      </p:sp>
      <p:sp>
        <p:nvSpPr>
          <p:cNvPr id="30" name="Shape 24"/>
          <p:cNvSpPr/>
          <p:nvPr/>
        </p:nvSpPr>
        <p:spPr>
          <a:xfrm>
            <a:off x="7653528" y="3099816"/>
            <a:ext cx="384048" cy="384048"/>
          </a:xfrm>
          <a:prstGeom prst="roundRect">
            <a:avLst>
              <a:gd name="adj" fmla="val 9524"/>
            </a:avLst>
          </a:prstGeom>
          <a:solidFill>
            <a:srgbClr val="EEF2F5"/>
          </a:solidFill>
          <a:ln w="9525">
            <a:solidFill>
              <a:srgbClr val="CBD6DE"/>
            </a:solidFill>
            <a:prstDash val="dash"/>
          </a:ln>
        </p:spPr>
      </p:sp>
      <p:sp>
        <p:nvSpPr>
          <p:cNvPr id="31" name="Shape 25"/>
          <p:cNvSpPr/>
          <p:nvPr/>
        </p:nvSpPr>
        <p:spPr>
          <a:xfrm>
            <a:off x="8101584" y="3099816"/>
            <a:ext cx="384048" cy="384048"/>
          </a:xfrm>
          <a:prstGeom prst="roundRect">
            <a:avLst>
              <a:gd name="adj" fmla="val 9524"/>
            </a:avLst>
          </a:prstGeom>
          <a:solidFill>
            <a:srgbClr val="16A99A"/>
          </a:solidFill>
          <a:ln/>
        </p:spPr>
      </p:sp>
      <p:sp>
        <p:nvSpPr>
          <p:cNvPr id="32" name="Shape 26"/>
          <p:cNvSpPr/>
          <p:nvPr/>
        </p:nvSpPr>
        <p:spPr>
          <a:xfrm>
            <a:off x="6309360" y="3547872"/>
            <a:ext cx="384048" cy="384048"/>
          </a:xfrm>
          <a:prstGeom prst="roundRect">
            <a:avLst>
              <a:gd name="adj" fmla="val 9524"/>
            </a:avLst>
          </a:prstGeom>
          <a:solidFill>
            <a:srgbClr val="EEF2F5"/>
          </a:solidFill>
          <a:ln w="9525">
            <a:solidFill>
              <a:srgbClr val="CBD6DE"/>
            </a:solidFill>
            <a:prstDash val="dash"/>
          </a:ln>
        </p:spPr>
      </p:sp>
      <p:sp>
        <p:nvSpPr>
          <p:cNvPr id="33" name="Shape 27"/>
          <p:cNvSpPr/>
          <p:nvPr/>
        </p:nvSpPr>
        <p:spPr>
          <a:xfrm>
            <a:off x="6757416" y="3547872"/>
            <a:ext cx="384048" cy="384048"/>
          </a:xfrm>
          <a:prstGeom prst="roundRect">
            <a:avLst>
              <a:gd name="adj" fmla="val 9524"/>
            </a:avLst>
          </a:prstGeom>
          <a:solidFill>
            <a:srgbClr val="EEF2F5"/>
          </a:solidFill>
          <a:ln w="9525">
            <a:solidFill>
              <a:srgbClr val="CBD6DE"/>
            </a:solidFill>
            <a:prstDash val="dash"/>
          </a:ln>
        </p:spPr>
      </p:sp>
      <p:sp>
        <p:nvSpPr>
          <p:cNvPr id="34" name="Shape 28"/>
          <p:cNvSpPr/>
          <p:nvPr/>
        </p:nvSpPr>
        <p:spPr>
          <a:xfrm>
            <a:off x="7205472" y="3547872"/>
            <a:ext cx="384048" cy="384048"/>
          </a:xfrm>
          <a:prstGeom prst="roundRect">
            <a:avLst>
              <a:gd name="adj" fmla="val 9524"/>
            </a:avLst>
          </a:prstGeom>
          <a:solidFill>
            <a:srgbClr val="16A99A"/>
          </a:solidFill>
          <a:ln/>
        </p:spPr>
      </p:sp>
      <p:sp>
        <p:nvSpPr>
          <p:cNvPr id="35" name="Shape 29"/>
          <p:cNvSpPr/>
          <p:nvPr/>
        </p:nvSpPr>
        <p:spPr>
          <a:xfrm>
            <a:off x="7653528" y="3547872"/>
            <a:ext cx="384048" cy="384048"/>
          </a:xfrm>
          <a:prstGeom prst="roundRect">
            <a:avLst>
              <a:gd name="adj" fmla="val 9524"/>
            </a:avLst>
          </a:prstGeom>
          <a:solidFill>
            <a:srgbClr val="EEF2F5"/>
          </a:solidFill>
          <a:ln w="9525">
            <a:solidFill>
              <a:srgbClr val="CBD6DE"/>
            </a:solidFill>
            <a:prstDash val="dash"/>
          </a:ln>
        </p:spPr>
      </p:sp>
      <p:sp>
        <p:nvSpPr>
          <p:cNvPr id="36" name="Shape 30"/>
          <p:cNvSpPr/>
          <p:nvPr/>
        </p:nvSpPr>
        <p:spPr>
          <a:xfrm>
            <a:off x="8101584" y="3547872"/>
            <a:ext cx="384048" cy="384048"/>
          </a:xfrm>
          <a:prstGeom prst="roundRect">
            <a:avLst>
              <a:gd name="adj" fmla="val 9524"/>
            </a:avLst>
          </a:prstGeom>
          <a:solidFill>
            <a:srgbClr val="EEF2F5"/>
          </a:solidFill>
          <a:ln w="9525">
            <a:solidFill>
              <a:srgbClr val="CBD6DE"/>
            </a:solidFill>
            <a:prstDash val="dash"/>
          </a:ln>
        </p:spPr>
      </p:sp>
      <p:sp>
        <p:nvSpPr>
          <p:cNvPr id="37" name="Shape 31"/>
          <p:cNvSpPr/>
          <p:nvPr/>
        </p:nvSpPr>
        <p:spPr>
          <a:xfrm>
            <a:off x="6309360" y="3995928"/>
            <a:ext cx="384048" cy="384048"/>
          </a:xfrm>
          <a:prstGeom prst="roundRect">
            <a:avLst>
              <a:gd name="adj" fmla="val 9524"/>
            </a:avLst>
          </a:prstGeom>
          <a:solidFill>
            <a:srgbClr val="16A99A"/>
          </a:solidFill>
          <a:ln/>
        </p:spPr>
      </p:sp>
      <p:sp>
        <p:nvSpPr>
          <p:cNvPr id="38" name="Shape 32"/>
          <p:cNvSpPr/>
          <p:nvPr/>
        </p:nvSpPr>
        <p:spPr>
          <a:xfrm>
            <a:off x="6757416" y="3995928"/>
            <a:ext cx="384048" cy="384048"/>
          </a:xfrm>
          <a:prstGeom prst="roundRect">
            <a:avLst>
              <a:gd name="adj" fmla="val 9524"/>
            </a:avLst>
          </a:prstGeom>
          <a:solidFill>
            <a:srgbClr val="EEF2F5"/>
          </a:solidFill>
          <a:ln w="9525">
            <a:solidFill>
              <a:srgbClr val="CBD6DE"/>
            </a:solidFill>
            <a:prstDash val="dash"/>
          </a:ln>
        </p:spPr>
      </p:sp>
      <p:sp>
        <p:nvSpPr>
          <p:cNvPr id="39" name="Shape 33"/>
          <p:cNvSpPr/>
          <p:nvPr/>
        </p:nvSpPr>
        <p:spPr>
          <a:xfrm>
            <a:off x="7205472" y="3995928"/>
            <a:ext cx="384048" cy="384048"/>
          </a:xfrm>
          <a:prstGeom prst="roundRect">
            <a:avLst>
              <a:gd name="adj" fmla="val 9524"/>
            </a:avLst>
          </a:prstGeom>
          <a:solidFill>
            <a:srgbClr val="EEF2F5"/>
          </a:solidFill>
          <a:ln w="9525">
            <a:solidFill>
              <a:srgbClr val="CBD6DE"/>
            </a:solidFill>
            <a:prstDash val="dash"/>
          </a:ln>
        </p:spPr>
      </p:sp>
      <p:sp>
        <p:nvSpPr>
          <p:cNvPr id="40" name="Shape 34"/>
          <p:cNvSpPr/>
          <p:nvPr/>
        </p:nvSpPr>
        <p:spPr>
          <a:xfrm>
            <a:off x="7653528" y="3995928"/>
            <a:ext cx="384048" cy="384048"/>
          </a:xfrm>
          <a:prstGeom prst="roundRect">
            <a:avLst>
              <a:gd name="adj" fmla="val 9524"/>
            </a:avLst>
          </a:prstGeom>
          <a:solidFill>
            <a:srgbClr val="16A99A"/>
          </a:solidFill>
          <a:ln/>
        </p:spPr>
      </p:sp>
      <p:sp>
        <p:nvSpPr>
          <p:cNvPr id="41" name="Shape 35"/>
          <p:cNvSpPr/>
          <p:nvPr/>
        </p:nvSpPr>
        <p:spPr>
          <a:xfrm>
            <a:off x="8101584" y="3995928"/>
            <a:ext cx="384048" cy="384048"/>
          </a:xfrm>
          <a:prstGeom prst="roundRect">
            <a:avLst>
              <a:gd name="adj" fmla="val 9524"/>
            </a:avLst>
          </a:prstGeom>
          <a:solidFill>
            <a:srgbClr val="EEF2F5"/>
          </a:solidFill>
          <a:ln w="9525">
            <a:solidFill>
              <a:srgbClr val="CBD6DE"/>
            </a:solidFill>
            <a:prstDash val="dash"/>
          </a:ln>
        </p:spPr>
      </p:sp>
      <p:sp>
        <p:nvSpPr>
          <p:cNvPr id="42" name="Shape 36"/>
          <p:cNvSpPr/>
          <p:nvPr/>
        </p:nvSpPr>
        <p:spPr>
          <a:xfrm>
            <a:off x="8988552" y="2697480"/>
            <a:ext cx="914400" cy="1636776"/>
          </a:xfrm>
          <a:prstGeom prst="roundRect">
            <a:avLst>
              <a:gd name="adj" fmla="val 8000"/>
            </a:avLst>
          </a:prstGeom>
          <a:solidFill>
            <a:srgbClr val="0C1A2B"/>
          </a:solidFill>
          <a:ln/>
          <a:effectLst>
            <a:outerShdw sx="100000" sy="100000" kx="0" ky="0" algn="bl" rotWithShape="0" blurRad="88900" dist="25400" dir="5400000">
              <a:srgbClr val="22303C">
                <a:alpha val="10000"/>
              </a:srgbClr>
            </a:outerShdw>
          </a:effectLst>
        </p:spPr>
      </p:sp>
      <p:sp>
        <p:nvSpPr>
          <p:cNvPr id="43" name="Text 37"/>
          <p:cNvSpPr/>
          <p:nvPr/>
        </p:nvSpPr>
        <p:spPr>
          <a:xfrm>
            <a:off x="8988552" y="2697480"/>
            <a:ext cx="914400" cy="1636776"/>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Arial" pitchFamily="34" charset="0"/>
                <a:ea typeface="Arial" pitchFamily="34" charset="-122"/>
                <a:cs typeface="Arial" pitchFamily="34" charset="-120"/>
              </a:rPr>
              <a:t>ViT</a:t>
            </a:r>
            <a:endParaRPr lang="en-US" sz="1200" dirty="0"/>
          </a:p>
          <a:p>
            <a:pPr algn="ctr" indent="0" marL="0">
              <a:lnSpc>
                <a:spcPct val="100000"/>
              </a:lnSpc>
              <a:buNone/>
            </a:pPr>
            <a:r>
              <a:rPr lang="en-US" sz="1200" b="1" dirty="0">
                <a:solidFill>
                  <a:srgbClr val="FFFFFF"/>
                </a:solidFill>
                <a:latin typeface="Arial" pitchFamily="34" charset="0"/>
                <a:ea typeface="Arial" pitchFamily="34" charset="-122"/>
                <a:cs typeface="Arial" pitchFamily="34" charset="-120"/>
              </a:rPr>
              <a:t>Encoder</a:t>
            </a:r>
            <a:endParaRPr lang="en-US" sz="1200" dirty="0"/>
          </a:p>
        </p:txBody>
      </p:sp>
      <p:sp>
        <p:nvSpPr>
          <p:cNvPr id="44" name="Shape 38"/>
          <p:cNvSpPr/>
          <p:nvPr/>
        </p:nvSpPr>
        <p:spPr>
          <a:xfrm>
            <a:off x="10314432" y="2926080"/>
            <a:ext cx="868680" cy="1179576"/>
          </a:xfrm>
          <a:prstGeom prst="roundRect">
            <a:avLst>
              <a:gd name="adj" fmla="val 8421"/>
            </a:avLst>
          </a:prstGeom>
          <a:solidFill>
            <a:srgbClr val="1C3A56"/>
          </a:solidFill>
          <a:ln/>
          <a:effectLst>
            <a:outerShdw sx="100000" sy="100000" kx="0" ky="0" algn="bl" rotWithShape="0" blurRad="88900" dist="25400" dir="5400000">
              <a:srgbClr val="22303C">
                <a:alpha val="10000"/>
              </a:srgbClr>
            </a:outerShdw>
          </a:effectLst>
        </p:spPr>
      </p:sp>
      <p:sp>
        <p:nvSpPr>
          <p:cNvPr id="45" name="Text 39"/>
          <p:cNvSpPr/>
          <p:nvPr/>
        </p:nvSpPr>
        <p:spPr>
          <a:xfrm>
            <a:off x="10314432" y="2926080"/>
            <a:ext cx="868680" cy="117957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Light</a:t>
            </a:r>
            <a:endParaRPr lang="en-US" sz="1100" dirty="0"/>
          </a:p>
          <a:p>
            <a:pPr algn="ctr" indent="0" marL="0">
              <a:buNone/>
            </a:pPr>
            <a:r>
              <a:rPr lang="en-US" sz="1100" b="1" dirty="0">
                <a:solidFill>
                  <a:srgbClr val="FFFFFF"/>
                </a:solidFill>
                <a:latin typeface="Arial" pitchFamily="34" charset="0"/>
                <a:ea typeface="Arial" pitchFamily="34" charset="-122"/>
                <a:cs typeface="Arial" pitchFamily="34" charset="-120"/>
              </a:rPr>
              <a:t>Decoder</a:t>
            </a:r>
            <a:endParaRPr lang="en-US" sz="1100" dirty="0"/>
          </a:p>
        </p:txBody>
      </p:sp>
      <p:sp>
        <p:nvSpPr>
          <p:cNvPr id="46" name="Shape 40"/>
          <p:cNvSpPr/>
          <p:nvPr/>
        </p:nvSpPr>
        <p:spPr>
          <a:xfrm>
            <a:off x="8558784" y="3515868"/>
            <a:ext cx="365760" cy="0"/>
          </a:xfrm>
          <a:prstGeom prst="line">
            <a:avLst/>
          </a:prstGeom>
          <a:noFill/>
          <a:ln w="31750">
            <a:solidFill>
              <a:srgbClr val="EFA135"/>
            </a:solidFill>
            <a:prstDash val="solid"/>
            <a:tailEnd type="triangle"/>
          </a:ln>
        </p:spPr>
      </p:sp>
      <p:sp>
        <p:nvSpPr>
          <p:cNvPr id="47" name="Shape 41"/>
          <p:cNvSpPr/>
          <p:nvPr/>
        </p:nvSpPr>
        <p:spPr>
          <a:xfrm>
            <a:off x="9939528" y="3515868"/>
            <a:ext cx="320040" cy="0"/>
          </a:xfrm>
          <a:prstGeom prst="line">
            <a:avLst/>
          </a:prstGeom>
          <a:noFill/>
          <a:ln w="31750">
            <a:solidFill>
              <a:srgbClr val="EFA135"/>
            </a:solidFill>
            <a:prstDash val="solid"/>
            <a:tailEnd type="triangle"/>
          </a:ln>
        </p:spPr>
      </p:sp>
      <p:sp>
        <p:nvSpPr>
          <p:cNvPr id="48" name="Text 42"/>
          <p:cNvSpPr/>
          <p:nvPr/>
        </p:nvSpPr>
        <p:spPr>
          <a:xfrm>
            <a:off x="6309360" y="4654296"/>
            <a:ext cx="4828032" cy="256032"/>
          </a:xfrm>
          <a:prstGeom prst="rect">
            <a:avLst/>
          </a:prstGeom>
          <a:noFill/>
          <a:ln/>
        </p:spPr>
        <p:txBody>
          <a:bodyPr wrap="square" lIns="0" tIns="0" rIns="0" bIns="0" rtlCol="0" anchor="ctr"/>
          <a:lstStyle/>
          <a:p>
            <a:pPr indent="0" marL="0">
              <a:buNone/>
            </a:pPr>
            <a:r>
              <a:rPr lang="en-US" sz="1050" b="1" spc="100" kern="0" dirty="0">
                <a:solidFill>
                  <a:srgbClr val="0E7C72"/>
                </a:solidFill>
                <a:latin typeface="Arial" pitchFamily="34" charset="0"/>
                <a:ea typeface="Arial" pitchFamily="34" charset="-122"/>
                <a:cs typeface="Arial" pitchFamily="34" charset="-120"/>
              </a:rPr>
              <a:t>RECONSTRUCT → EMBEDDING</a:t>
            </a:r>
            <a:endParaRPr lang="en-US" sz="1050" dirty="0"/>
          </a:p>
        </p:txBody>
      </p:sp>
      <p:sp>
        <p:nvSpPr>
          <p:cNvPr id="49" name="Shape 43"/>
          <p:cNvSpPr/>
          <p:nvPr/>
        </p:nvSpPr>
        <p:spPr>
          <a:xfrm>
            <a:off x="6309360" y="4983480"/>
            <a:ext cx="219456" cy="219456"/>
          </a:xfrm>
          <a:prstGeom prst="roundRect">
            <a:avLst>
              <a:gd name="adj" fmla="val 12500"/>
            </a:avLst>
          </a:prstGeom>
          <a:solidFill>
            <a:srgbClr val="1EB6A6"/>
          </a:solidFill>
          <a:ln/>
        </p:spPr>
      </p:sp>
      <p:sp>
        <p:nvSpPr>
          <p:cNvPr id="50" name="Shape 44"/>
          <p:cNvSpPr/>
          <p:nvPr/>
        </p:nvSpPr>
        <p:spPr>
          <a:xfrm>
            <a:off x="6565392" y="4983480"/>
            <a:ext cx="219456" cy="219456"/>
          </a:xfrm>
          <a:prstGeom prst="roundRect">
            <a:avLst>
              <a:gd name="adj" fmla="val 12500"/>
            </a:avLst>
          </a:prstGeom>
          <a:solidFill>
            <a:srgbClr val="16A99A"/>
          </a:solidFill>
          <a:ln/>
        </p:spPr>
      </p:sp>
      <p:sp>
        <p:nvSpPr>
          <p:cNvPr id="51" name="Shape 45"/>
          <p:cNvSpPr/>
          <p:nvPr/>
        </p:nvSpPr>
        <p:spPr>
          <a:xfrm>
            <a:off x="6821424" y="4983480"/>
            <a:ext cx="219456" cy="219456"/>
          </a:xfrm>
          <a:prstGeom prst="roundRect">
            <a:avLst>
              <a:gd name="adj" fmla="val 12500"/>
            </a:avLst>
          </a:prstGeom>
          <a:solidFill>
            <a:srgbClr val="12968B"/>
          </a:solidFill>
          <a:ln/>
        </p:spPr>
      </p:sp>
      <p:sp>
        <p:nvSpPr>
          <p:cNvPr id="52" name="Shape 46"/>
          <p:cNvSpPr/>
          <p:nvPr/>
        </p:nvSpPr>
        <p:spPr>
          <a:xfrm>
            <a:off x="7077456" y="4983480"/>
            <a:ext cx="219456" cy="219456"/>
          </a:xfrm>
          <a:prstGeom prst="roundRect">
            <a:avLst>
              <a:gd name="adj" fmla="val 12500"/>
            </a:avLst>
          </a:prstGeom>
          <a:solidFill>
            <a:srgbClr val="2BC2B2"/>
          </a:solidFill>
          <a:ln/>
        </p:spPr>
      </p:sp>
      <p:sp>
        <p:nvSpPr>
          <p:cNvPr id="53" name="Shape 47"/>
          <p:cNvSpPr/>
          <p:nvPr/>
        </p:nvSpPr>
        <p:spPr>
          <a:xfrm>
            <a:off x="7333488" y="4983480"/>
            <a:ext cx="219456" cy="219456"/>
          </a:xfrm>
          <a:prstGeom prst="roundRect">
            <a:avLst>
              <a:gd name="adj" fmla="val 12500"/>
            </a:avLst>
          </a:prstGeom>
          <a:solidFill>
            <a:srgbClr val="1EB6A6"/>
          </a:solidFill>
          <a:ln/>
        </p:spPr>
      </p:sp>
      <p:sp>
        <p:nvSpPr>
          <p:cNvPr id="54" name="Shape 48"/>
          <p:cNvSpPr/>
          <p:nvPr/>
        </p:nvSpPr>
        <p:spPr>
          <a:xfrm>
            <a:off x="6309360" y="5239512"/>
            <a:ext cx="219456" cy="219456"/>
          </a:xfrm>
          <a:prstGeom prst="roundRect">
            <a:avLst>
              <a:gd name="adj" fmla="val 12500"/>
            </a:avLst>
          </a:prstGeom>
          <a:solidFill>
            <a:srgbClr val="16A99A"/>
          </a:solidFill>
          <a:ln/>
        </p:spPr>
      </p:sp>
      <p:sp>
        <p:nvSpPr>
          <p:cNvPr id="55" name="Shape 49"/>
          <p:cNvSpPr/>
          <p:nvPr/>
        </p:nvSpPr>
        <p:spPr>
          <a:xfrm>
            <a:off x="6565392" y="5239512"/>
            <a:ext cx="219456" cy="219456"/>
          </a:xfrm>
          <a:prstGeom prst="roundRect">
            <a:avLst>
              <a:gd name="adj" fmla="val 12500"/>
            </a:avLst>
          </a:prstGeom>
          <a:solidFill>
            <a:srgbClr val="12968B"/>
          </a:solidFill>
          <a:ln/>
        </p:spPr>
      </p:sp>
      <p:sp>
        <p:nvSpPr>
          <p:cNvPr id="56" name="Shape 50"/>
          <p:cNvSpPr/>
          <p:nvPr/>
        </p:nvSpPr>
        <p:spPr>
          <a:xfrm>
            <a:off x="6821424" y="5239512"/>
            <a:ext cx="219456" cy="219456"/>
          </a:xfrm>
          <a:prstGeom prst="roundRect">
            <a:avLst>
              <a:gd name="adj" fmla="val 12500"/>
            </a:avLst>
          </a:prstGeom>
          <a:solidFill>
            <a:srgbClr val="2BC2B2"/>
          </a:solidFill>
          <a:ln/>
        </p:spPr>
      </p:sp>
      <p:sp>
        <p:nvSpPr>
          <p:cNvPr id="57" name="Shape 51"/>
          <p:cNvSpPr/>
          <p:nvPr/>
        </p:nvSpPr>
        <p:spPr>
          <a:xfrm>
            <a:off x="7077456" y="5239512"/>
            <a:ext cx="219456" cy="219456"/>
          </a:xfrm>
          <a:prstGeom prst="roundRect">
            <a:avLst>
              <a:gd name="adj" fmla="val 12500"/>
            </a:avLst>
          </a:prstGeom>
          <a:solidFill>
            <a:srgbClr val="1EB6A6"/>
          </a:solidFill>
          <a:ln/>
        </p:spPr>
      </p:sp>
      <p:sp>
        <p:nvSpPr>
          <p:cNvPr id="58" name="Shape 52"/>
          <p:cNvSpPr/>
          <p:nvPr/>
        </p:nvSpPr>
        <p:spPr>
          <a:xfrm>
            <a:off x="7333488" y="5239512"/>
            <a:ext cx="219456" cy="219456"/>
          </a:xfrm>
          <a:prstGeom prst="roundRect">
            <a:avLst>
              <a:gd name="adj" fmla="val 12500"/>
            </a:avLst>
          </a:prstGeom>
          <a:solidFill>
            <a:srgbClr val="16A99A"/>
          </a:solidFill>
          <a:ln/>
        </p:spPr>
      </p:sp>
      <p:sp>
        <p:nvSpPr>
          <p:cNvPr id="59" name="Shape 53"/>
          <p:cNvSpPr/>
          <p:nvPr/>
        </p:nvSpPr>
        <p:spPr>
          <a:xfrm>
            <a:off x="6309360" y="5495544"/>
            <a:ext cx="219456" cy="219456"/>
          </a:xfrm>
          <a:prstGeom prst="roundRect">
            <a:avLst>
              <a:gd name="adj" fmla="val 12500"/>
            </a:avLst>
          </a:prstGeom>
          <a:solidFill>
            <a:srgbClr val="12968B"/>
          </a:solidFill>
          <a:ln/>
        </p:spPr>
      </p:sp>
      <p:sp>
        <p:nvSpPr>
          <p:cNvPr id="60" name="Shape 54"/>
          <p:cNvSpPr/>
          <p:nvPr/>
        </p:nvSpPr>
        <p:spPr>
          <a:xfrm>
            <a:off x="6565392" y="5495544"/>
            <a:ext cx="219456" cy="219456"/>
          </a:xfrm>
          <a:prstGeom prst="roundRect">
            <a:avLst>
              <a:gd name="adj" fmla="val 12500"/>
            </a:avLst>
          </a:prstGeom>
          <a:solidFill>
            <a:srgbClr val="2BC2B2"/>
          </a:solidFill>
          <a:ln/>
        </p:spPr>
      </p:sp>
      <p:sp>
        <p:nvSpPr>
          <p:cNvPr id="61" name="Shape 55"/>
          <p:cNvSpPr/>
          <p:nvPr/>
        </p:nvSpPr>
        <p:spPr>
          <a:xfrm>
            <a:off x="6821424" y="5495544"/>
            <a:ext cx="219456" cy="219456"/>
          </a:xfrm>
          <a:prstGeom prst="roundRect">
            <a:avLst>
              <a:gd name="adj" fmla="val 12500"/>
            </a:avLst>
          </a:prstGeom>
          <a:solidFill>
            <a:srgbClr val="1EB6A6"/>
          </a:solidFill>
          <a:ln/>
        </p:spPr>
      </p:sp>
      <p:sp>
        <p:nvSpPr>
          <p:cNvPr id="62" name="Shape 56"/>
          <p:cNvSpPr/>
          <p:nvPr/>
        </p:nvSpPr>
        <p:spPr>
          <a:xfrm>
            <a:off x="7077456" y="5495544"/>
            <a:ext cx="219456" cy="219456"/>
          </a:xfrm>
          <a:prstGeom prst="roundRect">
            <a:avLst>
              <a:gd name="adj" fmla="val 12500"/>
            </a:avLst>
          </a:prstGeom>
          <a:solidFill>
            <a:srgbClr val="16A99A"/>
          </a:solidFill>
          <a:ln/>
        </p:spPr>
      </p:sp>
      <p:sp>
        <p:nvSpPr>
          <p:cNvPr id="63" name="Shape 57"/>
          <p:cNvSpPr/>
          <p:nvPr/>
        </p:nvSpPr>
        <p:spPr>
          <a:xfrm>
            <a:off x="7333488" y="5495544"/>
            <a:ext cx="219456" cy="219456"/>
          </a:xfrm>
          <a:prstGeom prst="roundRect">
            <a:avLst>
              <a:gd name="adj" fmla="val 12500"/>
            </a:avLst>
          </a:prstGeom>
          <a:solidFill>
            <a:srgbClr val="12968B"/>
          </a:solidFill>
          <a:ln/>
        </p:spPr>
      </p:sp>
      <p:sp>
        <p:nvSpPr>
          <p:cNvPr id="64" name="Shape 58"/>
          <p:cNvSpPr/>
          <p:nvPr/>
        </p:nvSpPr>
        <p:spPr>
          <a:xfrm>
            <a:off x="6309360" y="5751576"/>
            <a:ext cx="219456" cy="219456"/>
          </a:xfrm>
          <a:prstGeom prst="roundRect">
            <a:avLst>
              <a:gd name="adj" fmla="val 12500"/>
            </a:avLst>
          </a:prstGeom>
          <a:solidFill>
            <a:srgbClr val="2BC2B2"/>
          </a:solidFill>
          <a:ln/>
        </p:spPr>
      </p:sp>
      <p:sp>
        <p:nvSpPr>
          <p:cNvPr id="65" name="Shape 59"/>
          <p:cNvSpPr/>
          <p:nvPr/>
        </p:nvSpPr>
        <p:spPr>
          <a:xfrm>
            <a:off x="6565392" y="5751576"/>
            <a:ext cx="219456" cy="219456"/>
          </a:xfrm>
          <a:prstGeom prst="roundRect">
            <a:avLst>
              <a:gd name="adj" fmla="val 12500"/>
            </a:avLst>
          </a:prstGeom>
          <a:solidFill>
            <a:srgbClr val="1EB6A6"/>
          </a:solidFill>
          <a:ln/>
        </p:spPr>
      </p:sp>
      <p:sp>
        <p:nvSpPr>
          <p:cNvPr id="66" name="Shape 60"/>
          <p:cNvSpPr/>
          <p:nvPr/>
        </p:nvSpPr>
        <p:spPr>
          <a:xfrm>
            <a:off x="6821424" y="5751576"/>
            <a:ext cx="219456" cy="219456"/>
          </a:xfrm>
          <a:prstGeom prst="roundRect">
            <a:avLst>
              <a:gd name="adj" fmla="val 12500"/>
            </a:avLst>
          </a:prstGeom>
          <a:solidFill>
            <a:srgbClr val="16A99A"/>
          </a:solidFill>
          <a:ln/>
        </p:spPr>
      </p:sp>
      <p:sp>
        <p:nvSpPr>
          <p:cNvPr id="67" name="Shape 61"/>
          <p:cNvSpPr/>
          <p:nvPr/>
        </p:nvSpPr>
        <p:spPr>
          <a:xfrm>
            <a:off x="7077456" y="5751576"/>
            <a:ext cx="219456" cy="219456"/>
          </a:xfrm>
          <a:prstGeom prst="roundRect">
            <a:avLst>
              <a:gd name="adj" fmla="val 12500"/>
            </a:avLst>
          </a:prstGeom>
          <a:solidFill>
            <a:srgbClr val="12968B"/>
          </a:solidFill>
          <a:ln/>
        </p:spPr>
      </p:sp>
      <p:sp>
        <p:nvSpPr>
          <p:cNvPr id="68" name="Shape 62"/>
          <p:cNvSpPr/>
          <p:nvPr/>
        </p:nvSpPr>
        <p:spPr>
          <a:xfrm>
            <a:off x="7333488" y="5751576"/>
            <a:ext cx="219456" cy="219456"/>
          </a:xfrm>
          <a:prstGeom prst="roundRect">
            <a:avLst>
              <a:gd name="adj" fmla="val 12500"/>
            </a:avLst>
          </a:prstGeom>
          <a:solidFill>
            <a:srgbClr val="2BC2B2"/>
          </a:solidFill>
          <a:ln/>
        </p:spPr>
      </p:sp>
      <p:sp>
        <p:nvSpPr>
          <p:cNvPr id="69" name="Text 63"/>
          <p:cNvSpPr/>
          <p:nvPr/>
        </p:nvSpPr>
        <p:spPr>
          <a:xfrm>
            <a:off x="8988552" y="4745736"/>
            <a:ext cx="2240280" cy="1005840"/>
          </a:xfrm>
          <a:prstGeom prst="rect">
            <a:avLst/>
          </a:prstGeom>
          <a:noFill/>
          <a:ln/>
        </p:spPr>
        <p:txBody>
          <a:bodyPr wrap="square" lIns="0" tIns="0" rIns="0" bIns="0" rtlCol="0" anchor="t"/>
          <a:lstStyle/>
          <a:p>
            <a:pPr indent="0" marL="0">
              <a:lnSpc>
                <a:spcPct val="112000"/>
              </a:lnSpc>
              <a:buNone/>
            </a:pPr>
            <a:r>
              <a:rPr lang="en-US" sz="1150" i="1" dirty="0">
                <a:solidFill>
                  <a:srgbClr val="5E7184"/>
                </a:solidFill>
                <a:latin typeface="Arial" pitchFamily="34" charset="0"/>
                <a:ea typeface="Arial" pitchFamily="34" charset="-122"/>
                <a:cs typeface="Arial" pitchFamily="34" charset="-120"/>
              </a:rPr>
              <a:t>~ 65% of patches</a:t>
            </a:r>
            <a:endParaRPr lang="en-US" sz="1150" dirty="0"/>
          </a:p>
          <a:p>
            <a:pPr indent="0" marL="0">
              <a:lnSpc>
                <a:spcPct val="112000"/>
              </a:lnSpc>
              <a:buNone/>
            </a:pPr>
            <a:r>
              <a:rPr lang="en-US" sz="1150" i="1" dirty="0">
                <a:solidFill>
                  <a:srgbClr val="5E7184"/>
                </a:solidFill>
                <a:latin typeface="Arial" pitchFamily="34" charset="0"/>
                <a:ea typeface="Arial" pitchFamily="34" charset="-122"/>
                <a:cs typeface="Arial" pitchFamily="34" charset="-120"/>
              </a:rPr>
              <a:t>masked during</a:t>
            </a:r>
            <a:endParaRPr lang="en-US" sz="1150" dirty="0"/>
          </a:p>
          <a:p>
            <a:pPr indent="0" marL="0">
              <a:lnSpc>
                <a:spcPct val="112000"/>
              </a:lnSpc>
              <a:buNone/>
            </a:pPr>
            <a:r>
              <a:rPr lang="en-US" sz="1150" i="1" dirty="0">
                <a:solidFill>
                  <a:srgbClr val="5E7184"/>
                </a:solidFill>
                <a:latin typeface="Arial" pitchFamily="34" charset="0"/>
                <a:ea typeface="Arial" pitchFamily="34" charset="-122"/>
                <a:cs typeface="Arial" pitchFamily="34" charset="-120"/>
              </a:rPr>
              <a:t>pretraining</a:t>
            </a:r>
            <a:endParaRPr lang="en-US" sz="1150" dirty="0"/>
          </a:p>
        </p:txBody>
      </p:sp>
      <p:sp>
        <p:nvSpPr>
          <p:cNvPr id="70" name="Text 64"/>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5E7184"/>
                </a:solidFill>
                <a:latin typeface="Arial" pitchFamily="34" charset="0"/>
                <a:ea typeface="Arial" pitchFamily="34" charset="-122"/>
                <a:cs typeface="Arial" pitchFamily="34" charset="-120"/>
              </a:rPr>
              <a:t>08</a:t>
            </a:r>
            <a:endParaRPr lang="en-US" sz="1000" dirty="0"/>
          </a:p>
        </p:txBody>
      </p:sp>
      <p:sp>
        <p:nvSpPr>
          <p:cNvPr id="71" name="Text 65"/>
          <p:cNvSpPr/>
          <p:nvPr/>
        </p:nvSpPr>
        <p:spPr>
          <a:xfrm>
            <a:off x="640080" y="6400800"/>
            <a:ext cx="3200400" cy="274320"/>
          </a:xfrm>
          <a:prstGeom prst="rect">
            <a:avLst/>
          </a:prstGeom>
          <a:noFill/>
          <a:ln/>
        </p:spPr>
        <p:txBody>
          <a:bodyPr wrap="square" lIns="0" tIns="0" rIns="0" bIns="0" rtlCol="0" anchor="ctr"/>
          <a:lstStyle/>
          <a:p>
            <a:pPr algn="l" indent="0" marL="0">
              <a:buNone/>
            </a:pPr>
            <a:r>
              <a:rPr lang="en-US" sz="1000" dirty="0">
                <a:solidFill>
                  <a:srgbClr val="5E7184"/>
                </a:solidFill>
                <a:latin typeface="Arial" pitchFamily="34" charset="0"/>
                <a:ea typeface="Arial" pitchFamily="34" charset="-122"/>
                <a:cs typeface="Arial" pitchFamily="34" charset="-120"/>
              </a:rPr>
              <a:t>BurstMAE-MIL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640080" y="475488"/>
            <a:ext cx="10789920" cy="274320"/>
          </a:xfrm>
          <a:prstGeom prst="rect">
            <a:avLst/>
          </a:prstGeom>
          <a:noFill/>
          <a:ln/>
        </p:spPr>
        <p:txBody>
          <a:bodyPr wrap="square" lIns="0" tIns="0" rIns="0" bIns="0" rtlCol="0" anchor="ctr"/>
          <a:lstStyle/>
          <a:p>
            <a:pPr algn="l" indent="0" marL="0">
              <a:buNone/>
            </a:pPr>
            <a:r>
              <a:rPr lang="en-US" sz="1250" b="1" spc="300" kern="0" dirty="0">
                <a:solidFill>
                  <a:srgbClr val="16A99A"/>
                </a:solidFill>
                <a:latin typeface="Arial" pitchFamily="34" charset="0"/>
                <a:ea typeface="Arial" pitchFamily="34" charset="-122"/>
                <a:cs typeface="Arial" pitchFamily="34" charset="-120"/>
              </a:rPr>
              <a:t>METHOD · STEP 3</a:t>
            </a:r>
            <a:endParaRPr lang="en-US" sz="1250" dirty="0"/>
          </a:p>
        </p:txBody>
      </p:sp>
      <p:sp>
        <p:nvSpPr>
          <p:cNvPr id="3" name="Text 1"/>
          <p:cNvSpPr/>
          <p:nvPr/>
        </p:nvSpPr>
        <p:spPr>
          <a:xfrm>
            <a:off x="640080" y="749808"/>
            <a:ext cx="10881360" cy="777240"/>
          </a:xfrm>
          <a:prstGeom prst="rect">
            <a:avLst/>
          </a:prstGeom>
          <a:noFill/>
          <a:ln/>
        </p:spPr>
        <p:txBody>
          <a:bodyPr wrap="square" lIns="0" tIns="0" rIns="0" bIns="0" rtlCol="0" anchor="ctr"/>
          <a:lstStyle/>
          <a:p>
            <a:pPr algn="l" indent="0" marL="0">
              <a:lnSpc>
                <a:spcPct val="100000"/>
              </a:lnSpc>
              <a:buNone/>
            </a:pPr>
            <a:r>
              <a:rPr lang="en-US" sz="3000" b="1" dirty="0">
                <a:solidFill>
                  <a:srgbClr val="16293B"/>
                </a:solidFill>
                <a:latin typeface="Georgia" pitchFamily="34" charset="0"/>
                <a:ea typeface="Georgia" pitchFamily="34" charset="-122"/>
                <a:cs typeface="Georgia" pitchFamily="34" charset="-120"/>
              </a:rPr>
              <a:t>Attention–based multiple instance learning</a:t>
            </a:r>
            <a:endParaRPr lang="en-US" sz="3000" dirty="0"/>
          </a:p>
        </p:txBody>
      </p:sp>
      <p:sp>
        <p:nvSpPr>
          <p:cNvPr id="4" name="Shape 2"/>
          <p:cNvSpPr/>
          <p:nvPr/>
        </p:nvSpPr>
        <p:spPr>
          <a:xfrm>
            <a:off x="640080" y="1874520"/>
            <a:ext cx="566928" cy="566928"/>
          </a:xfrm>
          <a:prstGeom prst="ellipse">
            <a:avLst/>
          </a:prstGeom>
          <a:solidFill>
            <a:srgbClr val="16A99A"/>
          </a:solidFill>
          <a:ln/>
          <a:effectLst>
            <a:outerShdw sx="100000" sy="100000" kx="0" ky="0" algn="bl" rotWithShape="0" blurRad="76200" dist="25400" dir="5400000">
              <a:srgbClr val="0A1622">
                <a:alpha val="18000"/>
              </a:srgbClr>
            </a:outerShdw>
          </a:effectLst>
        </p:spPr>
      </p:sp>
      <p:pic>
        <p:nvPicPr>
          <p:cNvPr id="5" name="Image 0" descr="preencoded.png">    </p:cNvPr>
          <p:cNvPicPr>
            <a:picLocks noChangeAspect="1"/>
          </p:cNvPicPr>
          <p:nvPr/>
        </p:nvPicPr>
        <p:blipFill>
          <a:blip r:embed="rId1"/>
          <a:stretch>
            <a:fillRect/>
          </a:stretch>
        </p:blipFill>
        <p:spPr>
          <a:xfrm>
            <a:off x="804489" y="2038929"/>
            <a:ext cx="238110" cy="238110"/>
          </a:xfrm>
          <a:prstGeom prst="rect">
            <a:avLst/>
          </a:prstGeom>
        </p:spPr>
      </p:pic>
      <p:sp>
        <p:nvSpPr>
          <p:cNvPr id="6" name="Text 3"/>
          <p:cNvSpPr/>
          <p:nvPr/>
        </p:nvSpPr>
        <p:spPr>
          <a:xfrm>
            <a:off x="1417320" y="1847088"/>
            <a:ext cx="4297680" cy="310896"/>
          </a:xfrm>
          <a:prstGeom prst="rect">
            <a:avLst/>
          </a:prstGeom>
          <a:noFill/>
          <a:ln/>
        </p:spPr>
        <p:txBody>
          <a:bodyPr wrap="square" lIns="0" tIns="0" rIns="0" bIns="0" rtlCol="0" anchor="ctr"/>
          <a:lstStyle/>
          <a:p>
            <a:pPr indent="0" marL="0">
              <a:buNone/>
            </a:pPr>
            <a:r>
              <a:rPr lang="en-US" sz="1550" b="1" dirty="0">
                <a:solidFill>
                  <a:srgbClr val="16293B"/>
                </a:solidFill>
                <a:latin typeface="Arial" pitchFamily="34" charset="0"/>
                <a:ea typeface="Arial" pitchFamily="34" charset="-122"/>
                <a:cs typeface="Arial" pitchFamily="34" charset="-120"/>
              </a:rPr>
              <a:t>Recording = bag of bursts</a:t>
            </a:r>
            <a:endParaRPr lang="en-US" sz="1550" dirty="0"/>
          </a:p>
        </p:txBody>
      </p:sp>
      <p:sp>
        <p:nvSpPr>
          <p:cNvPr id="7" name="Text 4"/>
          <p:cNvSpPr/>
          <p:nvPr/>
        </p:nvSpPr>
        <p:spPr>
          <a:xfrm>
            <a:off x="1417320" y="2157984"/>
            <a:ext cx="4389120" cy="566928"/>
          </a:xfrm>
          <a:prstGeom prst="rect">
            <a:avLst/>
          </a:prstGeom>
          <a:noFill/>
          <a:ln/>
        </p:spPr>
        <p:txBody>
          <a:bodyPr wrap="square" lIns="0" tIns="0" rIns="0" bIns="0" rtlCol="0" anchor="ctr"/>
          <a:lstStyle/>
          <a:p>
            <a:pPr indent="0" marL="0">
              <a:lnSpc>
                <a:spcPct val="104000"/>
              </a:lnSpc>
              <a:buNone/>
            </a:pPr>
            <a:r>
              <a:rPr lang="en-US" sz="1200" dirty="0">
                <a:solidFill>
                  <a:srgbClr val="5E7184"/>
                </a:solidFill>
                <a:latin typeface="Arial" pitchFamily="34" charset="0"/>
                <a:ea typeface="Arial" pitchFamily="34" charset="-122"/>
                <a:cs typeface="Arial" pitchFamily="34" charset="-120"/>
              </a:rPr>
              <a:t>Each AE file is a set of burst–level embeddings.</a:t>
            </a:r>
            <a:endParaRPr lang="en-US" sz="1200" dirty="0"/>
          </a:p>
        </p:txBody>
      </p:sp>
      <p:sp>
        <p:nvSpPr>
          <p:cNvPr id="8" name="Shape 5"/>
          <p:cNvSpPr/>
          <p:nvPr/>
        </p:nvSpPr>
        <p:spPr>
          <a:xfrm>
            <a:off x="640080" y="2825496"/>
            <a:ext cx="566928" cy="566928"/>
          </a:xfrm>
          <a:prstGeom prst="ellipse">
            <a:avLst/>
          </a:prstGeom>
          <a:solidFill>
            <a:srgbClr val="EFA135"/>
          </a:solidFill>
          <a:ln/>
          <a:effectLst>
            <a:outerShdw sx="100000" sy="100000" kx="0" ky="0" algn="bl" rotWithShape="0" blurRad="76200" dist="25400" dir="5400000">
              <a:srgbClr val="0A1622">
                <a:alpha val="18000"/>
              </a:srgbClr>
            </a:outerShdw>
          </a:effectLst>
        </p:spPr>
      </p:sp>
      <p:pic>
        <p:nvPicPr>
          <p:cNvPr id="9" name="Image 1" descr="preencoded.png">    </p:cNvPr>
          <p:cNvPicPr>
            <a:picLocks noChangeAspect="1"/>
          </p:cNvPicPr>
          <p:nvPr/>
        </p:nvPicPr>
        <p:blipFill>
          <a:blip r:embed="rId2"/>
          <a:stretch>
            <a:fillRect/>
          </a:stretch>
        </p:blipFill>
        <p:spPr>
          <a:xfrm>
            <a:off x="804489" y="2989905"/>
            <a:ext cx="238110" cy="238110"/>
          </a:xfrm>
          <a:prstGeom prst="rect">
            <a:avLst/>
          </a:prstGeom>
        </p:spPr>
      </p:pic>
      <p:sp>
        <p:nvSpPr>
          <p:cNvPr id="10" name="Text 6"/>
          <p:cNvSpPr/>
          <p:nvPr/>
        </p:nvSpPr>
        <p:spPr>
          <a:xfrm>
            <a:off x="1417320" y="2798064"/>
            <a:ext cx="4297680" cy="310896"/>
          </a:xfrm>
          <a:prstGeom prst="rect">
            <a:avLst/>
          </a:prstGeom>
          <a:noFill/>
          <a:ln/>
        </p:spPr>
        <p:txBody>
          <a:bodyPr wrap="square" lIns="0" tIns="0" rIns="0" bIns="0" rtlCol="0" anchor="ctr"/>
          <a:lstStyle/>
          <a:p>
            <a:pPr indent="0" marL="0">
              <a:buNone/>
            </a:pPr>
            <a:r>
              <a:rPr lang="en-US" sz="1550" b="1" dirty="0">
                <a:solidFill>
                  <a:srgbClr val="16293B"/>
                </a:solidFill>
                <a:latin typeface="Arial" pitchFamily="34" charset="0"/>
                <a:ea typeface="Arial" pitchFamily="34" charset="-122"/>
                <a:cs typeface="Arial" pitchFamily="34" charset="-120"/>
              </a:rPr>
              <a:t>Learnable attention</a:t>
            </a:r>
            <a:endParaRPr lang="en-US" sz="1550" dirty="0"/>
          </a:p>
        </p:txBody>
      </p:sp>
      <p:sp>
        <p:nvSpPr>
          <p:cNvPr id="11" name="Text 7"/>
          <p:cNvSpPr/>
          <p:nvPr/>
        </p:nvSpPr>
        <p:spPr>
          <a:xfrm>
            <a:off x="1417320" y="3108960"/>
            <a:ext cx="4389120" cy="566928"/>
          </a:xfrm>
          <a:prstGeom prst="rect">
            <a:avLst/>
          </a:prstGeom>
          <a:noFill/>
          <a:ln/>
        </p:spPr>
        <p:txBody>
          <a:bodyPr wrap="square" lIns="0" tIns="0" rIns="0" bIns="0" rtlCol="0" anchor="ctr"/>
          <a:lstStyle/>
          <a:p>
            <a:pPr indent="0" marL="0">
              <a:lnSpc>
                <a:spcPct val="104000"/>
              </a:lnSpc>
              <a:buNone/>
            </a:pPr>
            <a:r>
              <a:rPr lang="en-US" sz="1200" dirty="0">
                <a:solidFill>
                  <a:srgbClr val="5E7184"/>
                </a:solidFill>
                <a:latin typeface="Arial" pitchFamily="34" charset="0"/>
                <a:ea typeface="Arial" pitchFamily="34" charset="-122"/>
                <a:cs typeface="Arial" pitchFamily="34" charset="-120"/>
              </a:rPr>
              <a:t>Weights rank how diagnostic each burst is.</a:t>
            </a:r>
            <a:endParaRPr lang="en-US" sz="1200" dirty="0"/>
          </a:p>
        </p:txBody>
      </p:sp>
      <p:sp>
        <p:nvSpPr>
          <p:cNvPr id="12" name="Shape 8"/>
          <p:cNvSpPr/>
          <p:nvPr/>
        </p:nvSpPr>
        <p:spPr>
          <a:xfrm>
            <a:off x="640080" y="3776472"/>
            <a:ext cx="566928" cy="566928"/>
          </a:xfrm>
          <a:prstGeom prst="ellipse">
            <a:avLst/>
          </a:prstGeom>
          <a:solidFill>
            <a:srgbClr val="16A99A"/>
          </a:solidFill>
          <a:ln/>
          <a:effectLst>
            <a:outerShdw sx="100000" sy="100000" kx="0" ky="0" algn="bl" rotWithShape="0" blurRad="76200" dist="25400" dir="5400000">
              <a:srgbClr val="0A1622">
                <a:alpha val="18000"/>
              </a:srgbClr>
            </a:outerShdw>
          </a:effectLst>
        </p:spPr>
      </p:sp>
      <p:pic>
        <p:nvPicPr>
          <p:cNvPr id="13" name="Image 2" descr="preencoded.png">    </p:cNvPr>
          <p:cNvPicPr>
            <a:picLocks noChangeAspect="1"/>
          </p:cNvPicPr>
          <p:nvPr/>
        </p:nvPicPr>
        <p:blipFill>
          <a:blip r:embed="rId3"/>
          <a:stretch>
            <a:fillRect/>
          </a:stretch>
        </p:blipFill>
        <p:spPr>
          <a:xfrm>
            <a:off x="804489" y="3940881"/>
            <a:ext cx="238110" cy="238110"/>
          </a:xfrm>
          <a:prstGeom prst="rect">
            <a:avLst/>
          </a:prstGeom>
        </p:spPr>
      </p:pic>
      <p:sp>
        <p:nvSpPr>
          <p:cNvPr id="14" name="Text 9"/>
          <p:cNvSpPr/>
          <p:nvPr/>
        </p:nvSpPr>
        <p:spPr>
          <a:xfrm>
            <a:off x="1417320" y="3749040"/>
            <a:ext cx="4297680" cy="310896"/>
          </a:xfrm>
          <a:prstGeom prst="rect">
            <a:avLst/>
          </a:prstGeom>
          <a:noFill/>
          <a:ln/>
        </p:spPr>
        <p:txBody>
          <a:bodyPr wrap="square" lIns="0" tIns="0" rIns="0" bIns="0" rtlCol="0" anchor="ctr"/>
          <a:lstStyle/>
          <a:p>
            <a:pPr indent="0" marL="0">
              <a:buNone/>
            </a:pPr>
            <a:r>
              <a:rPr lang="en-US" sz="1550" b="1" dirty="0">
                <a:solidFill>
                  <a:srgbClr val="16293B"/>
                </a:solidFill>
                <a:latin typeface="Arial" pitchFamily="34" charset="0"/>
                <a:ea typeface="Arial" pitchFamily="34" charset="-122"/>
                <a:cs typeface="Arial" pitchFamily="34" charset="-120"/>
              </a:rPr>
              <a:t>Selective emphasis</a:t>
            </a:r>
            <a:endParaRPr lang="en-US" sz="1550" dirty="0"/>
          </a:p>
        </p:txBody>
      </p:sp>
      <p:sp>
        <p:nvSpPr>
          <p:cNvPr id="15" name="Text 10"/>
          <p:cNvSpPr/>
          <p:nvPr/>
        </p:nvSpPr>
        <p:spPr>
          <a:xfrm>
            <a:off x="1417320" y="4059936"/>
            <a:ext cx="4389120" cy="566928"/>
          </a:xfrm>
          <a:prstGeom prst="rect">
            <a:avLst/>
          </a:prstGeom>
          <a:noFill/>
          <a:ln/>
        </p:spPr>
        <p:txBody>
          <a:bodyPr wrap="square" lIns="0" tIns="0" rIns="0" bIns="0" rtlCol="0" anchor="ctr"/>
          <a:lstStyle/>
          <a:p>
            <a:pPr indent="0" marL="0">
              <a:lnSpc>
                <a:spcPct val="104000"/>
              </a:lnSpc>
              <a:buNone/>
            </a:pPr>
            <a:r>
              <a:rPr lang="en-US" sz="1200" dirty="0">
                <a:solidFill>
                  <a:srgbClr val="5E7184"/>
                </a:solidFill>
                <a:latin typeface="Arial" pitchFamily="34" charset="0"/>
                <a:ea typeface="Arial" pitchFamily="34" charset="-122"/>
                <a:cs typeface="Arial" pitchFamily="34" charset="-120"/>
              </a:rPr>
              <a:t>Fault–relevant bursts amplified; background suppressed.</a:t>
            </a:r>
            <a:endParaRPr lang="en-US" sz="1200" dirty="0"/>
          </a:p>
        </p:txBody>
      </p:sp>
      <p:sp>
        <p:nvSpPr>
          <p:cNvPr id="16" name="Shape 11"/>
          <p:cNvSpPr/>
          <p:nvPr/>
        </p:nvSpPr>
        <p:spPr>
          <a:xfrm>
            <a:off x="640080" y="4727448"/>
            <a:ext cx="566928" cy="566928"/>
          </a:xfrm>
          <a:prstGeom prst="ellipse">
            <a:avLst/>
          </a:prstGeom>
          <a:solidFill>
            <a:srgbClr val="16A99A"/>
          </a:solidFill>
          <a:ln/>
          <a:effectLst>
            <a:outerShdw sx="100000" sy="100000" kx="0" ky="0" algn="bl" rotWithShape="0" blurRad="76200" dist="25400" dir="5400000">
              <a:srgbClr val="0A1622">
                <a:alpha val="18000"/>
              </a:srgbClr>
            </a:outerShdw>
          </a:effectLst>
        </p:spPr>
      </p:sp>
      <p:pic>
        <p:nvPicPr>
          <p:cNvPr id="17" name="Image 3" descr="preencoded.png">    </p:cNvPr>
          <p:cNvPicPr>
            <a:picLocks noChangeAspect="1"/>
          </p:cNvPicPr>
          <p:nvPr/>
        </p:nvPicPr>
        <p:blipFill>
          <a:blip r:embed="rId4"/>
          <a:stretch>
            <a:fillRect/>
          </a:stretch>
        </p:blipFill>
        <p:spPr>
          <a:xfrm>
            <a:off x="804489" y="4891857"/>
            <a:ext cx="238110" cy="238110"/>
          </a:xfrm>
          <a:prstGeom prst="rect">
            <a:avLst/>
          </a:prstGeom>
        </p:spPr>
      </p:pic>
      <p:sp>
        <p:nvSpPr>
          <p:cNvPr id="18" name="Text 12"/>
          <p:cNvSpPr/>
          <p:nvPr/>
        </p:nvSpPr>
        <p:spPr>
          <a:xfrm>
            <a:off x="1417320" y="4700016"/>
            <a:ext cx="4297680" cy="310896"/>
          </a:xfrm>
          <a:prstGeom prst="rect">
            <a:avLst/>
          </a:prstGeom>
          <a:noFill/>
          <a:ln/>
        </p:spPr>
        <p:txBody>
          <a:bodyPr wrap="square" lIns="0" tIns="0" rIns="0" bIns="0" rtlCol="0" anchor="ctr"/>
          <a:lstStyle/>
          <a:p>
            <a:pPr indent="0" marL="0">
              <a:buNone/>
            </a:pPr>
            <a:r>
              <a:rPr lang="en-US" sz="1550" b="1" dirty="0">
                <a:solidFill>
                  <a:srgbClr val="16293B"/>
                </a:solidFill>
                <a:latin typeface="Arial" pitchFamily="34" charset="0"/>
                <a:ea typeface="Arial" pitchFamily="34" charset="-122"/>
                <a:cs typeface="Arial" pitchFamily="34" charset="-120"/>
              </a:rPr>
              <a:t>Recording–level label only</a:t>
            </a:r>
            <a:endParaRPr lang="en-US" sz="1550" dirty="0"/>
          </a:p>
        </p:txBody>
      </p:sp>
      <p:sp>
        <p:nvSpPr>
          <p:cNvPr id="19" name="Text 13"/>
          <p:cNvSpPr/>
          <p:nvPr/>
        </p:nvSpPr>
        <p:spPr>
          <a:xfrm>
            <a:off x="1417320" y="5010912"/>
            <a:ext cx="4389120" cy="566928"/>
          </a:xfrm>
          <a:prstGeom prst="rect">
            <a:avLst/>
          </a:prstGeom>
          <a:noFill/>
          <a:ln/>
        </p:spPr>
        <p:txBody>
          <a:bodyPr wrap="square" lIns="0" tIns="0" rIns="0" bIns="0" rtlCol="0" anchor="ctr"/>
          <a:lstStyle/>
          <a:p>
            <a:pPr indent="0" marL="0">
              <a:lnSpc>
                <a:spcPct val="104000"/>
              </a:lnSpc>
              <a:buNone/>
            </a:pPr>
            <a:r>
              <a:rPr lang="en-US" sz="1200" dirty="0">
                <a:solidFill>
                  <a:srgbClr val="5E7184"/>
                </a:solidFill>
                <a:latin typeface="Arial" pitchFamily="34" charset="0"/>
                <a:ea typeface="Arial" pitchFamily="34" charset="-122"/>
                <a:cs typeface="Arial" pitchFamily="34" charset="-120"/>
              </a:rPr>
              <a:t>No burst annotations — weakly supervised.</a:t>
            </a:r>
            <a:endParaRPr lang="en-US" sz="1200" dirty="0"/>
          </a:p>
        </p:txBody>
      </p:sp>
      <p:sp>
        <p:nvSpPr>
          <p:cNvPr id="20" name="Shape 14"/>
          <p:cNvSpPr/>
          <p:nvPr/>
        </p:nvSpPr>
        <p:spPr>
          <a:xfrm>
            <a:off x="5897880" y="1783080"/>
            <a:ext cx="5650992" cy="4251960"/>
          </a:xfrm>
          <a:prstGeom prst="roundRect">
            <a:avLst>
              <a:gd name="adj" fmla="val 2151"/>
            </a:avLst>
          </a:prstGeom>
          <a:solidFill>
            <a:srgbClr val="FFFFFF"/>
          </a:solidFill>
          <a:ln w="12700">
            <a:solidFill>
              <a:srgbClr val="DCE4EA"/>
            </a:solidFill>
            <a:prstDash val="solid"/>
          </a:ln>
          <a:effectLst>
            <a:outerShdw sx="100000" sy="100000" kx="0" ky="0" algn="bl" rotWithShape="0" blurRad="114300" dist="38100" dir="5400000">
              <a:srgbClr val="0A1622">
                <a:alpha val="13000"/>
              </a:srgbClr>
            </a:outerShdw>
          </a:effectLst>
        </p:spPr>
      </p:sp>
      <p:sp>
        <p:nvSpPr>
          <p:cNvPr id="21" name="Text 15"/>
          <p:cNvSpPr/>
          <p:nvPr/>
        </p:nvSpPr>
        <p:spPr>
          <a:xfrm>
            <a:off x="6263640" y="2103120"/>
            <a:ext cx="4919472" cy="274320"/>
          </a:xfrm>
          <a:prstGeom prst="rect">
            <a:avLst/>
          </a:prstGeom>
          <a:noFill/>
          <a:ln/>
        </p:spPr>
        <p:txBody>
          <a:bodyPr wrap="square" lIns="0" tIns="0" rIns="0" bIns="0" rtlCol="0" anchor="ctr"/>
          <a:lstStyle/>
          <a:p>
            <a:pPr indent="0" marL="0">
              <a:buNone/>
            </a:pPr>
            <a:r>
              <a:rPr lang="en-US" sz="1050" b="1" spc="100" kern="0" dirty="0">
                <a:solidFill>
                  <a:srgbClr val="5E7184"/>
                </a:solidFill>
                <a:latin typeface="Arial" pitchFamily="34" charset="0"/>
                <a:ea typeface="Arial" pitchFamily="34" charset="-122"/>
                <a:cs typeface="Arial" pitchFamily="34" charset="-120"/>
              </a:rPr>
              <a:t>BURST EMBEDDINGS  (with attention weight)</a:t>
            </a:r>
            <a:endParaRPr lang="en-US" sz="1050" dirty="0"/>
          </a:p>
        </p:txBody>
      </p:sp>
      <p:sp>
        <p:nvSpPr>
          <p:cNvPr id="22" name="Shape 16"/>
          <p:cNvSpPr/>
          <p:nvPr/>
        </p:nvSpPr>
        <p:spPr>
          <a:xfrm>
            <a:off x="6592824" y="2560320"/>
            <a:ext cx="237744" cy="868680"/>
          </a:xfrm>
          <a:prstGeom prst="roundRect">
            <a:avLst>
              <a:gd name="adj" fmla="val 11538"/>
            </a:avLst>
          </a:prstGeom>
          <a:solidFill>
            <a:srgbClr val="EEF2F5"/>
          </a:solidFill>
          <a:ln/>
        </p:spPr>
      </p:sp>
      <p:sp>
        <p:nvSpPr>
          <p:cNvPr id="23" name="Shape 17"/>
          <p:cNvSpPr/>
          <p:nvPr/>
        </p:nvSpPr>
        <p:spPr>
          <a:xfrm>
            <a:off x="6592824" y="3102102"/>
            <a:ext cx="237744" cy="326898"/>
          </a:xfrm>
          <a:prstGeom prst="roundRect">
            <a:avLst>
              <a:gd name="adj" fmla="val 11538"/>
            </a:avLst>
          </a:prstGeom>
          <a:solidFill>
            <a:srgbClr val="16A99A"/>
          </a:solidFill>
          <a:ln/>
        </p:spPr>
      </p:sp>
      <p:sp>
        <p:nvSpPr>
          <p:cNvPr id="24" name="Shape 18"/>
          <p:cNvSpPr/>
          <p:nvPr/>
        </p:nvSpPr>
        <p:spPr>
          <a:xfrm>
            <a:off x="6473952" y="3593592"/>
            <a:ext cx="475488" cy="475488"/>
          </a:xfrm>
          <a:prstGeom prst="roundRect">
            <a:avLst>
              <a:gd name="adj" fmla="val 11538"/>
            </a:avLst>
          </a:prstGeom>
          <a:solidFill>
            <a:srgbClr val="16A99A"/>
          </a:solidFill>
          <a:ln w="12700">
            <a:solidFill>
              <a:srgbClr val="0E7C72"/>
            </a:solidFill>
            <a:prstDash val="solid"/>
          </a:ln>
        </p:spPr>
      </p:sp>
      <p:sp>
        <p:nvSpPr>
          <p:cNvPr id="25" name="Text 19"/>
          <p:cNvSpPr/>
          <p:nvPr/>
        </p:nvSpPr>
        <p:spPr>
          <a:xfrm>
            <a:off x="6473952" y="3593592"/>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h1</a:t>
            </a:r>
            <a:endParaRPr lang="en-US" sz="1100" dirty="0"/>
          </a:p>
        </p:txBody>
      </p:sp>
      <p:sp>
        <p:nvSpPr>
          <p:cNvPr id="26" name="Shape 20"/>
          <p:cNvSpPr/>
          <p:nvPr/>
        </p:nvSpPr>
        <p:spPr>
          <a:xfrm>
            <a:off x="7397496" y="2560320"/>
            <a:ext cx="237744" cy="868680"/>
          </a:xfrm>
          <a:prstGeom prst="roundRect">
            <a:avLst>
              <a:gd name="adj" fmla="val 11538"/>
            </a:avLst>
          </a:prstGeom>
          <a:solidFill>
            <a:srgbClr val="EEF2F5"/>
          </a:solidFill>
          <a:ln/>
        </p:spPr>
      </p:sp>
      <p:sp>
        <p:nvSpPr>
          <p:cNvPr id="27" name="Shape 21"/>
          <p:cNvSpPr/>
          <p:nvPr/>
        </p:nvSpPr>
        <p:spPr>
          <a:xfrm>
            <a:off x="7397496" y="2537460"/>
            <a:ext cx="237744" cy="891540"/>
          </a:xfrm>
          <a:prstGeom prst="roundRect">
            <a:avLst>
              <a:gd name="adj" fmla="val 11538"/>
            </a:avLst>
          </a:prstGeom>
          <a:solidFill>
            <a:srgbClr val="EFA135"/>
          </a:solidFill>
          <a:ln/>
        </p:spPr>
      </p:sp>
      <p:sp>
        <p:nvSpPr>
          <p:cNvPr id="28" name="Shape 22"/>
          <p:cNvSpPr/>
          <p:nvPr/>
        </p:nvSpPr>
        <p:spPr>
          <a:xfrm>
            <a:off x="7278624" y="3593592"/>
            <a:ext cx="475488" cy="475488"/>
          </a:xfrm>
          <a:prstGeom prst="roundRect">
            <a:avLst>
              <a:gd name="adj" fmla="val 11538"/>
            </a:avLst>
          </a:prstGeom>
          <a:solidFill>
            <a:srgbClr val="EFA135"/>
          </a:solidFill>
          <a:ln w="12700">
            <a:solidFill>
              <a:srgbClr val="C9821F"/>
            </a:solidFill>
            <a:prstDash val="solid"/>
          </a:ln>
        </p:spPr>
      </p:sp>
      <p:sp>
        <p:nvSpPr>
          <p:cNvPr id="29" name="Text 23"/>
          <p:cNvSpPr/>
          <p:nvPr/>
        </p:nvSpPr>
        <p:spPr>
          <a:xfrm>
            <a:off x="7278624" y="3593592"/>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h2</a:t>
            </a:r>
            <a:endParaRPr lang="en-US" sz="1100" dirty="0"/>
          </a:p>
        </p:txBody>
      </p:sp>
      <p:sp>
        <p:nvSpPr>
          <p:cNvPr id="30" name="Shape 24"/>
          <p:cNvSpPr/>
          <p:nvPr/>
        </p:nvSpPr>
        <p:spPr>
          <a:xfrm>
            <a:off x="8202168" y="2560320"/>
            <a:ext cx="237744" cy="868680"/>
          </a:xfrm>
          <a:prstGeom prst="roundRect">
            <a:avLst>
              <a:gd name="adj" fmla="val 11538"/>
            </a:avLst>
          </a:prstGeom>
          <a:solidFill>
            <a:srgbClr val="EEF2F5"/>
          </a:solidFill>
          <a:ln/>
        </p:spPr>
      </p:sp>
      <p:sp>
        <p:nvSpPr>
          <p:cNvPr id="31" name="Shape 25"/>
          <p:cNvSpPr/>
          <p:nvPr/>
        </p:nvSpPr>
        <p:spPr>
          <a:xfrm>
            <a:off x="8202168" y="2971800"/>
            <a:ext cx="237744" cy="457200"/>
          </a:xfrm>
          <a:prstGeom prst="roundRect">
            <a:avLst>
              <a:gd name="adj" fmla="val 11538"/>
            </a:avLst>
          </a:prstGeom>
          <a:solidFill>
            <a:srgbClr val="16A99A"/>
          </a:solidFill>
          <a:ln/>
        </p:spPr>
      </p:sp>
      <p:sp>
        <p:nvSpPr>
          <p:cNvPr id="32" name="Shape 26"/>
          <p:cNvSpPr/>
          <p:nvPr/>
        </p:nvSpPr>
        <p:spPr>
          <a:xfrm>
            <a:off x="8083296" y="3593592"/>
            <a:ext cx="475488" cy="475488"/>
          </a:xfrm>
          <a:prstGeom prst="roundRect">
            <a:avLst>
              <a:gd name="adj" fmla="val 11538"/>
            </a:avLst>
          </a:prstGeom>
          <a:solidFill>
            <a:srgbClr val="16A99A"/>
          </a:solidFill>
          <a:ln w="12700">
            <a:solidFill>
              <a:srgbClr val="0E7C72"/>
            </a:solidFill>
            <a:prstDash val="solid"/>
          </a:ln>
        </p:spPr>
      </p:sp>
      <p:sp>
        <p:nvSpPr>
          <p:cNvPr id="33" name="Text 27"/>
          <p:cNvSpPr/>
          <p:nvPr/>
        </p:nvSpPr>
        <p:spPr>
          <a:xfrm>
            <a:off x="8083296" y="3593592"/>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h3</a:t>
            </a:r>
            <a:endParaRPr lang="en-US" sz="1100" dirty="0"/>
          </a:p>
        </p:txBody>
      </p:sp>
      <p:sp>
        <p:nvSpPr>
          <p:cNvPr id="34" name="Shape 28"/>
          <p:cNvSpPr/>
          <p:nvPr/>
        </p:nvSpPr>
        <p:spPr>
          <a:xfrm>
            <a:off x="9006840" y="2560320"/>
            <a:ext cx="237744" cy="868680"/>
          </a:xfrm>
          <a:prstGeom prst="roundRect">
            <a:avLst>
              <a:gd name="adj" fmla="val 11538"/>
            </a:avLst>
          </a:prstGeom>
          <a:solidFill>
            <a:srgbClr val="EEF2F5"/>
          </a:solidFill>
          <a:ln/>
        </p:spPr>
      </p:sp>
      <p:sp>
        <p:nvSpPr>
          <p:cNvPr id="35" name="Shape 29"/>
          <p:cNvSpPr/>
          <p:nvPr/>
        </p:nvSpPr>
        <p:spPr>
          <a:xfrm>
            <a:off x="9006840" y="2711196"/>
            <a:ext cx="237744" cy="717804"/>
          </a:xfrm>
          <a:prstGeom prst="roundRect">
            <a:avLst>
              <a:gd name="adj" fmla="val 11538"/>
            </a:avLst>
          </a:prstGeom>
          <a:solidFill>
            <a:srgbClr val="EFA135"/>
          </a:solidFill>
          <a:ln/>
        </p:spPr>
      </p:sp>
      <p:sp>
        <p:nvSpPr>
          <p:cNvPr id="36" name="Shape 30"/>
          <p:cNvSpPr/>
          <p:nvPr/>
        </p:nvSpPr>
        <p:spPr>
          <a:xfrm>
            <a:off x="8887968" y="3593592"/>
            <a:ext cx="475488" cy="475488"/>
          </a:xfrm>
          <a:prstGeom prst="roundRect">
            <a:avLst>
              <a:gd name="adj" fmla="val 11538"/>
            </a:avLst>
          </a:prstGeom>
          <a:solidFill>
            <a:srgbClr val="EFA135"/>
          </a:solidFill>
          <a:ln w="12700">
            <a:solidFill>
              <a:srgbClr val="C9821F"/>
            </a:solidFill>
            <a:prstDash val="solid"/>
          </a:ln>
        </p:spPr>
      </p:sp>
      <p:sp>
        <p:nvSpPr>
          <p:cNvPr id="37" name="Text 31"/>
          <p:cNvSpPr/>
          <p:nvPr/>
        </p:nvSpPr>
        <p:spPr>
          <a:xfrm>
            <a:off x="8887968" y="3593592"/>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h4</a:t>
            </a:r>
            <a:endParaRPr lang="en-US" sz="1100" dirty="0"/>
          </a:p>
        </p:txBody>
      </p:sp>
      <p:sp>
        <p:nvSpPr>
          <p:cNvPr id="38" name="Shape 32"/>
          <p:cNvSpPr/>
          <p:nvPr/>
        </p:nvSpPr>
        <p:spPr>
          <a:xfrm>
            <a:off x="9811512" y="2560320"/>
            <a:ext cx="237744" cy="868680"/>
          </a:xfrm>
          <a:prstGeom prst="roundRect">
            <a:avLst>
              <a:gd name="adj" fmla="val 11538"/>
            </a:avLst>
          </a:prstGeom>
          <a:solidFill>
            <a:srgbClr val="EEF2F5"/>
          </a:solidFill>
          <a:ln/>
        </p:spPr>
      </p:sp>
      <p:sp>
        <p:nvSpPr>
          <p:cNvPr id="39" name="Shape 33"/>
          <p:cNvSpPr/>
          <p:nvPr/>
        </p:nvSpPr>
        <p:spPr>
          <a:xfrm>
            <a:off x="9811512" y="3188970"/>
            <a:ext cx="237744" cy="240030"/>
          </a:xfrm>
          <a:prstGeom prst="roundRect">
            <a:avLst>
              <a:gd name="adj" fmla="val 11538"/>
            </a:avLst>
          </a:prstGeom>
          <a:solidFill>
            <a:srgbClr val="16A99A"/>
          </a:solidFill>
          <a:ln/>
        </p:spPr>
      </p:sp>
      <p:sp>
        <p:nvSpPr>
          <p:cNvPr id="40" name="Shape 34"/>
          <p:cNvSpPr/>
          <p:nvPr/>
        </p:nvSpPr>
        <p:spPr>
          <a:xfrm>
            <a:off x="9692640" y="3593592"/>
            <a:ext cx="475488" cy="475488"/>
          </a:xfrm>
          <a:prstGeom prst="roundRect">
            <a:avLst>
              <a:gd name="adj" fmla="val 11538"/>
            </a:avLst>
          </a:prstGeom>
          <a:solidFill>
            <a:srgbClr val="16A99A"/>
          </a:solidFill>
          <a:ln w="12700">
            <a:solidFill>
              <a:srgbClr val="0E7C72"/>
            </a:solidFill>
            <a:prstDash val="solid"/>
          </a:ln>
        </p:spPr>
      </p:sp>
      <p:sp>
        <p:nvSpPr>
          <p:cNvPr id="41" name="Text 35"/>
          <p:cNvSpPr/>
          <p:nvPr/>
        </p:nvSpPr>
        <p:spPr>
          <a:xfrm>
            <a:off x="9692640" y="3593592"/>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h5</a:t>
            </a:r>
            <a:endParaRPr lang="en-US" sz="1100" dirty="0"/>
          </a:p>
        </p:txBody>
      </p:sp>
      <p:sp>
        <p:nvSpPr>
          <p:cNvPr id="42" name="Shape 36"/>
          <p:cNvSpPr/>
          <p:nvPr/>
        </p:nvSpPr>
        <p:spPr>
          <a:xfrm>
            <a:off x="10616184" y="2560320"/>
            <a:ext cx="237744" cy="868680"/>
          </a:xfrm>
          <a:prstGeom prst="roundRect">
            <a:avLst>
              <a:gd name="adj" fmla="val 11538"/>
            </a:avLst>
          </a:prstGeom>
          <a:solidFill>
            <a:srgbClr val="EEF2F5"/>
          </a:solidFill>
          <a:ln/>
        </p:spPr>
      </p:sp>
      <p:sp>
        <p:nvSpPr>
          <p:cNvPr id="43" name="Shape 37"/>
          <p:cNvSpPr/>
          <p:nvPr/>
        </p:nvSpPr>
        <p:spPr>
          <a:xfrm>
            <a:off x="10616184" y="2841498"/>
            <a:ext cx="237744" cy="587502"/>
          </a:xfrm>
          <a:prstGeom prst="roundRect">
            <a:avLst>
              <a:gd name="adj" fmla="val 11538"/>
            </a:avLst>
          </a:prstGeom>
          <a:solidFill>
            <a:srgbClr val="16A99A"/>
          </a:solidFill>
          <a:ln/>
        </p:spPr>
      </p:sp>
      <p:sp>
        <p:nvSpPr>
          <p:cNvPr id="44" name="Shape 38"/>
          <p:cNvSpPr/>
          <p:nvPr/>
        </p:nvSpPr>
        <p:spPr>
          <a:xfrm>
            <a:off x="10497312" y="3593592"/>
            <a:ext cx="475488" cy="475488"/>
          </a:xfrm>
          <a:prstGeom prst="roundRect">
            <a:avLst>
              <a:gd name="adj" fmla="val 11538"/>
            </a:avLst>
          </a:prstGeom>
          <a:solidFill>
            <a:srgbClr val="16A99A"/>
          </a:solidFill>
          <a:ln w="12700">
            <a:solidFill>
              <a:srgbClr val="0E7C72"/>
            </a:solidFill>
            <a:prstDash val="solid"/>
          </a:ln>
        </p:spPr>
      </p:sp>
      <p:sp>
        <p:nvSpPr>
          <p:cNvPr id="45" name="Text 39"/>
          <p:cNvSpPr/>
          <p:nvPr/>
        </p:nvSpPr>
        <p:spPr>
          <a:xfrm>
            <a:off x="10497312" y="3593592"/>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h6</a:t>
            </a:r>
            <a:endParaRPr lang="en-US" sz="1100" dirty="0"/>
          </a:p>
        </p:txBody>
      </p:sp>
      <p:sp>
        <p:nvSpPr>
          <p:cNvPr id="46" name="Shape 40"/>
          <p:cNvSpPr/>
          <p:nvPr/>
        </p:nvSpPr>
        <p:spPr>
          <a:xfrm>
            <a:off x="7488936" y="4480560"/>
            <a:ext cx="2468880" cy="548640"/>
          </a:xfrm>
          <a:prstGeom prst="roundRect">
            <a:avLst>
              <a:gd name="adj" fmla="val 50000"/>
            </a:avLst>
          </a:prstGeom>
          <a:solidFill>
            <a:srgbClr val="0C1A2B"/>
          </a:solidFill>
          <a:ln/>
          <a:effectLst>
            <a:outerShdw sx="100000" sy="100000" kx="0" ky="0" algn="bl" rotWithShape="0" blurRad="88900" dist="25400" dir="5400000">
              <a:srgbClr val="22303C">
                <a:alpha val="10000"/>
              </a:srgbClr>
            </a:outerShdw>
          </a:effectLst>
        </p:spPr>
      </p:sp>
      <p:sp>
        <p:nvSpPr>
          <p:cNvPr id="47" name="Text 41"/>
          <p:cNvSpPr/>
          <p:nvPr/>
        </p:nvSpPr>
        <p:spPr>
          <a:xfrm>
            <a:off x="7488936" y="4480560"/>
            <a:ext cx="246888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Attention pooling</a:t>
            </a:r>
            <a:endParaRPr lang="en-US" sz="1300" dirty="0"/>
          </a:p>
        </p:txBody>
      </p:sp>
      <p:sp>
        <p:nvSpPr>
          <p:cNvPr id="48" name="Shape 42"/>
          <p:cNvSpPr/>
          <p:nvPr/>
        </p:nvSpPr>
        <p:spPr>
          <a:xfrm>
            <a:off x="7516368" y="4105656"/>
            <a:ext cx="1207008" cy="338328"/>
          </a:xfrm>
          <a:prstGeom prst="line">
            <a:avLst/>
          </a:prstGeom>
          <a:noFill/>
          <a:ln w="15875">
            <a:solidFill>
              <a:srgbClr val="DCE4EA"/>
            </a:solidFill>
            <a:prstDash val="solid"/>
            <a:tailEnd type="triangle"/>
          </a:ln>
        </p:spPr>
      </p:sp>
      <p:sp>
        <p:nvSpPr>
          <p:cNvPr id="49" name="Shape 43"/>
          <p:cNvSpPr/>
          <p:nvPr/>
        </p:nvSpPr>
        <p:spPr>
          <a:xfrm>
            <a:off x="9125712" y="4105656"/>
            <a:ext cx="-402336" cy="338328"/>
          </a:xfrm>
          <a:prstGeom prst="line">
            <a:avLst/>
          </a:prstGeom>
          <a:noFill/>
          <a:ln w="15875">
            <a:solidFill>
              <a:srgbClr val="DCE4EA"/>
            </a:solidFill>
            <a:prstDash val="solid"/>
            <a:tailEnd type="triangle"/>
          </a:ln>
        </p:spPr>
      </p:sp>
      <p:sp>
        <p:nvSpPr>
          <p:cNvPr id="50" name="Shape 44"/>
          <p:cNvSpPr/>
          <p:nvPr/>
        </p:nvSpPr>
        <p:spPr>
          <a:xfrm>
            <a:off x="8723376" y="5047488"/>
            <a:ext cx="0" cy="292608"/>
          </a:xfrm>
          <a:prstGeom prst="line">
            <a:avLst/>
          </a:prstGeom>
          <a:noFill/>
          <a:ln w="31750">
            <a:solidFill>
              <a:srgbClr val="EFA135"/>
            </a:solidFill>
            <a:prstDash val="solid"/>
            <a:tailEnd type="triangle"/>
          </a:ln>
        </p:spPr>
      </p:sp>
      <p:sp>
        <p:nvSpPr>
          <p:cNvPr id="51" name="Shape 45"/>
          <p:cNvSpPr/>
          <p:nvPr/>
        </p:nvSpPr>
        <p:spPr>
          <a:xfrm>
            <a:off x="6455664" y="5394960"/>
            <a:ext cx="914400" cy="502920"/>
          </a:xfrm>
          <a:prstGeom prst="roundRect">
            <a:avLst>
              <a:gd name="adj" fmla="val 14545"/>
            </a:avLst>
          </a:prstGeom>
          <a:solidFill>
            <a:srgbClr val="EEF3F6"/>
          </a:solidFill>
          <a:ln w="12700">
            <a:solidFill>
              <a:srgbClr val="DCE4EA"/>
            </a:solidFill>
            <a:prstDash val="solid"/>
          </a:ln>
        </p:spPr>
      </p:sp>
      <p:sp>
        <p:nvSpPr>
          <p:cNvPr id="52" name="Text 46"/>
          <p:cNvSpPr/>
          <p:nvPr/>
        </p:nvSpPr>
        <p:spPr>
          <a:xfrm>
            <a:off x="6455664" y="5394960"/>
            <a:ext cx="914400" cy="502920"/>
          </a:xfrm>
          <a:prstGeom prst="rect">
            <a:avLst/>
          </a:prstGeom>
          <a:noFill/>
          <a:ln/>
        </p:spPr>
        <p:txBody>
          <a:bodyPr wrap="square" lIns="0" tIns="0" rIns="0" bIns="0" rtlCol="0" anchor="ctr"/>
          <a:lstStyle/>
          <a:p>
            <a:pPr algn="ctr" indent="0" marL="0">
              <a:buNone/>
            </a:pPr>
            <a:r>
              <a:rPr lang="en-US" sz="1400" b="1" dirty="0">
                <a:solidFill>
                  <a:srgbClr val="26394C"/>
                </a:solidFill>
                <a:latin typeface="Arial" pitchFamily="34" charset="0"/>
                <a:ea typeface="Arial" pitchFamily="34" charset="-122"/>
                <a:cs typeface="Arial" pitchFamily="34" charset="-120"/>
              </a:rPr>
              <a:t>BF</a:t>
            </a:r>
            <a:endParaRPr lang="en-US" sz="1400" dirty="0"/>
          </a:p>
        </p:txBody>
      </p:sp>
      <p:sp>
        <p:nvSpPr>
          <p:cNvPr id="53" name="Shape 47"/>
          <p:cNvSpPr/>
          <p:nvPr/>
        </p:nvSpPr>
        <p:spPr>
          <a:xfrm>
            <a:off x="7662672" y="5394960"/>
            <a:ext cx="914400" cy="502920"/>
          </a:xfrm>
          <a:prstGeom prst="roundRect">
            <a:avLst>
              <a:gd name="adj" fmla="val 14545"/>
            </a:avLst>
          </a:prstGeom>
          <a:solidFill>
            <a:srgbClr val="16A99A"/>
          </a:solidFill>
          <a:ln w="12700">
            <a:solidFill>
              <a:srgbClr val="0E7C72"/>
            </a:solidFill>
            <a:prstDash val="solid"/>
          </a:ln>
        </p:spPr>
      </p:sp>
      <p:sp>
        <p:nvSpPr>
          <p:cNvPr id="54" name="Text 48"/>
          <p:cNvSpPr/>
          <p:nvPr/>
        </p:nvSpPr>
        <p:spPr>
          <a:xfrm>
            <a:off x="7662672" y="5394960"/>
            <a:ext cx="91440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GF</a:t>
            </a:r>
            <a:endParaRPr lang="en-US" sz="1400" dirty="0"/>
          </a:p>
        </p:txBody>
      </p:sp>
      <p:sp>
        <p:nvSpPr>
          <p:cNvPr id="55" name="Shape 49"/>
          <p:cNvSpPr/>
          <p:nvPr/>
        </p:nvSpPr>
        <p:spPr>
          <a:xfrm>
            <a:off x="8869680" y="5394960"/>
            <a:ext cx="914400" cy="502920"/>
          </a:xfrm>
          <a:prstGeom prst="roundRect">
            <a:avLst>
              <a:gd name="adj" fmla="val 14545"/>
            </a:avLst>
          </a:prstGeom>
          <a:solidFill>
            <a:srgbClr val="EEF3F6"/>
          </a:solidFill>
          <a:ln w="12700">
            <a:solidFill>
              <a:srgbClr val="DCE4EA"/>
            </a:solidFill>
            <a:prstDash val="solid"/>
          </a:ln>
        </p:spPr>
      </p:sp>
      <p:sp>
        <p:nvSpPr>
          <p:cNvPr id="56" name="Text 50"/>
          <p:cNvSpPr/>
          <p:nvPr/>
        </p:nvSpPr>
        <p:spPr>
          <a:xfrm>
            <a:off x="8869680" y="5394960"/>
            <a:ext cx="914400" cy="502920"/>
          </a:xfrm>
          <a:prstGeom prst="rect">
            <a:avLst/>
          </a:prstGeom>
          <a:noFill/>
          <a:ln/>
        </p:spPr>
        <p:txBody>
          <a:bodyPr wrap="square" lIns="0" tIns="0" rIns="0" bIns="0" rtlCol="0" anchor="ctr"/>
          <a:lstStyle/>
          <a:p>
            <a:pPr algn="ctr" indent="0" marL="0">
              <a:buNone/>
            </a:pPr>
            <a:r>
              <a:rPr lang="en-US" sz="1400" b="1" dirty="0">
                <a:solidFill>
                  <a:srgbClr val="26394C"/>
                </a:solidFill>
                <a:latin typeface="Arial" pitchFamily="34" charset="0"/>
                <a:ea typeface="Arial" pitchFamily="34" charset="-122"/>
                <a:cs typeface="Arial" pitchFamily="34" charset="-120"/>
              </a:rPr>
              <a:t>TF</a:t>
            </a:r>
            <a:endParaRPr lang="en-US" sz="1400" dirty="0"/>
          </a:p>
        </p:txBody>
      </p:sp>
      <p:sp>
        <p:nvSpPr>
          <p:cNvPr id="57" name="Shape 51"/>
          <p:cNvSpPr/>
          <p:nvPr/>
        </p:nvSpPr>
        <p:spPr>
          <a:xfrm>
            <a:off x="10076688" y="5394960"/>
            <a:ext cx="914400" cy="502920"/>
          </a:xfrm>
          <a:prstGeom prst="roundRect">
            <a:avLst>
              <a:gd name="adj" fmla="val 14545"/>
            </a:avLst>
          </a:prstGeom>
          <a:solidFill>
            <a:srgbClr val="EEF3F6"/>
          </a:solidFill>
          <a:ln w="12700">
            <a:solidFill>
              <a:srgbClr val="DCE4EA"/>
            </a:solidFill>
            <a:prstDash val="solid"/>
          </a:ln>
        </p:spPr>
      </p:sp>
      <p:sp>
        <p:nvSpPr>
          <p:cNvPr id="58" name="Text 52"/>
          <p:cNvSpPr/>
          <p:nvPr/>
        </p:nvSpPr>
        <p:spPr>
          <a:xfrm>
            <a:off x="10076688" y="5394960"/>
            <a:ext cx="914400" cy="502920"/>
          </a:xfrm>
          <a:prstGeom prst="rect">
            <a:avLst/>
          </a:prstGeom>
          <a:noFill/>
          <a:ln/>
        </p:spPr>
        <p:txBody>
          <a:bodyPr wrap="square" lIns="0" tIns="0" rIns="0" bIns="0" rtlCol="0" anchor="ctr"/>
          <a:lstStyle/>
          <a:p>
            <a:pPr algn="ctr" indent="0" marL="0">
              <a:buNone/>
            </a:pPr>
            <a:r>
              <a:rPr lang="en-US" sz="1400" b="1" dirty="0">
                <a:solidFill>
                  <a:srgbClr val="26394C"/>
                </a:solidFill>
                <a:latin typeface="Arial" pitchFamily="34" charset="0"/>
                <a:ea typeface="Arial" pitchFamily="34" charset="-122"/>
                <a:cs typeface="Arial" pitchFamily="34" charset="-120"/>
              </a:rPr>
              <a:t>N</a:t>
            </a:r>
            <a:endParaRPr lang="en-US" sz="1400" dirty="0"/>
          </a:p>
        </p:txBody>
      </p:sp>
      <p:sp>
        <p:nvSpPr>
          <p:cNvPr id="59" name="Text 53"/>
          <p:cNvSpPr/>
          <p:nvPr/>
        </p:nvSpPr>
        <p:spPr>
          <a:xfrm>
            <a:off x="6263640" y="5961888"/>
            <a:ext cx="4919472" cy="274320"/>
          </a:xfrm>
          <a:prstGeom prst="rect">
            <a:avLst/>
          </a:prstGeom>
          <a:noFill/>
          <a:ln/>
        </p:spPr>
        <p:txBody>
          <a:bodyPr wrap="square" lIns="0" tIns="0" rIns="0" bIns="0" rtlCol="0" anchor="ctr"/>
          <a:lstStyle/>
          <a:p>
            <a:pPr algn="ctr" indent="0" marL="0">
              <a:buNone/>
            </a:pPr>
            <a:r>
              <a:rPr lang="en-US" sz="1100" i="1" dirty="0">
                <a:solidFill>
                  <a:srgbClr val="5E7184"/>
                </a:solidFill>
                <a:latin typeface="Arial" pitchFamily="34" charset="0"/>
                <a:ea typeface="Arial" pitchFamily="34" charset="-122"/>
                <a:cs typeface="Arial" pitchFamily="34" charset="-120"/>
              </a:rPr>
              <a:t>Recording–level prediction</a:t>
            </a:r>
            <a:endParaRPr lang="en-US" sz="1100" dirty="0"/>
          </a:p>
        </p:txBody>
      </p:sp>
      <p:sp>
        <p:nvSpPr>
          <p:cNvPr id="60" name="Text 54"/>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5E7184"/>
                </a:solidFill>
                <a:latin typeface="Arial" pitchFamily="34" charset="0"/>
                <a:ea typeface="Arial" pitchFamily="34" charset="-122"/>
                <a:cs typeface="Arial" pitchFamily="34" charset="-120"/>
              </a:rPr>
              <a:t>09</a:t>
            </a:r>
            <a:endParaRPr lang="en-US" sz="1000" dirty="0"/>
          </a:p>
        </p:txBody>
      </p:sp>
      <p:sp>
        <p:nvSpPr>
          <p:cNvPr id="61" name="Text 55"/>
          <p:cNvSpPr/>
          <p:nvPr/>
        </p:nvSpPr>
        <p:spPr>
          <a:xfrm>
            <a:off x="640080" y="6400800"/>
            <a:ext cx="3200400" cy="274320"/>
          </a:xfrm>
          <a:prstGeom prst="rect">
            <a:avLst/>
          </a:prstGeom>
          <a:noFill/>
          <a:ln/>
        </p:spPr>
        <p:txBody>
          <a:bodyPr wrap="square" lIns="0" tIns="0" rIns="0" bIns="0" rtlCol="0" anchor="ctr"/>
          <a:lstStyle/>
          <a:p>
            <a:pPr algn="l" indent="0" marL="0">
              <a:buNone/>
            </a:pPr>
            <a:r>
              <a:rPr lang="en-US" sz="1000" dirty="0">
                <a:solidFill>
                  <a:srgbClr val="5E7184"/>
                </a:solidFill>
                <a:latin typeface="Arial" pitchFamily="34" charset="0"/>
                <a:ea typeface="Arial" pitchFamily="34" charset="-122"/>
                <a:cs typeface="Arial" pitchFamily="34" charset="-120"/>
              </a:rPr>
              <a:t>BurstMAE-MIL</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640080" y="475488"/>
            <a:ext cx="10789920" cy="274320"/>
          </a:xfrm>
          <a:prstGeom prst="rect">
            <a:avLst/>
          </a:prstGeom>
          <a:noFill/>
          <a:ln/>
        </p:spPr>
        <p:txBody>
          <a:bodyPr wrap="square" lIns="0" tIns="0" rIns="0" bIns="0" rtlCol="0" anchor="ctr"/>
          <a:lstStyle/>
          <a:p>
            <a:pPr algn="l" indent="0" marL="0">
              <a:buNone/>
            </a:pPr>
            <a:r>
              <a:rPr lang="en-US" sz="1250" b="1" spc="300" kern="0" dirty="0">
                <a:solidFill>
                  <a:srgbClr val="16A99A"/>
                </a:solidFill>
                <a:latin typeface="Arial" pitchFamily="34" charset="0"/>
                <a:ea typeface="Arial" pitchFamily="34" charset="-122"/>
                <a:cs typeface="Arial" pitchFamily="34" charset="-120"/>
              </a:rPr>
              <a:t>EXPERIMENTS</a:t>
            </a:r>
            <a:endParaRPr lang="en-US" sz="1250" dirty="0"/>
          </a:p>
        </p:txBody>
      </p:sp>
      <p:sp>
        <p:nvSpPr>
          <p:cNvPr id="3" name="Text 1"/>
          <p:cNvSpPr/>
          <p:nvPr/>
        </p:nvSpPr>
        <p:spPr>
          <a:xfrm>
            <a:off x="640080" y="749808"/>
            <a:ext cx="10881360" cy="777240"/>
          </a:xfrm>
          <a:prstGeom prst="rect">
            <a:avLst/>
          </a:prstGeom>
          <a:noFill/>
          <a:ln/>
        </p:spPr>
        <p:txBody>
          <a:bodyPr wrap="square" lIns="0" tIns="0" rIns="0" bIns="0" rtlCol="0" anchor="ctr"/>
          <a:lstStyle/>
          <a:p>
            <a:pPr algn="l" indent="0" marL="0">
              <a:lnSpc>
                <a:spcPct val="100000"/>
              </a:lnSpc>
              <a:buNone/>
            </a:pPr>
            <a:r>
              <a:rPr lang="en-US" sz="3000" b="1" dirty="0">
                <a:solidFill>
                  <a:srgbClr val="16293B"/>
                </a:solidFill>
                <a:latin typeface="Georgia" pitchFamily="34" charset="0"/>
                <a:ea typeface="Georgia" pitchFamily="34" charset="-122"/>
                <a:cs typeface="Georgia" pitchFamily="34" charset="-120"/>
              </a:rPr>
              <a:t>Setup, sensing &amp; fault conditions</a:t>
            </a:r>
            <a:endParaRPr lang="en-US" sz="3000" dirty="0"/>
          </a:p>
        </p:txBody>
      </p:sp>
      <p:sp>
        <p:nvSpPr>
          <p:cNvPr id="4" name="Shape 2"/>
          <p:cNvSpPr/>
          <p:nvPr/>
        </p:nvSpPr>
        <p:spPr>
          <a:xfrm>
            <a:off x="548640" y="1737360"/>
            <a:ext cx="2766742" cy="3611880"/>
          </a:xfrm>
          <a:prstGeom prst="roundRect">
            <a:avLst>
              <a:gd name="adj" fmla="val 2644"/>
            </a:avLst>
          </a:prstGeom>
          <a:solidFill>
            <a:srgbClr val="FFFFFF"/>
          </a:solidFill>
          <a:ln w="12700">
            <a:solidFill>
              <a:srgbClr val="DCE4EA"/>
            </a:solidFill>
            <a:prstDash val="solid"/>
          </a:ln>
          <a:effectLst>
            <a:outerShdw sx="100000" sy="100000" kx="0" ky="0" algn="bl" rotWithShape="0" blurRad="114300" dist="38100" dir="5400000">
              <a:srgbClr val="0A1622">
                <a:alpha val="16000"/>
              </a:srgbClr>
            </a:outerShdw>
          </a:effectLst>
        </p:spPr>
      </p:sp>
      <p:pic>
        <p:nvPicPr>
          <p:cNvPr id="5" name="Image 0" descr="/home/claude/assets/fig_setup.png">    </p:cNvPr>
          <p:cNvPicPr>
            <a:picLocks noChangeAspect="1"/>
          </p:cNvPicPr>
          <p:nvPr/>
        </p:nvPicPr>
        <p:blipFill>
          <a:blip r:embed="rId1"/>
          <a:stretch>
            <a:fillRect/>
          </a:stretch>
        </p:blipFill>
        <p:spPr>
          <a:xfrm>
            <a:off x="640080" y="1828800"/>
            <a:ext cx="2583862" cy="3429000"/>
          </a:xfrm>
          <a:prstGeom prst="rect">
            <a:avLst/>
          </a:prstGeom>
        </p:spPr>
      </p:pic>
      <p:sp>
        <p:nvSpPr>
          <p:cNvPr id="6" name="Text 3"/>
          <p:cNvSpPr/>
          <p:nvPr/>
        </p:nvSpPr>
        <p:spPr>
          <a:xfrm>
            <a:off x="548640" y="5422392"/>
            <a:ext cx="2949622" cy="292608"/>
          </a:xfrm>
          <a:prstGeom prst="rect">
            <a:avLst/>
          </a:prstGeom>
          <a:noFill/>
          <a:ln/>
        </p:spPr>
        <p:txBody>
          <a:bodyPr wrap="square" lIns="0" tIns="0" rIns="0" bIns="0" rtlCol="0" anchor="ctr"/>
          <a:lstStyle/>
          <a:p>
            <a:pPr indent="0" marL="0">
              <a:buNone/>
            </a:pPr>
            <a:r>
              <a:rPr lang="en-US" sz="1150" b="1" dirty="0">
                <a:solidFill>
                  <a:srgbClr val="26394C"/>
                </a:solidFill>
                <a:latin typeface="Arial" pitchFamily="34" charset="0"/>
                <a:ea typeface="Arial" pitchFamily="34" charset="-122"/>
                <a:cs typeface="Arial" pitchFamily="34" charset="-120"/>
              </a:rPr>
              <a:t>INTER–SIEG X1 Micro Mill Drill</a:t>
            </a:r>
            <a:endParaRPr lang="en-US" sz="1150" dirty="0"/>
          </a:p>
        </p:txBody>
      </p:sp>
      <p:sp>
        <p:nvSpPr>
          <p:cNvPr id="7" name="Text 4"/>
          <p:cNvSpPr/>
          <p:nvPr/>
        </p:nvSpPr>
        <p:spPr>
          <a:xfrm>
            <a:off x="3726862" y="1828800"/>
            <a:ext cx="3246120" cy="274320"/>
          </a:xfrm>
          <a:prstGeom prst="rect">
            <a:avLst/>
          </a:prstGeom>
          <a:noFill/>
          <a:ln/>
        </p:spPr>
        <p:txBody>
          <a:bodyPr wrap="square" lIns="0" tIns="0" rIns="0" bIns="0" rtlCol="0" anchor="ctr"/>
          <a:lstStyle/>
          <a:p>
            <a:pPr indent="0" marL="0">
              <a:buNone/>
            </a:pPr>
            <a:r>
              <a:rPr lang="en-US" sz="1150" b="1" spc="150" kern="0" dirty="0">
                <a:solidFill>
                  <a:srgbClr val="0E7C72"/>
                </a:solidFill>
                <a:latin typeface="Arial" pitchFamily="34" charset="0"/>
                <a:ea typeface="Arial" pitchFamily="34" charset="-122"/>
                <a:cs typeface="Arial" pitchFamily="34" charset="-120"/>
              </a:rPr>
              <a:t>INSTRUMENTATION</a:t>
            </a:r>
            <a:endParaRPr lang="en-US" sz="1150" dirty="0"/>
          </a:p>
        </p:txBody>
      </p:sp>
      <p:sp>
        <p:nvSpPr>
          <p:cNvPr id="8" name="Text 5"/>
          <p:cNvSpPr/>
          <p:nvPr/>
        </p:nvSpPr>
        <p:spPr>
          <a:xfrm>
            <a:off x="3726862" y="2212848"/>
            <a:ext cx="3246120" cy="237744"/>
          </a:xfrm>
          <a:prstGeom prst="rect">
            <a:avLst/>
          </a:prstGeom>
          <a:noFill/>
          <a:ln/>
        </p:spPr>
        <p:txBody>
          <a:bodyPr wrap="square" lIns="0" tIns="0" rIns="0" bIns="0" rtlCol="0" anchor="ctr"/>
          <a:lstStyle/>
          <a:p>
            <a:pPr indent="0" marL="0">
              <a:buNone/>
            </a:pPr>
            <a:r>
              <a:rPr lang="en-US" sz="1100" b="1" dirty="0">
                <a:solidFill>
                  <a:srgbClr val="5E7184"/>
                </a:solidFill>
                <a:latin typeface="Arial" pitchFamily="34" charset="0"/>
                <a:ea typeface="Arial" pitchFamily="34" charset="-122"/>
                <a:cs typeface="Arial" pitchFamily="34" charset="-120"/>
              </a:rPr>
              <a:t>Sensors</a:t>
            </a:r>
            <a:endParaRPr lang="en-US" sz="1100" dirty="0"/>
          </a:p>
        </p:txBody>
      </p:sp>
      <p:sp>
        <p:nvSpPr>
          <p:cNvPr id="9" name="Text 6"/>
          <p:cNvSpPr/>
          <p:nvPr/>
        </p:nvSpPr>
        <p:spPr>
          <a:xfrm>
            <a:off x="3726862" y="2432304"/>
            <a:ext cx="3246120" cy="274320"/>
          </a:xfrm>
          <a:prstGeom prst="rect">
            <a:avLst/>
          </a:prstGeom>
          <a:noFill/>
          <a:ln/>
        </p:spPr>
        <p:txBody>
          <a:bodyPr wrap="square" lIns="0" tIns="0" rIns="0" bIns="0" rtlCol="0" anchor="ctr"/>
          <a:lstStyle/>
          <a:p>
            <a:pPr indent="0" marL="0">
              <a:buNone/>
            </a:pPr>
            <a:r>
              <a:rPr lang="en-US" sz="1350" b="1" dirty="0">
                <a:solidFill>
                  <a:srgbClr val="16293B"/>
                </a:solidFill>
                <a:latin typeface="Arial" pitchFamily="34" charset="0"/>
                <a:ea typeface="Arial" pitchFamily="34" charset="-122"/>
                <a:cs typeface="Arial" pitchFamily="34" charset="-120"/>
              </a:rPr>
              <a:t>2× R15I–AST piezoelectric</a:t>
            </a:r>
            <a:endParaRPr lang="en-US" sz="1350" dirty="0"/>
          </a:p>
        </p:txBody>
      </p:sp>
      <p:sp>
        <p:nvSpPr>
          <p:cNvPr id="10" name="Shape 7"/>
          <p:cNvSpPr/>
          <p:nvPr/>
        </p:nvSpPr>
        <p:spPr>
          <a:xfrm>
            <a:off x="3726862" y="2743200"/>
            <a:ext cx="3246120" cy="0"/>
          </a:xfrm>
          <a:prstGeom prst="line">
            <a:avLst/>
          </a:prstGeom>
          <a:noFill/>
          <a:ln w="9525">
            <a:solidFill>
              <a:srgbClr val="DCE4EA"/>
            </a:solidFill>
            <a:prstDash val="solid"/>
          </a:ln>
        </p:spPr>
      </p:sp>
      <p:sp>
        <p:nvSpPr>
          <p:cNvPr id="11" name="Text 8"/>
          <p:cNvSpPr/>
          <p:nvPr/>
        </p:nvSpPr>
        <p:spPr>
          <a:xfrm>
            <a:off x="3726862" y="2816352"/>
            <a:ext cx="3246120" cy="237744"/>
          </a:xfrm>
          <a:prstGeom prst="rect">
            <a:avLst/>
          </a:prstGeom>
          <a:noFill/>
          <a:ln/>
        </p:spPr>
        <p:txBody>
          <a:bodyPr wrap="square" lIns="0" tIns="0" rIns="0" bIns="0" rtlCol="0" anchor="ctr"/>
          <a:lstStyle/>
          <a:p>
            <a:pPr indent="0" marL="0">
              <a:buNone/>
            </a:pPr>
            <a:r>
              <a:rPr lang="en-US" sz="1100" b="1" dirty="0">
                <a:solidFill>
                  <a:srgbClr val="5E7184"/>
                </a:solidFill>
                <a:latin typeface="Arial" pitchFamily="34" charset="0"/>
                <a:ea typeface="Arial" pitchFamily="34" charset="-122"/>
                <a:cs typeface="Arial" pitchFamily="34" charset="-120"/>
              </a:rPr>
              <a:t>Bandwidth</a:t>
            </a:r>
            <a:endParaRPr lang="en-US" sz="1100" dirty="0"/>
          </a:p>
        </p:txBody>
      </p:sp>
      <p:sp>
        <p:nvSpPr>
          <p:cNvPr id="12" name="Text 9"/>
          <p:cNvSpPr/>
          <p:nvPr/>
        </p:nvSpPr>
        <p:spPr>
          <a:xfrm>
            <a:off x="3726862" y="3035808"/>
            <a:ext cx="3246120" cy="274320"/>
          </a:xfrm>
          <a:prstGeom prst="rect">
            <a:avLst/>
          </a:prstGeom>
          <a:noFill/>
          <a:ln/>
        </p:spPr>
        <p:txBody>
          <a:bodyPr wrap="square" lIns="0" tIns="0" rIns="0" bIns="0" rtlCol="0" anchor="ctr"/>
          <a:lstStyle/>
          <a:p>
            <a:pPr indent="0" marL="0">
              <a:buNone/>
            </a:pPr>
            <a:r>
              <a:rPr lang="en-US" sz="1350" b="1" dirty="0">
                <a:solidFill>
                  <a:srgbClr val="16293B"/>
                </a:solidFill>
                <a:latin typeface="Arial" pitchFamily="34" charset="0"/>
                <a:ea typeface="Arial" pitchFamily="34" charset="-122"/>
                <a:cs typeface="Arial" pitchFamily="34" charset="-120"/>
              </a:rPr>
              <a:t>50–400 kHz, 40 dB preamp</a:t>
            </a:r>
            <a:endParaRPr lang="en-US" sz="1350" dirty="0"/>
          </a:p>
        </p:txBody>
      </p:sp>
      <p:sp>
        <p:nvSpPr>
          <p:cNvPr id="13" name="Shape 10"/>
          <p:cNvSpPr/>
          <p:nvPr/>
        </p:nvSpPr>
        <p:spPr>
          <a:xfrm>
            <a:off x="3726862" y="3346704"/>
            <a:ext cx="3246120" cy="0"/>
          </a:xfrm>
          <a:prstGeom prst="line">
            <a:avLst/>
          </a:prstGeom>
          <a:noFill/>
          <a:ln w="9525">
            <a:solidFill>
              <a:srgbClr val="DCE4EA"/>
            </a:solidFill>
            <a:prstDash val="solid"/>
          </a:ln>
        </p:spPr>
      </p:sp>
      <p:sp>
        <p:nvSpPr>
          <p:cNvPr id="14" name="Text 11"/>
          <p:cNvSpPr/>
          <p:nvPr/>
        </p:nvSpPr>
        <p:spPr>
          <a:xfrm>
            <a:off x="3726862" y="3419856"/>
            <a:ext cx="3246120" cy="237744"/>
          </a:xfrm>
          <a:prstGeom prst="rect">
            <a:avLst/>
          </a:prstGeom>
          <a:noFill/>
          <a:ln/>
        </p:spPr>
        <p:txBody>
          <a:bodyPr wrap="square" lIns="0" tIns="0" rIns="0" bIns="0" rtlCol="0" anchor="ctr"/>
          <a:lstStyle/>
          <a:p>
            <a:pPr indent="0" marL="0">
              <a:buNone/>
            </a:pPr>
            <a:r>
              <a:rPr lang="en-US" sz="1100" b="1" dirty="0">
                <a:solidFill>
                  <a:srgbClr val="5E7184"/>
                </a:solidFill>
                <a:latin typeface="Arial" pitchFamily="34" charset="0"/>
                <a:ea typeface="Arial" pitchFamily="34" charset="-122"/>
                <a:cs typeface="Arial" pitchFamily="34" charset="-120"/>
              </a:rPr>
              <a:t>DAQ</a:t>
            </a:r>
            <a:endParaRPr lang="en-US" sz="1100" dirty="0"/>
          </a:p>
        </p:txBody>
      </p:sp>
      <p:sp>
        <p:nvSpPr>
          <p:cNvPr id="15" name="Text 12"/>
          <p:cNvSpPr/>
          <p:nvPr/>
        </p:nvSpPr>
        <p:spPr>
          <a:xfrm>
            <a:off x="3726862" y="3639312"/>
            <a:ext cx="3246120" cy="274320"/>
          </a:xfrm>
          <a:prstGeom prst="rect">
            <a:avLst/>
          </a:prstGeom>
          <a:noFill/>
          <a:ln/>
        </p:spPr>
        <p:txBody>
          <a:bodyPr wrap="square" lIns="0" tIns="0" rIns="0" bIns="0" rtlCol="0" anchor="ctr"/>
          <a:lstStyle/>
          <a:p>
            <a:pPr indent="0" marL="0">
              <a:buNone/>
            </a:pPr>
            <a:r>
              <a:rPr lang="en-US" sz="1350" b="1" dirty="0">
                <a:solidFill>
                  <a:srgbClr val="16293B"/>
                </a:solidFill>
                <a:latin typeface="Arial" pitchFamily="34" charset="0"/>
                <a:ea typeface="Arial" pitchFamily="34" charset="-122"/>
                <a:cs typeface="Arial" pitchFamily="34" charset="-120"/>
              </a:rPr>
              <a:t>NI–9223 · 1 MS/s · 16–bit</a:t>
            </a:r>
            <a:endParaRPr lang="en-US" sz="1350" dirty="0"/>
          </a:p>
        </p:txBody>
      </p:sp>
      <p:sp>
        <p:nvSpPr>
          <p:cNvPr id="16" name="Shape 13"/>
          <p:cNvSpPr/>
          <p:nvPr/>
        </p:nvSpPr>
        <p:spPr>
          <a:xfrm>
            <a:off x="3726862" y="3950208"/>
            <a:ext cx="3246120" cy="0"/>
          </a:xfrm>
          <a:prstGeom prst="line">
            <a:avLst/>
          </a:prstGeom>
          <a:noFill/>
          <a:ln w="9525">
            <a:solidFill>
              <a:srgbClr val="DCE4EA"/>
            </a:solidFill>
            <a:prstDash val="solid"/>
          </a:ln>
        </p:spPr>
      </p:sp>
      <p:sp>
        <p:nvSpPr>
          <p:cNvPr id="17" name="Text 14"/>
          <p:cNvSpPr/>
          <p:nvPr/>
        </p:nvSpPr>
        <p:spPr>
          <a:xfrm>
            <a:off x="3726862" y="4023360"/>
            <a:ext cx="3246120" cy="237744"/>
          </a:xfrm>
          <a:prstGeom prst="rect">
            <a:avLst/>
          </a:prstGeom>
          <a:noFill/>
          <a:ln/>
        </p:spPr>
        <p:txBody>
          <a:bodyPr wrap="square" lIns="0" tIns="0" rIns="0" bIns="0" rtlCol="0" anchor="ctr"/>
          <a:lstStyle/>
          <a:p>
            <a:pPr indent="0" marL="0">
              <a:buNone/>
            </a:pPr>
            <a:r>
              <a:rPr lang="en-US" sz="1100" b="1" dirty="0">
                <a:solidFill>
                  <a:srgbClr val="5E7184"/>
                </a:solidFill>
                <a:latin typeface="Arial" pitchFamily="34" charset="0"/>
                <a:ea typeface="Arial" pitchFamily="34" charset="-122"/>
                <a:cs typeface="Arial" pitchFamily="34" charset="-120"/>
              </a:rPr>
              <a:t>Material</a:t>
            </a:r>
            <a:endParaRPr lang="en-US" sz="1100" dirty="0"/>
          </a:p>
        </p:txBody>
      </p:sp>
      <p:sp>
        <p:nvSpPr>
          <p:cNvPr id="18" name="Text 15"/>
          <p:cNvSpPr/>
          <p:nvPr/>
        </p:nvSpPr>
        <p:spPr>
          <a:xfrm>
            <a:off x="3726862" y="4242816"/>
            <a:ext cx="3246120" cy="274320"/>
          </a:xfrm>
          <a:prstGeom prst="rect">
            <a:avLst/>
          </a:prstGeom>
          <a:noFill/>
          <a:ln/>
        </p:spPr>
        <p:txBody>
          <a:bodyPr wrap="square" lIns="0" tIns="0" rIns="0" bIns="0" rtlCol="0" anchor="ctr"/>
          <a:lstStyle/>
          <a:p>
            <a:pPr indent="0" marL="0">
              <a:buNone/>
            </a:pPr>
            <a:r>
              <a:rPr lang="en-US" sz="1350" b="1" dirty="0">
                <a:solidFill>
                  <a:srgbClr val="16293B"/>
                </a:solidFill>
                <a:latin typeface="Arial" pitchFamily="34" charset="0"/>
                <a:ea typeface="Arial" pitchFamily="34" charset="-122"/>
                <a:cs typeface="Arial" pitchFamily="34" charset="-120"/>
              </a:rPr>
              <a:t>C45 medium–carbon steel</a:t>
            </a:r>
            <a:endParaRPr lang="en-US" sz="1350" dirty="0"/>
          </a:p>
        </p:txBody>
      </p:sp>
      <p:sp>
        <p:nvSpPr>
          <p:cNvPr id="19" name="Shape 16"/>
          <p:cNvSpPr/>
          <p:nvPr/>
        </p:nvSpPr>
        <p:spPr>
          <a:xfrm>
            <a:off x="3726862" y="4553712"/>
            <a:ext cx="3246120" cy="0"/>
          </a:xfrm>
          <a:prstGeom prst="line">
            <a:avLst/>
          </a:prstGeom>
          <a:noFill/>
          <a:ln w="9525">
            <a:solidFill>
              <a:srgbClr val="DCE4EA"/>
            </a:solidFill>
            <a:prstDash val="solid"/>
          </a:ln>
        </p:spPr>
      </p:sp>
      <p:sp>
        <p:nvSpPr>
          <p:cNvPr id="20" name="Text 17"/>
          <p:cNvSpPr/>
          <p:nvPr/>
        </p:nvSpPr>
        <p:spPr>
          <a:xfrm>
            <a:off x="3726862" y="4626864"/>
            <a:ext cx="3246120" cy="237744"/>
          </a:xfrm>
          <a:prstGeom prst="rect">
            <a:avLst/>
          </a:prstGeom>
          <a:noFill/>
          <a:ln/>
        </p:spPr>
        <p:txBody>
          <a:bodyPr wrap="square" lIns="0" tIns="0" rIns="0" bIns="0" rtlCol="0" anchor="ctr"/>
          <a:lstStyle/>
          <a:p>
            <a:pPr indent="0" marL="0">
              <a:buNone/>
            </a:pPr>
            <a:r>
              <a:rPr lang="en-US" sz="1100" b="1" dirty="0">
                <a:solidFill>
                  <a:srgbClr val="5E7184"/>
                </a:solidFill>
                <a:latin typeface="Arial" pitchFamily="34" charset="0"/>
                <a:ea typeface="Arial" pitchFamily="34" charset="-122"/>
                <a:cs typeface="Arial" pitchFamily="34" charset="-120"/>
              </a:rPr>
              <a:t>Speeds</a:t>
            </a:r>
            <a:endParaRPr lang="en-US" sz="1100" dirty="0"/>
          </a:p>
        </p:txBody>
      </p:sp>
      <p:sp>
        <p:nvSpPr>
          <p:cNvPr id="21" name="Text 18"/>
          <p:cNvSpPr/>
          <p:nvPr/>
        </p:nvSpPr>
        <p:spPr>
          <a:xfrm>
            <a:off x="3726862" y="4846320"/>
            <a:ext cx="3246120" cy="274320"/>
          </a:xfrm>
          <a:prstGeom prst="rect">
            <a:avLst/>
          </a:prstGeom>
          <a:noFill/>
          <a:ln/>
        </p:spPr>
        <p:txBody>
          <a:bodyPr wrap="square" lIns="0" tIns="0" rIns="0" bIns="0" rtlCol="0" anchor="ctr"/>
          <a:lstStyle/>
          <a:p>
            <a:pPr indent="0" marL="0">
              <a:buNone/>
            </a:pPr>
            <a:r>
              <a:rPr lang="en-US" sz="1350" b="1" dirty="0">
                <a:solidFill>
                  <a:srgbClr val="16293B"/>
                </a:solidFill>
                <a:latin typeface="Arial" pitchFamily="34" charset="0"/>
                <a:ea typeface="Arial" pitchFamily="34" charset="-122"/>
                <a:cs typeface="Arial" pitchFamily="34" charset="-120"/>
              </a:rPr>
              <a:t>660 rpm  &amp;  720 rpm</a:t>
            </a:r>
            <a:endParaRPr lang="en-US" sz="1350" dirty="0"/>
          </a:p>
        </p:txBody>
      </p:sp>
      <p:sp>
        <p:nvSpPr>
          <p:cNvPr id="22" name="Text 19"/>
          <p:cNvSpPr/>
          <p:nvPr/>
        </p:nvSpPr>
        <p:spPr>
          <a:xfrm>
            <a:off x="7430182" y="1828800"/>
            <a:ext cx="4121433" cy="274320"/>
          </a:xfrm>
          <a:prstGeom prst="rect">
            <a:avLst/>
          </a:prstGeom>
          <a:noFill/>
          <a:ln/>
        </p:spPr>
        <p:txBody>
          <a:bodyPr wrap="square" lIns="0" tIns="0" rIns="0" bIns="0" rtlCol="0" anchor="ctr"/>
          <a:lstStyle/>
          <a:p>
            <a:pPr indent="0" marL="0">
              <a:buNone/>
            </a:pPr>
            <a:r>
              <a:rPr lang="en-US" sz="1150" b="1" spc="150" kern="0" dirty="0">
                <a:solidFill>
                  <a:srgbClr val="C9821F"/>
                </a:solidFill>
                <a:latin typeface="Arial" pitchFamily="34" charset="0"/>
                <a:ea typeface="Arial" pitchFamily="34" charset="-122"/>
                <a:cs typeface="Arial" pitchFamily="34" charset="-120"/>
              </a:rPr>
              <a:t>FOUR MACHINE CONDITIONS</a:t>
            </a:r>
            <a:endParaRPr lang="en-US" sz="1150" dirty="0"/>
          </a:p>
        </p:txBody>
      </p:sp>
      <p:sp>
        <p:nvSpPr>
          <p:cNvPr id="23" name="Shape 20"/>
          <p:cNvSpPr/>
          <p:nvPr/>
        </p:nvSpPr>
        <p:spPr>
          <a:xfrm>
            <a:off x="7430182" y="2212848"/>
            <a:ext cx="1923557" cy="1298448"/>
          </a:xfrm>
          <a:prstGeom prst="roundRect">
            <a:avLst>
              <a:gd name="adj" fmla="val 5634"/>
            </a:avLst>
          </a:prstGeom>
          <a:solidFill>
            <a:srgbClr val="FFFFFF"/>
          </a:solidFill>
          <a:ln w="12700">
            <a:solidFill>
              <a:srgbClr val="DCE4EA"/>
            </a:solidFill>
            <a:prstDash val="solid"/>
          </a:ln>
          <a:effectLst>
            <a:outerShdw sx="100000" sy="100000" kx="0" ky="0" algn="bl" rotWithShape="0" blurRad="88900" dist="25400" dir="5400000">
              <a:srgbClr val="22303C">
                <a:alpha val="10000"/>
              </a:srgbClr>
            </a:outerShdw>
          </a:effectLst>
        </p:spPr>
      </p:sp>
      <p:sp>
        <p:nvSpPr>
          <p:cNvPr id="24" name="Shape 21"/>
          <p:cNvSpPr/>
          <p:nvPr/>
        </p:nvSpPr>
        <p:spPr>
          <a:xfrm>
            <a:off x="7631350" y="2432304"/>
            <a:ext cx="603504" cy="603504"/>
          </a:xfrm>
          <a:prstGeom prst="ellipse">
            <a:avLst/>
          </a:prstGeom>
          <a:solidFill>
            <a:srgbClr val="16A99A"/>
          </a:solidFill>
          <a:ln/>
        </p:spPr>
      </p:sp>
      <p:sp>
        <p:nvSpPr>
          <p:cNvPr id="25" name="Text 22"/>
          <p:cNvSpPr/>
          <p:nvPr/>
        </p:nvSpPr>
        <p:spPr>
          <a:xfrm>
            <a:off x="7631350" y="2432304"/>
            <a:ext cx="603504" cy="603504"/>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N</a:t>
            </a:r>
            <a:endParaRPr lang="en-US" sz="1600" dirty="0"/>
          </a:p>
        </p:txBody>
      </p:sp>
      <p:sp>
        <p:nvSpPr>
          <p:cNvPr id="26" name="Text 23"/>
          <p:cNvSpPr/>
          <p:nvPr/>
        </p:nvSpPr>
        <p:spPr>
          <a:xfrm>
            <a:off x="8344582" y="2432304"/>
            <a:ext cx="917717" cy="310896"/>
          </a:xfrm>
          <a:prstGeom prst="rect">
            <a:avLst/>
          </a:prstGeom>
          <a:noFill/>
          <a:ln/>
        </p:spPr>
        <p:txBody>
          <a:bodyPr wrap="square" lIns="0" tIns="0" rIns="0" bIns="0" rtlCol="0" anchor="ctr"/>
          <a:lstStyle/>
          <a:p>
            <a:pPr indent="0" marL="0">
              <a:buNone/>
            </a:pPr>
            <a:r>
              <a:rPr lang="en-US" sz="1400" b="1" dirty="0">
                <a:solidFill>
                  <a:srgbClr val="16293B"/>
                </a:solidFill>
                <a:latin typeface="Arial" pitchFamily="34" charset="0"/>
                <a:ea typeface="Arial" pitchFamily="34" charset="-122"/>
                <a:cs typeface="Arial" pitchFamily="34" charset="-120"/>
              </a:rPr>
              <a:t>Normal</a:t>
            </a:r>
            <a:endParaRPr lang="en-US" sz="1400" dirty="0"/>
          </a:p>
        </p:txBody>
      </p:sp>
      <p:sp>
        <p:nvSpPr>
          <p:cNvPr id="27" name="Text 24"/>
          <p:cNvSpPr/>
          <p:nvPr/>
        </p:nvSpPr>
        <p:spPr>
          <a:xfrm>
            <a:off x="8344582" y="2743200"/>
            <a:ext cx="917717" cy="548640"/>
          </a:xfrm>
          <a:prstGeom prst="rect">
            <a:avLst/>
          </a:prstGeom>
          <a:noFill/>
          <a:ln/>
        </p:spPr>
        <p:txBody>
          <a:bodyPr wrap="square" lIns="0" tIns="0" rIns="0" bIns="0" rtlCol="0" anchor="ctr"/>
          <a:lstStyle/>
          <a:p>
            <a:pPr indent="0" marL="0">
              <a:lnSpc>
                <a:spcPct val="100000"/>
              </a:lnSpc>
              <a:buNone/>
            </a:pPr>
            <a:r>
              <a:rPr lang="en-US" sz="1100" dirty="0">
                <a:solidFill>
                  <a:srgbClr val="5E7184"/>
                </a:solidFill>
                <a:latin typeface="Arial" pitchFamily="34" charset="0"/>
                <a:ea typeface="Arial" pitchFamily="34" charset="-122"/>
                <a:cs typeface="Arial" pitchFamily="34" charset="-120"/>
              </a:rPr>
              <a:t>Intact components</a:t>
            </a:r>
            <a:endParaRPr lang="en-US" sz="1100" dirty="0"/>
          </a:p>
        </p:txBody>
      </p:sp>
      <p:sp>
        <p:nvSpPr>
          <p:cNvPr id="28" name="Shape 25"/>
          <p:cNvSpPr/>
          <p:nvPr/>
        </p:nvSpPr>
        <p:spPr>
          <a:xfrm>
            <a:off x="9628059" y="2212848"/>
            <a:ext cx="1923557" cy="1298448"/>
          </a:xfrm>
          <a:prstGeom prst="roundRect">
            <a:avLst>
              <a:gd name="adj" fmla="val 5634"/>
            </a:avLst>
          </a:prstGeom>
          <a:solidFill>
            <a:srgbClr val="FFFFFF"/>
          </a:solidFill>
          <a:ln w="12700">
            <a:solidFill>
              <a:srgbClr val="DCE4EA"/>
            </a:solidFill>
            <a:prstDash val="solid"/>
          </a:ln>
          <a:effectLst>
            <a:outerShdw sx="100000" sy="100000" kx="0" ky="0" algn="bl" rotWithShape="0" blurRad="88900" dist="25400" dir="5400000">
              <a:srgbClr val="22303C">
                <a:alpha val="10000"/>
              </a:srgbClr>
            </a:outerShdw>
          </a:effectLst>
        </p:spPr>
      </p:sp>
      <p:sp>
        <p:nvSpPr>
          <p:cNvPr id="29" name="Shape 26"/>
          <p:cNvSpPr/>
          <p:nvPr/>
        </p:nvSpPr>
        <p:spPr>
          <a:xfrm>
            <a:off x="9829227" y="2432304"/>
            <a:ext cx="603504" cy="603504"/>
          </a:xfrm>
          <a:prstGeom prst="ellipse">
            <a:avLst/>
          </a:prstGeom>
          <a:solidFill>
            <a:srgbClr val="EFA135"/>
          </a:solidFill>
          <a:ln/>
        </p:spPr>
      </p:sp>
      <p:sp>
        <p:nvSpPr>
          <p:cNvPr id="30" name="Text 27"/>
          <p:cNvSpPr/>
          <p:nvPr/>
        </p:nvSpPr>
        <p:spPr>
          <a:xfrm>
            <a:off x="9829227" y="2432304"/>
            <a:ext cx="603504" cy="603504"/>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TF</a:t>
            </a:r>
            <a:endParaRPr lang="en-US" sz="1600" dirty="0"/>
          </a:p>
        </p:txBody>
      </p:sp>
      <p:sp>
        <p:nvSpPr>
          <p:cNvPr id="31" name="Text 28"/>
          <p:cNvSpPr/>
          <p:nvPr/>
        </p:nvSpPr>
        <p:spPr>
          <a:xfrm>
            <a:off x="10542459" y="2432304"/>
            <a:ext cx="917717" cy="310896"/>
          </a:xfrm>
          <a:prstGeom prst="rect">
            <a:avLst/>
          </a:prstGeom>
          <a:noFill/>
          <a:ln/>
        </p:spPr>
        <p:txBody>
          <a:bodyPr wrap="square" lIns="0" tIns="0" rIns="0" bIns="0" rtlCol="0" anchor="ctr"/>
          <a:lstStyle/>
          <a:p>
            <a:pPr indent="0" marL="0">
              <a:buNone/>
            </a:pPr>
            <a:r>
              <a:rPr lang="en-US" sz="1400" b="1" dirty="0">
                <a:solidFill>
                  <a:srgbClr val="16293B"/>
                </a:solidFill>
                <a:latin typeface="Arial" pitchFamily="34" charset="0"/>
                <a:ea typeface="Arial" pitchFamily="34" charset="-122"/>
                <a:cs typeface="Arial" pitchFamily="34" charset="-120"/>
              </a:rPr>
              <a:t>Tool fault</a:t>
            </a:r>
            <a:endParaRPr lang="en-US" sz="1400" dirty="0"/>
          </a:p>
        </p:txBody>
      </p:sp>
      <p:sp>
        <p:nvSpPr>
          <p:cNvPr id="32" name="Text 29"/>
          <p:cNvSpPr/>
          <p:nvPr/>
        </p:nvSpPr>
        <p:spPr>
          <a:xfrm>
            <a:off x="10542459" y="2743200"/>
            <a:ext cx="917717" cy="548640"/>
          </a:xfrm>
          <a:prstGeom prst="rect">
            <a:avLst/>
          </a:prstGeom>
          <a:noFill/>
          <a:ln/>
        </p:spPr>
        <p:txBody>
          <a:bodyPr wrap="square" lIns="0" tIns="0" rIns="0" bIns="0" rtlCol="0" anchor="ctr"/>
          <a:lstStyle/>
          <a:p>
            <a:pPr indent="0" marL="0">
              <a:lnSpc>
                <a:spcPct val="100000"/>
              </a:lnSpc>
              <a:buNone/>
            </a:pPr>
            <a:r>
              <a:rPr lang="en-US" sz="1100" dirty="0">
                <a:solidFill>
                  <a:srgbClr val="5E7184"/>
                </a:solidFill>
                <a:latin typeface="Arial" pitchFamily="34" charset="0"/>
                <a:ea typeface="Arial" pitchFamily="34" charset="-122"/>
                <a:cs typeface="Arial" pitchFamily="34" charset="-120"/>
              </a:rPr>
              <a:t>≈ 0.3 mm flank wear</a:t>
            </a:r>
            <a:endParaRPr lang="en-US" sz="1100" dirty="0"/>
          </a:p>
        </p:txBody>
      </p:sp>
      <p:sp>
        <p:nvSpPr>
          <p:cNvPr id="33" name="Shape 30"/>
          <p:cNvSpPr/>
          <p:nvPr/>
        </p:nvSpPr>
        <p:spPr>
          <a:xfrm>
            <a:off x="7430182" y="3694176"/>
            <a:ext cx="1923557" cy="1298448"/>
          </a:xfrm>
          <a:prstGeom prst="roundRect">
            <a:avLst>
              <a:gd name="adj" fmla="val 5634"/>
            </a:avLst>
          </a:prstGeom>
          <a:solidFill>
            <a:srgbClr val="FFFFFF"/>
          </a:solidFill>
          <a:ln w="12700">
            <a:solidFill>
              <a:srgbClr val="DCE4EA"/>
            </a:solidFill>
            <a:prstDash val="solid"/>
          </a:ln>
          <a:effectLst>
            <a:outerShdw sx="100000" sy="100000" kx="0" ky="0" algn="bl" rotWithShape="0" blurRad="88900" dist="25400" dir="5400000">
              <a:srgbClr val="22303C">
                <a:alpha val="10000"/>
              </a:srgbClr>
            </a:outerShdw>
          </a:effectLst>
        </p:spPr>
      </p:sp>
      <p:sp>
        <p:nvSpPr>
          <p:cNvPr id="34" name="Shape 31"/>
          <p:cNvSpPr/>
          <p:nvPr/>
        </p:nvSpPr>
        <p:spPr>
          <a:xfrm>
            <a:off x="7631350" y="3913632"/>
            <a:ext cx="603504" cy="603504"/>
          </a:xfrm>
          <a:prstGeom prst="ellipse">
            <a:avLst/>
          </a:prstGeom>
          <a:solidFill>
            <a:srgbClr val="EFA135"/>
          </a:solidFill>
          <a:ln/>
        </p:spPr>
      </p:sp>
      <p:sp>
        <p:nvSpPr>
          <p:cNvPr id="35" name="Text 32"/>
          <p:cNvSpPr/>
          <p:nvPr/>
        </p:nvSpPr>
        <p:spPr>
          <a:xfrm>
            <a:off x="7631350" y="3913632"/>
            <a:ext cx="603504" cy="603504"/>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BF</a:t>
            </a:r>
            <a:endParaRPr lang="en-US" sz="1600" dirty="0"/>
          </a:p>
        </p:txBody>
      </p:sp>
      <p:sp>
        <p:nvSpPr>
          <p:cNvPr id="36" name="Text 33"/>
          <p:cNvSpPr/>
          <p:nvPr/>
        </p:nvSpPr>
        <p:spPr>
          <a:xfrm>
            <a:off x="8344582" y="3913632"/>
            <a:ext cx="917717" cy="310896"/>
          </a:xfrm>
          <a:prstGeom prst="rect">
            <a:avLst/>
          </a:prstGeom>
          <a:noFill/>
          <a:ln/>
        </p:spPr>
        <p:txBody>
          <a:bodyPr wrap="square" lIns="0" tIns="0" rIns="0" bIns="0" rtlCol="0" anchor="ctr"/>
          <a:lstStyle/>
          <a:p>
            <a:pPr indent="0" marL="0">
              <a:buNone/>
            </a:pPr>
            <a:r>
              <a:rPr lang="en-US" sz="1400" b="1" dirty="0">
                <a:solidFill>
                  <a:srgbClr val="16293B"/>
                </a:solidFill>
                <a:latin typeface="Arial" pitchFamily="34" charset="0"/>
                <a:ea typeface="Arial" pitchFamily="34" charset="-122"/>
                <a:cs typeface="Arial" pitchFamily="34" charset="-120"/>
              </a:rPr>
              <a:t>Bearing fault</a:t>
            </a:r>
            <a:endParaRPr lang="en-US" sz="1400" dirty="0"/>
          </a:p>
        </p:txBody>
      </p:sp>
      <p:sp>
        <p:nvSpPr>
          <p:cNvPr id="37" name="Text 34"/>
          <p:cNvSpPr/>
          <p:nvPr/>
        </p:nvSpPr>
        <p:spPr>
          <a:xfrm>
            <a:off x="8344582" y="4224528"/>
            <a:ext cx="917717" cy="548640"/>
          </a:xfrm>
          <a:prstGeom prst="rect">
            <a:avLst/>
          </a:prstGeom>
          <a:noFill/>
          <a:ln/>
        </p:spPr>
        <p:txBody>
          <a:bodyPr wrap="square" lIns="0" tIns="0" rIns="0" bIns="0" rtlCol="0" anchor="ctr"/>
          <a:lstStyle/>
          <a:p>
            <a:pPr indent="0" marL="0">
              <a:lnSpc>
                <a:spcPct val="100000"/>
              </a:lnSpc>
              <a:buNone/>
            </a:pPr>
            <a:r>
              <a:rPr lang="en-US" sz="1100" dirty="0">
                <a:solidFill>
                  <a:srgbClr val="5E7184"/>
                </a:solidFill>
                <a:latin typeface="Arial" pitchFamily="34" charset="0"/>
                <a:ea typeface="Arial" pitchFamily="34" charset="-122"/>
                <a:cs typeface="Arial" pitchFamily="34" charset="-120"/>
              </a:rPr>
              <a:t>Outer–race defect ≈3 mm</a:t>
            </a:r>
            <a:endParaRPr lang="en-US" sz="1100" dirty="0"/>
          </a:p>
        </p:txBody>
      </p:sp>
      <p:sp>
        <p:nvSpPr>
          <p:cNvPr id="38" name="Shape 35"/>
          <p:cNvSpPr/>
          <p:nvPr/>
        </p:nvSpPr>
        <p:spPr>
          <a:xfrm>
            <a:off x="9628059" y="3694176"/>
            <a:ext cx="1923557" cy="1298448"/>
          </a:xfrm>
          <a:prstGeom prst="roundRect">
            <a:avLst>
              <a:gd name="adj" fmla="val 5634"/>
            </a:avLst>
          </a:prstGeom>
          <a:solidFill>
            <a:srgbClr val="FFFFFF"/>
          </a:solidFill>
          <a:ln w="12700">
            <a:solidFill>
              <a:srgbClr val="DCE4EA"/>
            </a:solidFill>
            <a:prstDash val="solid"/>
          </a:ln>
          <a:effectLst>
            <a:outerShdw sx="100000" sy="100000" kx="0" ky="0" algn="bl" rotWithShape="0" blurRad="88900" dist="25400" dir="5400000">
              <a:srgbClr val="22303C">
                <a:alpha val="10000"/>
              </a:srgbClr>
            </a:outerShdw>
          </a:effectLst>
        </p:spPr>
      </p:sp>
      <p:sp>
        <p:nvSpPr>
          <p:cNvPr id="39" name="Shape 36"/>
          <p:cNvSpPr/>
          <p:nvPr/>
        </p:nvSpPr>
        <p:spPr>
          <a:xfrm>
            <a:off x="9829227" y="3913632"/>
            <a:ext cx="603504" cy="603504"/>
          </a:xfrm>
          <a:prstGeom prst="ellipse">
            <a:avLst/>
          </a:prstGeom>
          <a:solidFill>
            <a:srgbClr val="EFA135"/>
          </a:solidFill>
          <a:ln/>
        </p:spPr>
      </p:sp>
      <p:sp>
        <p:nvSpPr>
          <p:cNvPr id="40" name="Text 37"/>
          <p:cNvSpPr/>
          <p:nvPr/>
        </p:nvSpPr>
        <p:spPr>
          <a:xfrm>
            <a:off x="9829227" y="3913632"/>
            <a:ext cx="603504" cy="603504"/>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GF</a:t>
            </a:r>
            <a:endParaRPr lang="en-US" sz="1600" dirty="0"/>
          </a:p>
        </p:txBody>
      </p:sp>
      <p:sp>
        <p:nvSpPr>
          <p:cNvPr id="41" name="Text 38"/>
          <p:cNvSpPr/>
          <p:nvPr/>
        </p:nvSpPr>
        <p:spPr>
          <a:xfrm>
            <a:off x="10542459" y="3913632"/>
            <a:ext cx="917717" cy="310896"/>
          </a:xfrm>
          <a:prstGeom prst="rect">
            <a:avLst/>
          </a:prstGeom>
          <a:noFill/>
          <a:ln/>
        </p:spPr>
        <p:txBody>
          <a:bodyPr wrap="square" lIns="0" tIns="0" rIns="0" bIns="0" rtlCol="0" anchor="ctr"/>
          <a:lstStyle/>
          <a:p>
            <a:pPr indent="0" marL="0">
              <a:buNone/>
            </a:pPr>
            <a:r>
              <a:rPr lang="en-US" sz="1400" b="1" dirty="0">
                <a:solidFill>
                  <a:srgbClr val="16293B"/>
                </a:solidFill>
                <a:latin typeface="Arial" pitchFamily="34" charset="0"/>
                <a:ea typeface="Arial" pitchFamily="34" charset="-122"/>
                <a:cs typeface="Arial" pitchFamily="34" charset="-120"/>
              </a:rPr>
              <a:t>Gear fault</a:t>
            </a:r>
            <a:endParaRPr lang="en-US" sz="1400" dirty="0"/>
          </a:p>
        </p:txBody>
      </p:sp>
      <p:sp>
        <p:nvSpPr>
          <p:cNvPr id="42" name="Text 39"/>
          <p:cNvSpPr/>
          <p:nvPr/>
        </p:nvSpPr>
        <p:spPr>
          <a:xfrm>
            <a:off x="10542459" y="4224528"/>
            <a:ext cx="917717" cy="548640"/>
          </a:xfrm>
          <a:prstGeom prst="rect">
            <a:avLst/>
          </a:prstGeom>
          <a:noFill/>
          <a:ln/>
        </p:spPr>
        <p:txBody>
          <a:bodyPr wrap="square" lIns="0" tIns="0" rIns="0" bIns="0" rtlCol="0" anchor="ctr"/>
          <a:lstStyle/>
          <a:p>
            <a:pPr indent="0" marL="0">
              <a:lnSpc>
                <a:spcPct val="100000"/>
              </a:lnSpc>
              <a:buNone/>
            </a:pPr>
            <a:r>
              <a:rPr lang="en-US" sz="1100" dirty="0">
                <a:solidFill>
                  <a:srgbClr val="5E7184"/>
                </a:solidFill>
                <a:latin typeface="Arial" pitchFamily="34" charset="0"/>
                <a:ea typeface="Arial" pitchFamily="34" charset="-122"/>
                <a:cs typeface="Arial" pitchFamily="34" charset="-120"/>
              </a:rPr>
              <a:t>Partial tooth removal</a:t>
            </a:r>
            <a:endParaRPr lang="en-US" sz="1100" dirty="0"/>
          </a:p>
        </p:txBody>
      </p:sp>
      <p:sp>
        <p:nvSpPr>
          <p:cNvPr id="43" name="Text 40"/>
          <p:cNvSpPr/>
          <p:nvPr/>
        </p:nvSpPr>
        <p:spPr>
          <a:xfrm>
            <a:off x="640080" y="5806440"/>
            <a:ext cx="2727884" cy="365760"/>
          </a:xfrm>
          <a:prstGeom prst="rect">
            <a:avLst/>
          </a:prstGeom>
          <a:noFill/>
          <a:ln/>
        </p:spPr>
        <p:txBody>
          <a:bodyPr wrap="square" lIns="0" tIns="0" rIns="0" bIns="0" rtlCol="0" anchor="ctr"/>
          <a:lstStyle/>
          <a:p>
            <a:pPr indent="0" marL="0">
              <a:buNone/>
            </a:pPr>
            <a:r>
              <a:rPr lang="en-US" sz="1700" b="1" dirty="0">
                <a:solidFill>
                  <a:srgbClr val="0E7C72"/>
                </a:solidFill>
                <a:latin typeface="Georgia" pitchFamily="34" charset="0"/>
                <a:ea typeface="Georgia" pitchFamily="34" charset="-122"/>
                <a:cs typeface="Georgia" pitchFamily="34" charset="-120"/>
              </a:rPr>
              <a:t>1,253  </a:t>
            </a:r>
            <a:pPr indent="0" marL="0">
              <a:buNone/>
            </a:pPr>
            <a:r>
              <a:rPr lang="en-US" sz="1150" dirty="0">
                <a:solidFill>
                  <a:srgbClr val="5E7184"/>
                </a:solidFill>
                <a:latin typeface="Arial" pitchFamily="34" charset="0"/>
                <a:ea typeface="Arial" pitchFamily="34" charset="-122"/>
                <a:cs typeface="Arial" pitchFamily="34" charset="-120"/>
              </a:rPr>
              <a:t>Total recordings</a:t>
            </a:r>
            <a:endParaRPr lang="en-US" sz="1700" dirty="0"/>
          </a:p>
        </p:txBody>
      </p:sp>
      <p:sp>
        <p:nvSpPr>
          <p:cNvPr id="44" name="Text 41"/>
          <p:cNvSpPr/>
          <p:nvPr/>
        </p:nvSpPr>
        <p:spPr>
          <a:xfrm>
            <a:off x="3367964" y="5806440"/>
            <a:ext cx="2727884" cy="365760"/>
          </a:xfrm>
          <a:prstGeom prst="rect">
            <a:avLst/>
          </a:prstGeom>
          <a:noFill/>
          <a:ln/>
        </p:spPr>
        <p:txBody>
          <a:bodyPr wrap="square" lIns="0" tIns="0" rIns="0" bIns="0" rtlCol="0" anchor="ctr"/>
          <a:lstStyle/>
          <a:p>
            <a:pPr indent="0" marL="0">
              <a:buNone/>
            </a:pPr>
            <a:r>
              <a:rPr lang="en-US" sz="1700" b="1" dirty="0">
                <a:solidFill>
                  <a:srgbClr val="16293B"/>
                </a:solidFill>
                <a:latin typeface="Georgia" pitchFamily="34" charset="0"/>
                <a:ea typeface="Georgia" pitchFamily="34" charset="-122"/>
                <a:cs typeface="Georgia" pitchFamily="34" charset="-120"/>
              </a:rPr>
              <a:t>1 s @ 1 MHz  </a:t>
            </a:r>
            <a:pPr indent="0" marL="0">
              <a:buNone/>
            </a:pPr>
            <a:r>
              <a:rPr lang="en-US" sz="1150" dirty="0">
                <a:solidFill>
                  <a:srgbClr val="5E7184"/>
                </a:solidFill>
                <a:latin typeface="Arial" pitchFamily="34" charset="0"/>
                <a:ea typeface="Arial" pitchFamily="34" charset="-122"/>
                <a:cs typeface="Arial" pitchFamily="34" charset="-120"/>
              </a:rPr>
              <a:t>Per recording</a:t>
            </a:r>
            <a:endParaRPr lang="en-US" sz="1700" dirty="0"/>
          </a:p>
        </p:txBody>
      </p:sp>
      <p:sp>
        <p:nvSpPr>
          <p:cNvPr id="45" name="Text 42"/>
          <p:cNvSpPr/>
          <p:nvPr/>
        </p:nvSpPr>
        <p:spPr>
          <a:xfrm>
            <a:off x="6095848" y="5806440"/>
            <a:ext cx="2727884" cy="365760"/>
          </a:xfrm>
          <a:prstGeom prst="rect">
            <a:avLst/>
          </a:prstGeom>
          <a:noFill/>
          <a:ln/>
        </p:spPr>
        <p:txBody>
          <a:bodyPr wrap="square" lIns="0" tIns="0" rIns="0" bIns="0" rtlCol="0" anchor="ctr"/>
          <a:lstStyle/>
          <a:p>
            <a:pPr indent="0" marL="0">
              <a:buNone/>
            </a:pPr>
            <a:r>
              <a:rPr lang="en-US" sz="1700" b="1" dirty="0">
                <a:solidFill>
                  <a:srgbClr val="16293B"/>
                </a:solidFill>
                <a:latin typeface="Georgia" pitchFamily="34" charset="0"/>
                <a:ea typeface="Georgia" pitchFamily="34" charset="-122"/>
                <a:cs typeface="Georgia" pitchFamily="34" charset="-120"/>
              </a:rPr>
              <a:t>Train-only  </a:t>
            </a:r>
            <a:pPr indent="0" marL="0">
              <a:buNone/>
            </a:pPr>
            <a:r>
              <a:rPr lang="en-US" sz="1150" dirty="0">
                <a:solidFill>
                  <a:srgbClr val="5E7184"/>
                </a:solidFill>
                <a:latin typeface="Arial" pitchFamily="34" charset="0"/>
                <a:ea typeface="Arial" pitchFamily="34" charset="-122"/>
                <a:cs typeface="Arial" pitchFamily="34" charset="-120"/>
              </a:rPr>
              <a:t>Self–supervised pretraining</a:t>
            </a:r>
            <a:endParaRPr lang="en-US" sz="1700" dirty="0"/>
          </a:p>
        </p:txBody>
      </p:sp>
      <p:sp>
        <p:nvSpPr>
          <p:cNvPr id="46" name="Text 43"/>
          <p:cNvSpPr/>
          <p:nvPr/>
        </p:nvSpPr>
        <p:spPr>
          <a:xfrm>
            <a:off x="8823731" y="5806440"/>
            <a:ext cx="2727884" cy="365760"/>
          </a:xfrm>
          <a:prstGeom prst="rect">
            <a:avLst/>
          </a:prstGeom>
          <a:noFill/>
          <a:ln/>
        </p:spPr>
        <p:txBody>
          <a:bodyPr wrap="square" lIns="0" tIns="0" rIns="0" bIns="0" rtlCol="0" anchor="ctr"/>
          <a:lstStyle/>
          <a:p>
            <a:pPr indent="0" marL="0">
              <a:buNone/>
            </a:pPr>
            <a:r>
              <a:rPr lang="en-US" sz="1700" b="1" dirty="0">
                <a:solidFill>
                  <a:srgbClr val="16293B"/>
                </a:solidFill>
                <a:latin typeface="Georgia" pitchFamily="34" charset="0"/>
                <a:ea typeface="Georgia" pitchFamily="34" charset="-122"/>
                <a:cs typeface="Georgia" pitchFamily="34" charset="-120"/>
              </a:rPr>
              <a:t>Stratified  </a:t>
            </a:r>
            <a:pPr indent="0" marL="0">
              <a:buNone/>
            </a:pPr>
            <a:r>
              <a:rPr lang="en-US" sz="1150" dirty="0">
                <a:solidFill>
                  <a:srgbClr val="5E7184"/>
                </a:solidFill>
                <a:latin typeface="Arial" pitchFamily="34" charset="0"/>
                <a:ea typeface="Arial" pitchFamily="34" charset="-122"/>
                <a:cs typeface="Arial" pitchFamily="34" charset="-120"/>
              </a:rPr>
              <a:t>Train / val / test split</a:t>
            </a:r>
            <a:endParaRPr lang="en-US" sz="1700" dirty="0"/>
          </a:p>
        </p:txBody>
      </p:sp>
      <p:sp>
        <p:nvSpPr>
          <p:cNvPr id="47" name="Text 44"/>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5E7184"/>
                </a:solidFill>
                <a:latin typeface="Arial" pitchFamily="34" charset="0"/>
                <a:ea typeface="Arial" pitchFamily="34" charset="-122"/>
                <a:cs typeface="Arial" pitchFamily="34" charset="-120"/>
              </a:rPr>
              <a:t>10</a:t>
            </a:r>
            <a:endParaRPr lang="en-US" sz="1000" dirty="0"/>
          </a:p>
        </p:txBody>
      </p:sp>
      <p:sp>
        <p:nvSpPr>
          <p:cNvPr id="48" name="Text 45"/>
          <p:cNvSpPr/>
          <p:nvPr/>
        </p:nvSpPr>
        <p:spPr>
          <a:xfrm>
            <a:off x="640080" y="6400800"/>
            <a:ext cx="3200400" cy="274320"/>
          </a:xfrm>
          <a:prstGeom prst="rect">
            <a:avLst/>
          </a:prstGeom>
          <a:noFill/>
          <a:ln/>
        </p:spPr>
        <p:txBody>
          <a:bodyPr wrap="square" lIns="0" tIns="0" rIns="0" bIns="0" rtlCol="0" anchor="ctr"/>
          <a:lstStyle/>
          <a:p>
            <a:pPr algn="l" indent="0" marL="0">
              <a:buNone/>
            </a:pPr>
            <a:r>
              <a:rPr lang="en-US" sz="1000" dirty="0">
                <a:solidFill>
                  <a:srgbClr val="5E7184"/>
                </a:solidFill>
                <a:latin typeface="Arial" pitchFamily="34" charset="0"/>
                <a:ea typeface="Arial" pitchFamily="34" charset="-122"/>
                <a:cs typeface="Arial" pitchFamily="34" charset="-120"/>
              </a:rPr>
              <a:t>BurstMAE-MIL</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1A2B"/>
        </a:solidFill>
      </p:bgPr>
    </p:bg>
    <p:spTree>
      <p:nvGrpSpPr>
        <p:cNvPr id="1" name=""/>
        <p:cNvGrpSpPr/>
        <p:nvPr/>
      </p:nvGrpSpPr>
      <p:grpSpPr>
        <a:xfrm>
          <a:off x="0" y="0"/>
          <a:ext cx="0" cy="0"/>
          <a:chOff x="0" y="0"/>
          <a:chExt cx="0" cy="0"/>
        </a:xfrm>
      </p:grpSpPr>
      <p:sp>
        <p:nvSpPr>
          <p:cNvPr id="2" name="Text 0"/>
          <p:cNvSpPr/>
          <p:nvPr/>
        </p:nvSpPr>
        <p:spPr>
          <a:xfrm>
            <a:off x="640080" y="548640"/>
            <a:ext cx="10789920" cy="274320"/>
          </a:xfrm>
          <a:prstGeom prst="rect">
            <a:avLst/>
          </a:prstGeom>
          <a:noFill/>
          <a:ln/>
        </p:spPr>
        <p:txBody>
          <a:bodyPr wrap="square" lIns="0" tIns="0" rIns="0" bIns="0" rtlCol="0" anchor="ctr"/>
          <a:lstStyle/>
          <a:p>
            <a:pPr indent="0" marL="0">
              <a:buNone/>
            </a:pPr>
            <a:r>
              <a:rPr lang="en-US" sz="1250" b="1" spc="300" kern="0" dirty="0">
                <a:solidFill>
                  <a:srgbClr val="16A99A"/>
                </a:solidFill>
                <a:latin typeface="Arial" pitchFamily="34" charset="0"/>
                <a:ea typeface="Arial" pitchFamily="34" charset="-122"/>
                <a:cs typeface="Arial" pitchFamily="34" charset="-120"/>
              </a:rPr>
              <a:t>RESULTS</a:t>
            </a:r>
            <a:endParaRPr lang="en-US" sz="1250" dirty="0"/>
          </a:p>
        </p:txBody>
      </p:sp>
      <p:sp>
        <p:nvSpPr>
          <p:cNvPr id="3" name="Text 1"/>
          <p:cNvSpPr/>
          <p:nvPr/>
        </p:nvSpPr>
        <p:spPr>
          <a:xfrm>
            <a:off x="640080" y="841248"/>
            <a:ext cx="10881360" cy="64008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Near–perfect diagnosis under limited labels</a:t>
            </a:r>
            <a:endParaRPr lang="en-US" sz="3000" dirty="0"/>
          </a:p>
        </p:txBody>
      </p:sp>
      <p:sp>
        <p:nvSpPr>
          <p:cNvPr id="4" name="Shape 2"/>
          <p:cNvSpPr/>
          <p:nvPr/>
        </p:nvSpPr>
        <p:spPr>
          <a:xfrm>
            <a:off x="640080" y="1783080"/>
            <a:ext cx="3520440" cy="1508760"/>
          </a:xfrm>
          <a:prstGeom prst="roundRect">
            <a:avLst>
              <a:gd name="adj" fmla="val 6061"/>
            </a:avLst>
          </a:prstGeom>
          <a:solidFill>
            <a:srgbClr val="12283E"/>
          </a:solidFill>
          <a:ln w="12700">
            <a:solidFill>
              <a:srgbClr val="1C3A56"/>
            </a:solidFill>
            <a:prstDash val="solid"/>
          </a:ln>
          <a:effectLst>
            <a:outerShdw sx="100000" sy="100000" kx="0" ky="0" algn="bl" rotWithShape="0" blurRad="88900" dist="25400" dir="5400000">
              <a:srgbClr val="22303C">
                <a:alpha val="10000"/>
              </a:srgbClr>
            </a:outerShdw>
          </a:effectLst>
        </p:spPr>
      </p:sp>
      <p:sp>
        <p:nvSpPr>
          <p:cNvPr id="5" name="Text 3"/>
          <p:cNvSpPr/>
          <p:nvPr/>
        </p:nvSpPr>
        <p:spPr>
          <a:xfrm>
            <a:off x="960120" y="1984248"/>
            <a:ext cx="2880360" cy="731520"/>
          </a:xfrm>
          <a:prstGeom prst="rect">
            <a:avLst/>
          </a:prstGeom>
          <a:noFill/>
          <a:ln/>
        </p:spPr>
        <p:txBody>
          <a:bodyPr wrap="square" lIns="0" tIns="0" rIns="0" bIns="0" rtlCol="0" anchor="ctr"/>
          <a:lstStyle/>
          <a:p>
            <a:pPr indent="0" marL="0">
              <a:buNone/>
            </a:pPr>
            <a:r>
              <a:rPr lang="en-US" sz="4600" b="1" dirty="0">
                <a:solidFill>
                  <a:srgbClr val="16A99A"/>
                </a:solidFill>
                <a:latin typeface="Georgia" pitchFamily="34" charset="0"/>
                <a:ea typeface="Georgia" pitchFamily="34" charset="-122"/>
                <a:cs typeface="Georgia" pitchFamily="34" charset="-120"/>
              </a:rPr>
              <a:t>99.91%</a:t>
            </a:r>
            <a:endParaRPr lang="en-US" sz="4600" dirty="0"/>
          </a:p>
        </p:txBody>
      </p:sp>
      <p:sp>
        <p:nvSpPr>
          <p:cNvPr id="6" name="Text 4"/>
          <p:cNvSpPr/>
          <p:nvPr/>
        </p:nvSpPr>
        <p:spPr>
          <a:xfrm>
            <a:off x="960120" y="2770632"/>
            <a:ext cx="2880360" cy="365760"/>
          </a:xfrm>
          <a:prstGeom prst="rect">
            <a:avLst/>
          </a:prstGeom>
          <a:noFill/>
          <a:ln/>
        </p:spPr>
        <p:txBody>
          <a:bodyPr wrap="square" lIns="0" tIns="0" rIns="0" bIns="0" rtlCol="0" anchor="ctr"/>
          <a:lstStyle/>
          <a:p>
            <a:pPr indent="0" marL="0">
              <a:buNone/>
            </a:pPr>
            <a:r>
              <a:rPr lang="en-US" sz="1300" dirty="0">
                <a:solidFill>
                  <a:srgbClr val="CFE8E4"/>
                </a:solidFill>
                <a:latin typeface="Arial" pitchFamily="34" charset="0"/>
                <a:ea typeface="Arial" pitchFamily="34" charset="-122"/>
                <a:cs typeface="Arial" pitchFamily="34" charset="-120"/>
              </a:rPr>
              <a:t>Sample–level accuracy</a:t>
            </a:r>
            <a:endParaRPr lang="en-US" sz="1300" dirty="0"/>
          </a:p>
        </p:txBody>
      </p:sp>
      <p:sp>
        <p:nvSpPr>
          <p:cNvPr id="7" name="Shape 5"/>
          <p:cNvSpPr/>
          <p:nvPr/>
        </p:nvSpPr>
        <p:spPr>
          <a:xfrm>
            <a:off x="4544568" y="1783080"/>
            <a:ext cx="3520440" cy="1508760"/>
          </a:xfrm>
          <a:prstGeom prst="roundRect">
            <a:avLst>
              <a:gd name="adj" fmla="val 6061"/>
            </a:avLst>
          </a:prstGeom>
          <a:solidFill>
            <a:srgbClr val="12283E"/>
          </a:solidFill>
          <a:ln w="12700">
            <a:solidFill>
              <a:srgbClr val="1C3A56"/>
            </a:solidFill>
            <a:prstDash val="solid"/>
          </a:ln>
          <a:effectLst>
            <a:outerShdw sx="100000" sy="100000" kx="0" ky="0" algn="bl" rotWithShape="0" blurRad="88900" dist="25400" dir="5400000">
              <a:srgbClr val="22303C">
                <a:alpha val="10000"/>
              </a:srgbClr>
            </a:outerShdw>
          </a:effectLst>
        </p:spPr>
      </p:sp>
      <p:sp>
        <p:nvSpPr>
          <p:cNvPr id="8" name="Text 6"/>
          <p:cNvSpPr/>
          <p:nvPr/>
        </p:nvSpPr>
        <p:spPr>
          <a:xfrm>
            <a:off x="4864608" y="1984248"/>
            <a:ext cx="2880360" cy="731520"/>
          </a:xfrm>
          <a:prstGeom prst="rect">
            <a:avLst/>
          </a:prstGeom>
          <a:noFill/>
          <a:ln/>
        </p:spPr>
        <p:txBody>
          <a:bodyPr wrap="square" lIns="0" tIns="0" rIns="0" bIns="0" rtlCol="0" anchor="ctr"/>
          <a:lstStyle/>
          <a:p>
            <a:pPr indent="0" marL="0">
              <a:buNone/>
            </a:pPr>
            <a:r>
              <a:rPr lang="en-US" sz="4600" b="1" dirty="0">
                <a:solidFill>
                  <a:srgbClr val="EFA135"/>
                </a:solidFill>
                <a:latin typeface="Georgia" pitchFamily="34" charset="0"/>
                <a:ea typeface="Georgia" pitchFamily="34" charset="-122"/>
                <a:cs typeface="Georgia" pitchFamily="34" charset="-120"/>
              </a:rPr>
              <a:t>1.000</a:t>
            </a:r>
            <a:endParaRPr lang="en-US" sz="4600" dirty="0"/>
          </a:p>
        </p:txBody>
      </p:sp>
      <p:sp>
        <p:nvSpPr>
          <p:cNvPr id="9" name="Text 7"/>
          <p:cNvSpPr/>
          <p:nvPr/>
        </p:nvSpPr>
        <p:spPr>
          <a:xfrm>
            <a:off x="4864608" y="2770632"/>
            <a:ext cx="2880360" cy="365760"/>
          </a:xfrm>
          <a:prstGeom prst="rect">
            <a:avLst/>
          </a:prstGeom>
          <a:noFill/>
          <a:ln/>
        </p:spPr>
        <p:txBody>
          <a:bodyPr wrap="square" lIns="0" tIns="0" rIns="0" bIns="0" rtlCol="0" anchor="ctr"/>
          <a:lstStyle/>
          <a:p>
            <a:pPr indent="0" marL="0">
              <a:buNone/>
            </a:pPr>
            <a:r>
              <a:rPr lang="en-US" sz="1300" dirty="0">
                <a:solidFill>
                  <a:srgbClr val="CFE8E4"/>
                </a:solidFill>
                <a:latin typeface="Arial" pitchFamily="34" charset="0"/>
                <a:ea typeface="Arial" pitchFamily="34" charset="-122"/>
                <a:cs typeface="Arial" pitchFamily="34" charset="-120"/>
              </a:rPr>
              <a:t>ROC–AUC, every class</a:t>
            </a:r>
            <a:endParaRPr lang="en-US" sz="1300" dirty="0"/>
          </a:p>
        </p:txBody>
      </p:sp>
      <p:sp>
        <p:nvSpPr>
          <p:cNvPr id="10" name="Shape 8"/>
          <p:cNvSpPr/>
          <p:nvPr/>
        </p:nvSpPr>
        <p:spPr>
          <a:xfrm>
            <a:off x="8449056" y="1783080"/>
            <a:ext cx="3520440" cy="1508760"/>
          </a:xfrm>
          <a:prstGeom prst="roundRect">
            <a:avLst>
              <a:gd name="adj" fmla="val 6061"/>
            </a:avLst>
          </a:prstGeom>
          <a:solidFill>
            <a:srgbClr val="12283E"/>
          </a:solidFill>
          <a:ln w="12700">
            <a:solidFill>
              <a:srgbClr val="1C3A56"/>
            </a:solidFill>
            <a:prstDash val="solid"/>
          </a:ln>
          <a:effectLst>
            <a:outerShdw sx="100000" sy="100000" kx="0" ky="0" algn="bl" rotWithShape="0" blurRad="88900" dist="25400" dir="5400000">
              <a:srgbClr val="22303C">
                <a:alpha val="10000"/>
              </a:srgbClr>
            </a:outerShdw>
          </a:effectLst>
        </p:spPr>
      </p:sp>
      <p:sp>
        <p:nvSpPr>
          <p:cNvPr id="11" name="Text 9"/>
          <p:cNvSpPr/>
          <p:nvPr/>
        </p:nvSpPr>
        <p:spPr>
          <a:xfrm>
            <a:off x="8769096" y="1984248"/>
            <a:ext cx="2880360" cy="731520"/>
          </a:xfrm>
          <a:prstGeom prst="rect">
            <a:avLst/>
          </a:prstGeom>
          <a:noFill/>
          <a:ln/>
        </p:spPr>
        <p:txBody>
          <a:bodyPr wrap="square" lIns="0" tIns="0" rIns="0" bIns="0" rtlCol="0" anchor="ctr"/>
          <a:lstStyle/>
          <a:p>
            <a:pPr indent="0" marL="0">
              <a:buNone/>
            </a:pPr>
            <a:r>
              <a:rPr lang="en-US" sz="4600" b="1" dirty="0">
                <a:solidFill>
                  <a:srgbClr val="16A99A"/>
                </a:solidFill>
                <a:latin typeface="Georgia" pitchFamily="34" charset="0"/>
                <a:ea typeface="Georgia" pitchFamily="34" charset="-122"/>
                <a:cs typeface="Georgia" pitchFamily="34" charset="-120"/>
              </a:rPr>
              <a:t>+9.0 pts</a:t>
            </a:r>
            <a:endParaRPr lang="en-US" sz="4600" dirty="0"/>
          </a:p>
        </p:txBody>
      </p:sp>
      <p:sp>
        <p:nvSpPr>
          <p:cNvPr id="12" name="Text 10"/>
          <p:cNvSpPr/>
          <p:nvPr/>
        </p:nvSpPr>
        <p:spPr>
          <a:xfrm>
            <a:off x="8769096" y="2770632"/>
            <a:ext cx="2880360" cy="365760"/>
          </a:xfrm>
          <a:prstGeom prst="rect">
            <a:avLst/>
          </a:prstGeom>
          <a:noFill/>
          <a:ln/>
        </p:spPr>
        <p:txBody>
          <a:bodyPr wrap="square" lIns="0" tIns="0" rIns="0" bIns="0" rtlCol="0" anchor="ctr"/>
          <a:lstStyle/>
          <a:p>
            <a:pPr indent="0" marL="0">
              <a:buNone/>
            </a:pPr>
            <a:r>
              <a:rPr lang="en-US" sz="1300" dirty="0">
                <a:solidFill>
                  <a:srgbClr val="CFE8E4"/>
                </a:solidFill>
                <a:latin typeface="Arial" pitchFamily="34" charset="0"/>
                <a:ea typeface="Arial" pitchFamily="34" charset="-122"/>
                <a:cs typeface="Arial" pitchFamily="34" charset="-120"/>
              </a:rPr>
              <a:t>Over STFT+CNN baseline</a:t>
            </a:r>
            <a:endParaRPr lang="en-US" sz="1300" dirty="0"/>
          </a:p>
        </p:txBody>
      </p:sp>
      <p:sp>
        <p:nvSpPr>
          <p:cNvPr id="13" name="Text 11"/>
          <p:cNvSpPr/>
          <p:nvPr/>
        </p:nvSpPr>
        <p:spPr>
          <a:xfrm>
            <a:off x="640080" y="3611880"/>
            <a:ext cx="10881360" cy="274320"/>
          </a:xfrm>
          <a:prstGeom prst="rect">
            <a:avLst/>
          </a:prstGeom>
          <a:noFill/>
          <a:ln/>
        </p:spPr>
        <p:txBody>
          <a:bodyPr wrap="square" lIns="0" tIns="0" rIns="0" bIns="0" rtlCol="0" anchor="ctr"/>
          <a:lstStyle/>
          <a:p>
            <a:pPr indent="0" marL="0">
              <a:buNone/>
            </a:pPr>
            <a:r>
              <a:rPr lang="en-US" sz="1150" b="1" spc="100" kern="0" dirty="0">
                <a:solidFill>
                  <a:srgbClr val="AFC4D6"/>
                </a:solidFill>
                <a:latin typeface="Arial" pitchFamily="34" charset="0"/>
                <a:ea typeface="Arial" pitchFamily="34" charset="-122"/>
                <a:cs typeface="Arial" pitchFamily="34" charset="-120"/>
              </a:rPr>
              <a:t>METHOD COMPARISON  —  precision / recall / F1 / accuracy (%)</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3941064"/>
          <a:ext cx="10908792" cy="914400"/>
        </p:xfrm>
        <a:graphic>
          <a:graphicData uri="http://schemas.openxmlformats.org/drawingml/2006/table">
            <a:tbl>
              <a:tblPr/>
              <a:tblGrid>
                <a:gridCol w="3291840"/>
                <a:gridCol w="1417320"/>
                <a:gridCol w="1554480"/>
                <a:gridCol w="1554480"/>
                <a:gridCol w="1280160"/>
                <a:gridCol w="1810512"/>
              </a:tblGrid>
              <a:tr h="420624">
                <a:tc>
                  <a:txBody>
                    <a:bodyPr/>
                    <a:lstStyle/>
                    <a:p>
                      <a:pPr algn="l" indent="0" marL="0">
                        <a:buNone/>
                      </a:pPr>
                      <a:r>
                        <a:rPr lang="en-US" sz="1250" b="1" dirty="0">
                          <a:solidFill>
                            <a:srgbClr val="FFFFFF"/>
                          </a:solidFill>
                          <a:latin typeface="Arial" pitchFamily="34" charset="0"/>
                          <a:ea typeface="Arial" pitchFamily="34" charset="-122"/>
                          <a:cs typeface="Arial" pitchFamily="34" charset="-120"/>
                        </a:rPr>
                        <a:t>Method</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C3A56"/>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Speed</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C3A56"/>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Precision</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C3A56"/>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Recall</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C3A56"/>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F1</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C3A56"/>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Accuracy</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C3A56"/>
                    </a:solidFill>
                  </a:tcPr>
                </a:tc>
              </a:tr>
              <a:tr h="438912">
                <a:tc>
                  <a:txBody>
                    <a:bodyPr/>
                    <a:lstStyle/>
                    <a:p>
                      <a:pPr algn="l" indent="0" marL="0">
                        <a:buNone/>
                      </a:pPr>
                      <a:r>
                        <a:rPr lang="en-US" sz="1250" dirty="0">
                          <a:solidFill>
                            <a:srgbClr val="AFC4D6"/>
                          </a:solidFill>
                          <a:latin typeface="Arial" pitchFamily="34" charset="0"/>
                          <a:ea typeface="Arial" pitchFamily="34" charset="-122"/>
                          <a:cs typeface="Arial" pitchFamily="34" charset="-120"/>
                        </a:rPr>
                        <a:t>STFT + CNN  (baseline)</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2283E"/>
                    </a:solidFill>
                  </a:tcPr>
                </a:tc>
                <a:tc>
                  <a:txBody>
                    <a:bodyPr/>
                    <a:lstStyle/>
                    <a:p>
                      <a:pPr algn="ctr" indent="0" marL="0">
                        <a:buNone/>
                      </a:pPr>
                      <a:r>
                        <a:rPr lang="en-US" sz="1250" dirty="0">
                          <a:solidFill>
                            <a:srgbClr val="AFC4D6"/>
                          </a:solidFill>
                          <a:latin typeface="Arial" pitchFamily="34" charset="0"/>
                          <a:ea typeface="Arial" pitchFamily="34" charset="-122"/>
                          <a:cs typeface="Arial" pitchFamily="34" charset="-120"/>
                        </a:rPr>
                        <a:t>660 rpm</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2283E"/>
                    </a:solidFill>
                  </a:tcPr>
                </a:tc>
                <a:tc>
                  <a:txBody>
                    <a:bodyPr/>
                    <a:lstStyle/>
                    <a:p>
                      <a:pPr algn="ctr" indent="0" marL="0">
                        <a:buNone/>
                      </a:pPr>
                      <a:r>
                        <a:rPr lang="en-US" sz="1250" dirty="0">
                          <a:solidFill>
                            <a:srgbClr val="AFC4D6"/>
                          </a:solidFill>
                          <a:latin typeface="Arial" pitchFamily="34" charset="0"/>
                          <a:ea typeface="Arial" pitchFamily="34" charset="-122"/>
                          <a:cs typeface="Arial" pitchFamily="34" charset="-120"/>
                        </a:rPr>
                        <a:t>91.20</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2283E"/>
                    </a:solidFill>
                  </a:tcPr>
                </a:tc>
                <a:tc>
                  <a:txBody>
                    <a:bodyPr/>
                    <a:lstStyle/>
                    <a:p>
                      <a:pPr algn="ctr" indent="0" marL="0">
                        <a:buNone/>
                      </a:pPr>
                      <a:r>
                        <a:rPr lang="en-US" sz="1250" dirty="0">
                          <a:solidFill>
                            <a:srgbClr val="AFC4D6"/>
                          </a:solidFill>
                          <a:latin typeface="Arial" pitchFamily="34" charset="0"/>
                          <a:ea typeface="Arial" pitchFamily="34" charset="-122"/>
                          <a:cs typeface="Arial" pitchFamily="34" charset="-120"/>
                        </a:rPr>
                        <a:t>91.80</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2283E"/>
                    </a:solidFill>
                  </a:tcPr>
                </a:tc>
                <a:tc>
                  <a:txBody>
                    <a:bodyPr/>
                    <a:lstStyle/>
                    <a:p>
                      <a:pPr algn="ctr" indent="0" marL="0">
                        <a:buNone/>
                      </a:pPr>
                      <a:r>
                        <a:rPr lang="en-US" sz="1250" dirty="0">
                          <a:solidFill>
                            <a:srgbClr val="AFC4D6"/>
                          </a:solidFill>
                          <a:latin typeface="Arial" pitchFamily="34" charset="0"/>
                          <a:ea typeface="Arial" pitchFamily="34" charset="-122"/>
                          <a:cs typeface="Arial" pitchFamily="34" charset="-120"/>
                        </a:rPr>
                        <a:t>90.50</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2283E"/>
                    </a:solidFill>
                  </a:tcPr>
                </a:tc>
                <a:tc>
                  <a:txBody>
                    <a:bodyPr/>
                    <a:lstStyle/>
                    <a:p>
                      <a:pPr algn="ctr" indent="0" marL="0">
                        <a:buNone/>
                      </a:pPr>
                      <a:r>
                        <a:rPr lang="en-US" sz="1250" dirty="0">
                          <a:solidFill>
                            <a:srgbClr val="AFC4D6"/>
                          </a:solidFill>
                          <a:latin typeface="Arial" pitchFamily="34" charset="0"/>
                          <a:ea typeface="Arial" pitchFamily="34" charset="-122"/>
                          <a:cs typeface="Arial" pitchFamily="34" charset="-120"/>
                        </a:rPr>
                        <a:t>90.90</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2283E"/>
                    </a:solidFill>
                  </a:tcPr>
                </a:tc>
              </a:tr>
              <a:tr h="438912">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BurstMAE–MIL  (ours)</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2342F"/>
                    </a:solidFill>
                  </a:tcPr>
                </a:tc>
                <a:tc>
                  <a:txBody>
                    <a:bodyPr/>
                    <a:lstStyle/>
                    <a:p>
                      <a:pPr algn="ctr" indent="0" marL="0">
                        <a:buNone/>
                      </a:pPr>
                      <a:r>
                        <a:rPr lang="en-US" sz="1250" dirty="0">
                          <a:solidFill>
                            <a:srgbClr val="FFFFFF"/>
                          </a:solidFill>
                          <a:latin typeface="Arial" pitchFamily="34" charset="0"/>
                          <a:ea typeface="Arial" pitchFamily="34" charset="-122"/>
                          <a:cs typeface="Arial" pitchFamily="34" charset="-120"/>
                        </a:rPr>
                        <a:t>660 rpm</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2342F"/>
                    </a:solidFill>
                  </a:tcPr>
                </a:tc>
                <a:tc>
                  <a:txBody>
                    <a:bodyPr/>
                    <a:lstStyle/>
                    <a:p>
                      <a:pPr algn="ctr" indent="0" marL="0">
                        <a:buNone/>
                      </a:pPr>
                      <a:r>
                        <a:rPr lang="en-US" sz="1250" b="1" dirty="0">
                          <a:solidFill>
                            <a:srgbClr val="16A99A"/>
                          </a:solidFill>
                          <a:latin typeface="Arial" pitchFamily="34" charset="0"/>
                          <a:ea typeface="Arial" pitchFamily="34" charset="-122"/>
                          <a:cs typeface="Arial" pitchFamily="34" charset="-120"/>
                        </a:rPr>
                        <a:t>99.92</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2342F"/>
                    </a:solidFill>
                  </a:tcPr>
                </a:tc>
                <a:tc>
                  <a:txBody>
                    <a:bodyPr/>
                    <a:lstStyle/>
                    <a:p>
                      <a:pPr algn="ctr" indent="0" marL="0">
                        <a:buNone/>
                      </a:pPr>
                      <a:r>
                        <a:rPr lang="en-US" sz="1250" b="1" dirty="0">
                          <a:solidFill>
                            <a:srgbClr val="16A99A"/>
                          </a:solidFill>
                          <a:latin typeface="Arial" pitchFamily="34" charset="0"/>
                          <a:ea typeface="Arial" pitchFamily="34" charset="-122"/>
                          <a:cs typeface="Arial" pitchFamily="34" charset="-120"/>
                        </a:rPr>
                        <a:t>99.91</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2342F"/>
                    </a:solidFill>
                  </a:tcPr>
                </a:tc>
                <a:tc>
                  <a:txBody>
                    <a:bodyPr/>
                    <a:lstStyle/>
                    <a:p>
                      <a:pPr algn="ctr" indent="0" marL="0">
                        <a:buNone/>
                      </a:pPr>
                      <a:r>
                        <a:rPr lang="en-US" sz="1250" b="1" dirty="0">
                          <a:solidFill>
                            <a:srgbClr val="16A99A"/>
                          </a:solidFill>
                          <a:latin typeface="Arial" pitchFamily="34" charset="0"/>
                          <a:ea typeface="Arial" pitchFamily="34" charset="-122"/>
                          <a:cs typeface="Arial" pitchFamily="34" charset="-120"/>
                        </a:rPr>
                        <a:t>99.92</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2342F"/>
                    </a:solidFill>
                  </a:tcPr>
                </a:tc>
                <a:tc>
                  <a:txBody>
                    <a:bodyPr/>
                    <a:lstStyle/>
                    <a:p>
                      <a:pPr algn="ctr" indent="0" marL="0">
                        <a:buNone/>
                      </a:pPr>
                      <a:r>
                        <a:rPr lang="en-US" sz="1250" b="1" dirty="0">
                          <a:solidFill>
                            <a:srgbClr val="16A99A"/>
                          </a:solidFill>
                          <a:latin typeface="Arial" pitchFamily="34" charset="0"/>
                          <a:ea typeface="Arial" pitchFamily="34" charset="-122"/>
                          <a:cs typeface="Arial" pitchFamily="34" charset="-120"/>
                        </a:rPr>
                        <a:t>99.91</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2342F"/>
                    </a:solidFill>
                  </a:tcPr>
                </a:tc>
              </a:tr>
              <a:tr h="438912">
                <a:tc>
                  <a:txBody>
                    <a:bodyPr/>
                    <a:lstStyle/>
                    <a:p>
                      <a:pPr algn="l" indent="0" marL="0">
                        <a:buNone/>
                      </a:pPr>
                      <a:r>
                        <a:rPr lang="en-US" sz="1250" dirty="0">
                          <a:solidFill>
                            <a:srgbClr val="AFC4D6"/>
                          </a:solidFill>
                          <a:latin typeface="Arial" pitchFamily="34" charset="0"/>
                          <a:ea typeface="Arial" pitchFamily="34" charset="-122"/>
                          <a:cs typeface="Arial" pitchFamily="34" charset="-120"/>
                        </a:rPr>
                        <a:t>STFT + CNN  (baseline)</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2283E"/>
                    </a:solidFill>
                  </a:tcPr>
                </a:tc>
                <a:tc>
                  <a:txBody>
                    <a:bodyPr/>
                    <a:lstStyle/>
                    <a:p>
                      <a:pPr algn="ctr" indent="0" marL="0">
                        <a:buNone/>
                      </a:pPr>
                      <a:r>
                        <a:rPr lang="en-US" sz="1250" dirty="0">
                          <a:solidFill>
                            <a:srgbClr val="AFC4D6"/>
                          </a:solidFill>
                          <a:latin typeface="Arial" pitchFamily="34" charset="0"/>
                          <a:ea typeface="Arial" pitchFamily="34" charset="-122"/>
                          <a:cs typeface="Arial" pitchFamily="34" charset="-120"/>
                        </a:rPr>
                        <a:t>720 rpm</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2283E"/>
                    </a:solidFill>
                  </a:tcPr>
                </a:tc>
                <a:tc>
                  <a:txBody>
                    <a:bodyPr/>
                    <a:lstStyle/>
                    <a:p>
                      <a:pPr algn="ctr" indent="0" marL="0">
                        <a:buNone/>
                      </a:pPr>
                      <a:r>
                        <a:rPr lang="en-US" sz="1250" dirty="0">
                          <a:solidFill>
                            <a:srgbClr val="AFC4D6"/>
                          </a:solidFill>
                          <a:latin typeface="Arial" pitchFamily="34" charset="0"/>
                          <a:ea typeface="Arial" pitchFamily="34" charset="-122"/>
                          <a:cs typeface="Arial" pitchFamily="34" charset="-120"/>
                        </a:rPr>
                        <a:t>89.40</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2283E"/>
                    </a:solidFill>
                  </a:tcPr>
                </a:tc>
                <a:tc>
                  <a:txBody>
                    <a:bodyPr/>
                    <a:lstStyle/>
                    <a:p>
                      <a:pPr algn="ctr" indent="0" marL="0">
                        <a:buNone/>
                      </a:pPr>
                      <a:r>
                        <a:rPr lang="en-US" sz="1250" dirty="0">
                          <a:solidFill>
                            <a:srgbClr val="AFC4D6"/>
                          </a:solidFill>
                          <a:latin typeface="Arial" pitchFamily="34" charset="0"/>
                          <a:ea typeface="Arial" pitchFamily="34" charset="-122"/>
                          <a:cs typeface="Arial" pitchFamily="34" charset="-120"/>
                        </a:rPr>
                        <a:t>89.60</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2283E"/>
                    </a:solidFill>
                  </a:tcPr>
                </a:tc>
                <a:tc>
                  <a:txBody>
                    <a:bodyPr/>
                    <a:lstStyle/>
                    <a:p>
                      <a:pPr algn="ctr" indent="0" marL="0">
                        <a:buNone/>
                      </a:pPr>
                      <a:r>
                        <a:rPr lang="en-US" sz="1250" dirty="0">
                          <a:solidFill>
                            <a:srgbClr val="AFC4D6"/>
                          </a:solidFill>
                          <a:latin typeface="Arial" pitchFamily="34" charset="0"/>
                          <a:ea typeface="Arial" pitchFamily="34" charset="-122"/>
                          <a:cs typeface="Arial" pitchFamily="34" charset="-120"/>
                        </a:rPr>
                        <a:t>88.90</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2283E"/>
                    </a:solidFill>
                  </a:tcPr>
                </a:tc>
                <a:tc>
                  <a:txBody>
                    <a:bodyPr/>
                    <a:lstStyle/>
                    <a:p>
                      <a:pPr algn="ctr" indent="0" marL="0">
                        <a:buNone/>
                      </a:pPr>
                      <a:r>
                        <a:rPr lang="en-US" sz="1250" dirty="0">
                          <a:solidFill>
                            <a:srgbClr val="AFC4D6"/>
                          </a:solidFill>
                          <a:latin typeface="Arial" pitchFamily="34" charset="0"/>
                          <a:ea typeface="Arial" pitchFamily="34" charset="-122"/>
                          <a:cs typeface="Arial" pitchFamily="34" charset="-120"/>
                        </a:rPr>
                        <a:t>89.20</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2283E"/>
                    </a:solidFill>
                  </a:tcPr>
                </a:tc>
              </a:tr>
              <a:tr h="438912">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BurstMAE–MIL  (ours)</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2342F"/>
                    </a:solidFill>
                  </a:tcPr>
                </a:tc>
                <a:tc>
                  <a:txBody>
                    <a:bodyPr/>
                    <a:lstStyle/>
                    <a:p>
                      <a:pPr algn="ctr" indent="0" marL="0">
                        <a:buNone/>
                      </a:pPr>
                      <a:r>
                        <a:rPr lang="en-US" sz="1250" dirty="0">
                          <a:solidFill>
                            <a:srgbClr val="FFFFFF"/>
                          </a:solidFill>
                          <a:latin typeface="Arial" pitchFamily="34" charset="0"/>
                          <a:ea typeface="Arial" pitchFamily="34" charset="-122"/>
                          <a:cs typeface="Arial" pitchFamily="34" charset="-120"/>
                        </a:rPr>
                        <a:t>720 rpm</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2342F"/>
                    </a:solidFill>
                  </a:tcPr>
                </a:tc>
                <a:tc>
                  <a:txBody>
                    <a:bodyPr/>
                    <a:lstStyle/>
                    <a:p>
                      <a:pPr algn="ctr" indent="0" marL="0">
                        <a:buNone/>
                      </a:pPr>
                      <a:r>
                        <a:rPr lang="en-US" sz="1250" b="1" dirty="0">
                          <a:solidFill>
                            <a:srgbClr val="16A99A"/>
                          </a:solidFill>
                          <a:latin typeface="Arial" pitchFamily="34" charset="0"/>
                          <a:ea typeface="Arial" pitchFamily="34" charset="-122"/>
                          <a:cs typeface="Arial" pitchFamily="34" charset="-120"/>
                        </a:rPr>
                        <a:t>99.92</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2342F"/>
                    </a:solidFill>
                  </a:tcPr>
                </a:tc>
                <a:tc>
                  <a:txBody>
                    <a:bodyPr/>
                    <a:lstStyle/>
                    <a:p>
                      <a:pPr algn="ctr" indent="0" marL="0">
                        <a:buNone/>
                      </a:pPr>
                      <a:r>
                        <a:rPr lang="en-US" sz="1250" b="1" dirty="0">
                          <a:solidFill>
                            <a:srgbClr val="16A99A"/>
                          </a:solidFill>
                          <a:latin typeface="Arial" pitchFamily="34" charset="0"/>
                          <a:ea typeface="Arial" pitchFamily="34" charset="-122"/>
                          <a:cs typeface="Arial" pitchFamily="34" charset="-120"/>
                        </a:rPr>
                        <a:t>99.91</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2342F"/>
                    </a:solidFill>
                  </a:tcPr>
                </a:tc>
                <a:tc>
                  <a:txBody>
                    <a:bodyPr/>
                    <a:lstStyle/>
                    <a:p>
                      <a:pPr algn="ctr" indent="0" marL="0">
                        <a:buNone/>
                      </a:pPr>
                      <a:r>
                        <a:rPr lang="en-US" sz="1250" b="1" dirty="0">
                          <a:solidFill>
                            <a:srgbClr val="16A99A"/>
                          </a:solidFill>
                          <a:latin typeface="Arial" pitchFamily="34" charset="0"/>
                          <a:ea typeface="Arial" pitchFamily="34" charset="-122"/>
                          <a:cs typeface="Arial" pitchFamily="34" charset="-120"/>
                        </a:rPr>
                        <a:t>99.92</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2342F"/>
                    </a:solidFill>
                  </a:tcPr>
                </a:tc>
                <a:tc>
                  <a:txBody>
                    <a:bodyPr/>
                    <a:lstStyle/>
                    <a:p>
                      <a:pPr algn="ctr" indent="0" marL="0">
                        <a:buNone/>
                      </a:pPr>
                      <a:r>
                        <a:rPr lang="en-US" sz="1250" b="1" dirty="0">
                          <a:solidFill>
                            <a:srgbClr val="16A99A"/>
                          </a:solidFill>
                          <a:latin typeface="Arial" pitchFamily="34" charset="0"/>
                          <a:ea typeface="Arial" pitchFamily="34" charset="-122"/>
                          <a:cs typeface="Arial" pitchFamily="34" charset="-120"/>
                        </a:rPr>
                        <a:t>99.91</a:t>
                      </a:r>
                      <a:endParaRPr lang="en-US" sz="1250" dirty="0">
                        <a:latin typeface="Arial" charset="0"/>
                        <a:ea typeface="Arial" charset="0"/>
                        <a:cs typeface="Arial" charset="0"/>
                      </a:endParaRPr>
                    </a:p>
                  </a:txBody>
                  <a:tcPr marL="76200" marR="76200" marT="38100" marB="38100" anchor="ctr">
                    <a:lnL w="6350" cap="flat" cmpd="sng" algn="ctr">
                      <a:solidFill>
                        <a:srgbClr val="1C3A56"/>
                      </a:solidFill>
                      <a:prstDash val="solid"/>
                      <a:round/>
                      <a:headEnd type="none" w="med" len="med"/>
                      <a:tailEnd type="none" w="med" len="med"/>
                    </a:lnL>
                    <a:lnR w="6350" cap="flat" cmpd="sng" algn="ctr">
                      <a:solidFill>
                        <a:srgbClr val="1C3A56"/>
                      </a:solidFill>
                      <a:prstDash val="solid"/>
                      <a:round/>
                      <a:headEnd type="none" w="med" len="med"/>
                      <a:tailEnd type="none" w="med" len="med"/>
                    </a:lnR>
                    <a:lnT w="6350" cap="flat" cmpd="sng" algn="ctr">
                      <a:solidFill>
                        <a:srgbClr val="1C3A56"/>
                      </a:solidFill>
                      <a:prstDash val="solid"/>
                      <a:round/>
                      <a:headEnd type="none" w="med" len="med"/>
                      <a:tailEnd type="none" w="med" len="med"/>
                    </a:lnT>
                    <a:lnB w="6350" cap="flat" cmpd="sng" algn="ctr">
                      <a:solidFill>
                        <a:srgbClr val="1C3A56"/>
                      </a:solidFill>
                      <a:prstDash val="solid"/>
                      <a:round/>
                      <a:headEnd type="none" w="med" len="med"/>
                      <a:tailEnd type="none" w="med" len="med"/>
                    </a:lnB>
                    <a:solidFill>
                      <a:srgbClr val="12342F"/>
                    </a:solidFill>
                  </a:tcPr>
                </a:tc>
              </a:tr>
            </a:tbl>
          </a:graphicData>
        </a:graphic>
      </p:graphicFrame>
      <p:sp>
        <p:nvSpPr>
          <p:cNvPr id="15" name="Text 12"/>
          <p:cNvSpPr/>
          <p:nvPr/>
        </p:nvSpPr>
        <p:spPr>
          <a:xfrm>
            <a:off x="640080" y="6236208"/>
            <a:ext cx="10908792" cy="365760"/>
          </a:xfrm>
          <a:prstGeom prst="rect">
            <a:avLst/>
          </a:prstGeom>
          <a:noFill/>
          <a:ln/>
        </p:spPr>
        <p:txBody>
          <a:bodyPr wrap="square" lIns="0" tIns="0" rIns="0" bIns="0" rtlCol="0" anchor="ctr"/>
          <a:lstStyle/>
          <a:p>
            <a:pPr indent="0" marL="0">
              <a:buNone/>
            </a:pPr>
            <a:r>
              <a:rPr lang="en-US" sz="1200" i="1" dirty="0">
                <a:solidFill>
                  <a:srgbClr val="CFE8E4"/>
                </a:solidFill>
                <a:latin typeface="Arial" pitchFamily="34" charset="0"/>
                <a:ea typeface="Arial" pitchFamily="34" charset="-122"/>
                <a:cs typeface="Arial" pitchFamily="34" charset="-120"/>
              </a:rPr>
              <a:t>Under a limited number of labeled samples per class, the fully supervised CNN degrades — our self–supervised, event–based design does not.</a:t>
            </a:r>
            <a:endParaRPr lang="en-US" sz="1200" dirty="0"/>
          </a:p>
        </p:txBody>
      </p:sp>
      <p:sp>
        <p:nvSpPr>
          <p:cNvPr id="16" name="Text 13"/>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AFC4D6"/>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640080" y="475488"/>
            <a:ext cx="10789920" cy="274320"/>
          </a:xfrm>
          <a:prstGeom prst="rect">
            <a:avLst/>
          </a:prstGeom>
          <a:noFill/>
          <a:ln/>
        </p:spPr>
        <p:txBody>
          <a:bodyPr wrap="square" lIns="0" tIns="0" rIns="0" bIns="0" rtlCol="0" anchor="ctr"/>
          <a:lstStyle/>
          <a:p>
            <a:pPr algn="l" indent="0" marL="0">
              <a:buNone/>
            </a:pPr>
            <a:r>
              <a:rPr lang="en-US" sz="1250" b="1" spc="300" kern="0" dirty="0">
                <a:solidFill>
                  <a:srgbClr val="16A99A"/>
                </a:solidFill>
                <a:latin typeface="Arial" pitchFamily="34" charset="0"/>
                <a:ea typeface="Arial" pitchFamily="34" charset="-122"/>
                <a:cs typeface="Arial" pitchFamily="34" charset="-120"/>
              </a:rPr>
              <a:t>RESULTS · ACCURACY</a:t>
            </a:r>
            <a:endParaRPr lang="en-US" sz="1250" dirty="0"/>
          </a:p>
        </p:txBody>
      </p:sp>
      <p:sp>
        <p:nvSpPr>
          <p:cNvPr id="3" name="Text 1"/>
          <p:cNvSpPr/>
          <p:nvPr/>
        </p:nvSpPr>
        <p:spPr>
          <a:xfrm>
            <a:off x="640080" y="749808"/>
            <a:ext cx="10881360" cy="777240"/>
          </a:xfrm>
          <a:prstGeom prst="rect">
            <a:avLst/>
          </a:prstGeom>
          <a:noFill/>
          <a:ln/>
        </p:spPr>
        <p:txBody>
          <a:bodyPr wrap="square" lIns="0" tIns="0" rIns="0" bIns="0" rtlCol="0" anchor="ctr"/>
          <a:lstStyle/>
          <a:p>
            <a:pPr algn="l" indent="0" marL="0">
              <a:lnSpc>
                <a:spcPct val="100000"/>
              </a:lnSpc>
              <a:buNone/>
            </a:pPr>
            <a:r>
              <a:rPr lang="en-US" sz="3000" b="1" dirty="0">
                <a:solidFill>
                  <a:srgbClr val="16293B"/>
                </a:solidFill>
                <a:latin typeface="Georgia" pitchFamily="34" charset="0"/>
                <a:ea typeface="Georgia" pitchFamily="34" charset="-122"/>
                <a:cs typeface="Georgia" pitchFamily="34" charset="-120"/>
              </a:rPr>
              <a:t>Flawless class separation</a:t>
            </a:r>
            <a:endParaRPr lang="en-US" sz="3000" dirty="0"/>
          </a:p>
        </p:txBody>
      </p:sp>
      <p:sp>
        <p:nvSpPr>
          <p:cNvPr id="4" name="Shape 2"/>
          <p:cNvSpPr/>
          <p:nvPr/>
        </p:nvSpPr>
        <p:spPr>
          <a:xfrm>
            <a:off x="1135228" y="1783080"/>
            <a:ext cx="4709160" cy="3886200"/>
          </a:xfrm>
          <a:prstGeom prst="roundRect">
            <a:avLst>
              <a:gd name="adj" fmla="val 2353"/>
            </a:avLst>
          </a:prstGeom>
          <a:solidFill>
            <a:srgbClr val="FFFFFF"/>
          </a:solidFill>
          <a:ln w="12700">
            <a:solidFill>
              <a:srgbClr val="DCE4EA"/>
            </a:solidFill>
            <a:prstDash val="solid"/>
          </a:ln>
          <a:effectLst>
            <a:outerShdw sx="100000" sy="100000" kx="0" ky="0" algn="bl" rotWithShape="0" blurRad="114300" dist="38100" dir="5400000">
              <a:srgbClr val="0A1622">
                <a:alpha val="13000"/>
              </a:srgbClr>
            </a:outerShdw>
          </a:effectLst>
        </p:spPr>
      </p:sp>
      <p:sp>
        <p:nvSpPr>
          <p:cNvPr id="5" name="Text 3"/>
          <p:cNvSpPr/>
          <p:nvPr/>
        </p:nvSpPr>
        <p:spPr>
          <a:xfrm>
            <a:off x="1409548" y="1984248"/>
            <a:ext cx="4160520" cy="274320"/>
          </a:xfrm>
          <a:prstGeom prst="rect">
            <a:avLst/>
          </a:prstGeom>
          <a:noFill/>
          <a:ln/>
        </p:spPr>
        <p:txBody>
          <a:bodyPr wrap="square" lIns="0" tIns="0" rIns="0" bIns="0" rtlCol="0" anchor="ctr"/>
          <a:lstStyle/>
          <a:p>
            <a:pPr algn="ctr" indent="0" marL="0">
              <a:buNone/>
            </a:pPr>
            <a:r>
              <a:rPr lang="en-US" sz="1250" b="1" spc="100" kern="0" dirty="0">
                <a:solidFill>
                  <a:srgbClr val="0E7C72"/>
                </a:solidFill>
                <a:latin typeface="Arial" pitchFamily="34" charset="0"/>
                <a:ea typeface="Arial" pitchFamily="34" charset="-122"/>
                <a:cs typeface="Arial" pitchFamily="34" charset="-120"/>
              </a:rPr>
              <a:t>660 RPM  ·  117 TEST FILES</a:t>
            </a:r>
            <a:endParaRPr lang="en-US" sz="1250" dirty="0"/>
          </a:p>
        </p:txBody>
      </p:sp>
      <p:pic>
        <p:nvPicPr>
          <p:cNvPr id="6" name="Image 0" descr="/home/claude/assets/cm_660.png">    </p:cNvPr>
          <p:cNvPicPr>
            <a:picLocks noChangeAspect="1"/>
          </p:cNvPicPr>
          <p:nvPr/>
        </p:nvPicPr>
        <p:blipFill>
          <a:blip r:embed="rId1"/>
          <a:stretch>
            <a:fillRect/>
          </a:stretch>
        </p:blipFill>
        <p:spPr>
          <a:xfrm>
            <a:off x="1672221" y="2350008"/>
            <a:ext cx="3635174" cy="3063240"/>
          </a:xfrm>
          <a:prstGeom prst="rect">
            <a:avLst/>
          </a:prstGeom>
        </p:spPr>
      </p:pic>
      <p:sp>
        <p:nvSpPr>
          <p:cNvPr id="7" name="Shape 4"/>
          <p:cNvSpPr/>
          <p:nvPr/>
        </p:nvSpPr>
        <p:spPr>
          <a:xfrm>
            <a:off x="6347308" y="1783080"/>
            <a:ext cx="4709160" cy="3886200"/>
          </a:xfrm>
          <a:prstGeom prst="roundRect">
            <a:avLst>
              <a:gd name="adj" fmla="val 2353"/>
            </a:avLst>
          </a:prstGeom>
          <a:solidFill>
            <a:srgbClr val="FFFFFF"/>
          </a:solidFill>
          <a:ln w="12700">
            <a:solidFill>
              <a:srgbClr val="DCE4EA"/>
            </a:solidFill>
            <a:prstDash val="solid"/>
          </a:ln>
          <a:effectLst>
            <a:outerShdw sx="100000" sy="100000" kx="0" ky="0" algn="bl" rotWithShape="0" blurRad="114300" dist="38100" dir="5400000">
              <a:srgbClr val="0A1622">
                <a:alpha val="13000"/>
              </a:srgbClr>
            </a:outerShdw>
          </a:effectLst>
        </p:spPr>
      </p:sp>
      <p:sp>
        <p:nvSpPr>
          <p:cNvPr id="8" name="Text 5"/>
          <p:cNvSpPr/>
          <p:nvPr/>
        </p:nvSpPr>
        <p:spPr>
          <a:xfrm>
            <a:off x="6621628" y="1984248"/>
            <a:ext cx="4160520" cy="274320"/>
          </a:xfrm>
          <a:prstGeom prst="rect">
            <a:avLst/>
          </a:prstGeom>
          <a:noFill/>
          <a:ln/>
        </p:spPr>
        <p:txBody>
          <a:bodyPr wrap="square" lIns="0" tIns="0" rIns="0" bIns="0" rtlCol="0" anchor="ctr"/>
          <a:lstStyle/>
          <a:p>
            <a:pPr algn="ctr" indent="0" marL="0">
              <a:buNone/>
            </a:pPr>
            <a:r>
              <a:rPr lang="en-US" sz="1250" b="1" spc="100" kern="0" dirty="0">
                <a:solidFill>
                  <a:srgbClr val="C9821F"/>
                </a:solidFill>
                <a:latin typeface="Arial" pitchFamily="34" charset="0"/>
                <a:ea typeface="Arial" pitchFamily="34" charset="-122"/>
                <a:cs typeface="Arial" pitchFamily="34" charset="-120"/>
              </a:rPr>
              <a:t>720 RPM  ·  135 TEST FILES</a:t>
            </a:r>
            <a:endParaRPr lang="en-US" sz="1250" dirty="0"/>
          </a:p>
        </p:txBody>
      </p:sp>
      <p:pic>
        <p:nvPicPr>
          <p:cNvPr id="9" name="Image 1" descr="/home/claude/assets/cm_720.png">    </p:cNvPr>
          <p:cNvPicPr>
            <a:picLocks noChangeAspect="1"/>
          </p:cNvPicPr>
          <p:nvPr/>
        </p:nvPicPr>
        <p:blipFill>
          <a:blip r:embed="rId2"/>
          <a:stretch>
            <a:fillRect/>
          </a:stretch>
        </p:blipFill>
        <p:spPr>
          <a:xfrm>
            <a:off x="6884301" y="2350008"/>
            <a:ext cx="3635174" cy="3063240"/>
          </a:xfrm>
          <a:prstGeom prst="rect">
            <a:avLst/>
          </a:prstGeom>
        </p:spPr>
      </p:pic>
      <p:sp>
        <p:nvSpPr>
          <p:cNvPr id="10" name="Text 6"/>
          <p:cNvSpPr/>
          <p:nvPr/>
        </p:nvSpPr>
        <p:spPr>
          <a:xfrm>
            <a:off x="640080" y="5852160"/>
            <a:ext cx="10881360" cy="365760"/>
          </a:xfrm>
          <a:prstGeom prst="rect">
            <a:avLst/>
          </a:prstGeom>
          <a:noFill/>
          <a:ln/>
        </p:spPr>
        <p:txBody>
          <a:bodyPr wrap="square" lIns="0" tIns="0" rIns="0" bIns="0" rtlCol="0" anchor="ctr"/>
          <a:lstStyle/>
          <a:p>
            <a:pPr algn="ctr" indent="0" marL="0">
              <a:buNone/>
            </a:pPr>
            <a:r>
              <a:rPr lang="en-US" sz="1400" b="1" dirty="0">
                <a:solidFill>
                  <a:srgbClr val="0E7C72"/>
                </a:solidFill>
                <a:latin typeface="Arial" pitchFamily="34" charset="0"/>
                <a:ea typeface="Arial" pitchFamily="34" charset="-122"/>
                <a:cs typeface="Arial" pitchFamily="34" charset="-120"/>
              </a:rPr>
              <a:t>Zero</a:t>
            </a:r>
            <a:pPr algn="ctr" indent="0" marL="0">
              <a:buNone/>
            </a:pPr>
            <a:r>
              <a:rPr lang="en-US" sz="1400" dirty="0">
                <a:solidFill>
                  <a:srgbClr val="26394C"/>
                </a:solidFill>
                <a:latin typeface="Arial" pitchFamily="34" charset="0"/>
                <a:ea typeface="Arial" pitchFamily="34" charset="-122"/>
                <a:cs typeface="Arial" pitchFamily="34" charset="-120"/>
              </a:rPr>
              <a:t> off–diagonal errors at both speeds — every fault class is recovered exactly.</a:t>
            </a:r>
            <a:endParaRPr lang="en-US" sz="1400" dirty="0"/>
          </a:p>
        </p:txBody>
      </p:sp>
      <p:sp>
        <p:nvSpPr>
          <p:cNvPr id="11" name="Text 7"/>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5E7184"/>
                </a:solidFill>
                <a:latin typeface="Arial" pitchFamily="34" charset="0"/>
                <a:ea typeface="Arial" pitchFamily="34" charset="-122"/>
                <a:cs typeface="Arial" pitchFamily="34" charset="-120"/>
              </a:rPr>
              <a:t>12</a:t>
            </a:r>
            <a:endParaRPr lang="en-US" sz="1000" dirty="0"/>
          </a:p>
        </p:txBody>
      </p:sp>
      <p:sp>
        <p:nvSpPr>
          <p:cNvPr id="12" name="Text 8"/>
          <p:cNvSpPr/>
          <p:nvPr/>
        </p:nvSpPr>
        <p:spPr>
          <a:xfrm>
            <a:off x="640080" y="6400800"/>
            <a:ext cx="3200400" cy="274320"/>
          </a:xfrm>
          <a:prstGeom prst="rect">
            <a:avLst/>
          </a:prstGeom>
          <a:noFill/>
          <a:ln/>
        </p:spPr>
        <p:txBody>
          <a:bodyPr wrap="square" lIns="0" tIns="0" rIns="0" bIns="0" rtlCol="0" anchor="ctr"/>
          <a:lstStyle/>
          <a:p>
            <a:pPr algn="l" indent="0" marL="0">
              <a:buNone/>
            </a:pPr>
            <a:r>
              <a:rPr lang="en-US" sz="1000" dirty="0">
                <a:solidFill>
                  <a:srgbClr val="5E7184"/>
                </a:solidFill>
                <a:latin typeface="Arial" pitchFamily="34" charset="0"/>
                <a:ea typeface="Arial" pitchFamily="34" charset="-122"/>
                <a:cs typeface="Arial" pitchFamily="34" charset="-120"/>
              </a:rPr>
              <a:t>BurstMAE-MIL</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640080" y="475488"/>
            <a:ext cx="10789920" cy="274320"/>
          </a:xfrm>
          <a:prstGeom prst="rect">
            <a:avLst/>
          </a:prstGeom>
          <a:noFill/>
          <a:ln/>
        </p:spPr>
        <p:txBody>
          <a:bodyPr wrap="square" lIns="0" tIns="0" rIns="0" bIns="0" rtlCol="0" anchor="ctr"/>
          <a:lstStyle/>
          <a:p>
            <a:pPr algn="l" indent="0" marL="0">
              <a:buNone/>
            </a:pPr>
            <a:r>
              <a:rPr lang="en-US" sz="1250" b="1" spc="300" kern="0" dirty="0">
                <a:solidFill>
                  <a:srgbClr val="16A99A"/>
                </a:solidFill>
                <a:latin typeface="Arial" pitchFamily="34" charset="0"/>
                <a:ea typeface="Arial" pitchFamily="34" charset="-122"/>
                <a:cs typeface="Arial" pitchFamily="34" charset="-120"/>
              </a:rPr>
              <a:t>RESULTS · EVIDENCE</a:t>
            </a:r>
            <a:endParaRPr lang="en-US" sz="1250" dirty="0"/>
          </a:p>
        </p:txBody>
      </p:sp>
      <p:sp>
        <p:nvSpPr>
          <p:cNvPr id="3" name="Text 1"/>
          <p:cNvSpPr/>
          <p:nvPr/>
        </p:nvSpPr>
        <p:spPr>
          <a:xfrm>
            <a:off x="640080" y="749808"/>
            <a:ext cx="10881360" cy="777240"/>
          </a:xfrm>
          <a:prstGeom prst="rect">
            <a:avLst/>
          </a:prstGeom>
          <a:noFill/>
          <a:ln/>
        </p:spPr>
        <p:txBody>
          <a:bodyPr wrap="square" lIns="0" tIns="0" rIns="0" bIns="0" rtlCol="0" anchor="ctr"/>
          <a:lstStyle/>
          <a:p>
            <a:pPr algn="l" indent="0" marL="0">
              <a:lnSpc>
                <a:spcPct val="100000"/>
              </a:lnSpc>
              <a:buNone/>
            </a:pPr>
            <a:r>
              <a:rPr lang="en-US" sz="3000" b="1" dirty="0">
                <a:solidFill>
                  <a:srgbClr val="16293B"/>
                </a:solidFill>
                <a:latin typeface="Georgia" pitchFamily="34" charset="0"/>
                <a:ea typeface="Georgia" pitchFamily="34" charset="-122"/>
                <a:cs typeface="Georgia" pitchFamily="34" charset="-120"/>
              </a:rPr>
              <a:t>Discriminative, well–separated features</a:t>
            </a:r>
            <a:endParaRPr lang="en-US" sz="3000" dirty="0"/>
          </a:p>
        </p:txBody>
      </p:sp>
      <p:sp>
        <p:nvSpPr>
          <p:cNvPr id="4" name="Shape 2"/>
          <p:cNvSpPr/>
          <p:nvPr/>
        </p:nvSpPr>
        <p:spPr>
          <a:xfrm>
            <a:off x="640080" y="1783080"/>
            <a:ext cx="5486400" cy="3840480"/>
          </a:xfrm>
          <a:prstGeom prst="roundRect">
            <a:avLst>
              <a:gd name="adj" fmla="val 2381"/>
            </a:avLst>
          </a:prstGeom>
          <a:solidFill>
            <a:srgbClr val="FFFFFF"/>
          </a:solidFill>
          <a:ln w="12700">
            <a:solidFill>
              <a:srgbClr val="DCE4EA"/>
            </a:solidFill>
            <a:prstDash val="solid"/>
          </a:ln>
          <a:effectLst>
            <a:outerShdw sx="100000" sy="100000" kx="0" ky="0" algn="bl" rotWithShape="0" blurRad="114300" dist="38100" dir="5400000">
              <a:srgbClr val="0A1622">
                <a:alpha val="13000"/>
              </a:srgbClr>
            </a:outerShdw>
          </a:effectLst>
        </p:spPr>
      </p:sp>
      <p:sp>
        <p:nvSpPr>
          <p:cNvPr id="5" name="Text 3"/>
          <p:cNvSpPr/>
          <p:nvPr/>
        </p:nvSpPr>
        <p:spPr>
          <a:xfrm>
            <a:off x="914400" y="1984248"/>
            <a:ext cx="4937760" cy="274320"/>
          </a:xfrm>
          <a:prstGeom prst="rect">
            <a:avLst/>
          </a:prstGeom>
          <a:noFill/>
          <a:ln/>
        </p:spPr>
        <p:txBody>
          <a:bodyPr wrap="square" lIns="0" tIns="0" rIns="0" bIns="0" rtlCol="0" anchor="ctr"/>
          <a:lstStyle/>
          <a:p>
            <a:pPr algn="ctr" indent="0" marL="0">
              <a:buNone/>
            </a:pPr>
            <a:r>
              <a:rPr lang="en-US" sz="1200" b="1" spc="100" kern="0" dirty="0">
                <a:solidFill>
                  <a:srgbClr val="0E7C72"/>
                </a:solidFill>
                <a:latin typeface="Arial" pitchFamily="34" charset="0"/>
                <a:ea typeface="Arial" pitchFamily="34" charset="-122"/>
                <a:cs typeface="Arial" pitchFamily="34" charset="-120"/>
              </a:rPr>
              <a:t>LEARNED EMBEDDINGS  (UMAP, 720 rpm)</a:t>
            </a:r>
            <a:endParaRPr lang="en-US" sz="1200" dirty="0"/>
          </a:p>
        </p:txBody>
      </p:sp>
      <p:pic>
        <p:nvPicPr>
          <p:cNvPr id="6" name="Image 0" descr="/home/claude/assets/umap_720.png">    </p:cNvPr>
          <p:cNvPicPr>
            <a:picLocks noChangeAspect="1"/>
          </p:cNvPicPr>
          <p:nvPr/>
        </p:nvPicPr>
        <p:blipFill>
          <a:blip r:embed="rId1"/>
          <a:stretch>
            <a:fillRect/>
          </a:stretch>
        </p:blipFill>
        <p:spPr>
          <a:xfrm>
            <a:off x="1812561" y="2331720"/>
            <a:ext cx="3141438" cy="2971800"/>
          </a:xfrm>
          <a:prstGeom prst="rect">
            <a:avLst/>
          </a:prstGeom>
        </p:spPr>
      </p:pic>
      <p:sp>
        <p:nvSpPr>
          <p:cNvPr id="7" name="Shape 4"/>
          <p:cNvSpPr/>
          <p:nvPr/>
        </p:nvSpPr>
        <p:spPr>
          <a:xfrm>
            <a:off x="6583680" y="1783080"/>
            <a:ext cx="4967935" cy="3840480"/>
          </a:xfrm>
          <a:prstGeom prst="roundRect">
            <a:avLst>
              <a:gd name="adj" fmla="val 2381"/>
            </a:avLst>
          </a:prstGeom>
          <a:solidFill>
            <a:srgbClr val="FFFFFF"/>
          </a:solidFill>
          <a:ln w="12700">
            <a:solidFill>
              <a:srgbClr val="DCE4EA"/>
            </a:solidFill>
            <a:prstDash val="solid"/>
          </a:ln>
          <a:effectLst>
            <a:outerShdw sx="100000" sy="100000" kx="0" ky="0" algn="bl" rotWithShape="0" blurRad="114300" dist="38100" dir="5400000">
              <a:srgbClr val="0A1622">
                <a:alpha val="13000"/>
              </a:srgbClr>
            </a:outerShdw>
          </a:effectLst>
        </p:spPr>
      </p:sp>
      <p:sp>
        <p:nvSpPr>
          <p:cNvPr id="8" name="Text 5"/>
          <p:cNvSpPr/>
          <p:nvPr/>
        </p:nvSpPr>
        <p:spPr>
          <a:xfrm>
            <a:off x="6858000" y="1984248"/>
            <a:ext cx="4419295" cy="274320"/>
          </a:xfrm>
          <a:prstGeom prst="rect">
            <a:avLst/>
          </a:prstGeom>
          <a:noFill/>
          <a:ln/>
        </p:spPr>
        <p:txBody>
          <a:bodyPr wrap="square" lIns="0" tIns="0" rIns="0" bIns="0" rtlCol="0" anchor="ctr"/>
          <a:lstStyle/>
          <a:p>
            <a:pPr algn="ctr" indent="0" marL="0">
              <a:buNone/>
            </a:pPr>
            <a:r>
              <a:rPr lang="en-US" sz="1200" b="1" spc="100" kern="0" dirty="0">
                <a:solidFill>
                  <a:srgbClr val="C9821F"/>
                </a:solidFill>
                <a:latin typeface="Arial" pitchFamily="34" charset="0"/>
                <a:ea typeface="Arial" pitchFamily="34" charset="-122"/>
                <a:cs typeface="Arial" pitchFamily="34" charset="-120"/>
              </a:rPr>
              <a:t>CLASS–WISE ROC</a:t>
            </a:r>
            <a:endParaRPr lang="en-US" sz="1200" dirty="0"/>
          </a:p>
        </p:txBody>
      </p:sp>
      <p:pic>
        <p:nvPicPr>
          <p:cNvPr id="9" name="Image 1" descr="/home/claude/assets/roc.png">    </p:cNvPr>
          <p:cNvPicPr>
            <a:picLocks noChangeAspect="1"/>
          </p:cNvPicPr>
          <p:nvPr/>
        </p:nvPicPr>
        <p:blipFill>
          <a:blip r:embed="rId2"/>
          <a:stretch>
            <a:fillRect/>
          </a:stretch>
        </p:blipFill>
        <p:spPr>
          <a:xfrm>
            <a:off x="7311265" y="2331720"/>
            <a:ext cx="3512766" cy="2971800"/>
          </a:xfrm>
          <a:prstGeom prst="rect">
            <a:avLst/>
          </a:prstGeom>
        </p:spPr>
      </p:pic>
      <p:sp>
        <p:nvSpPr>
          <p:cNvPr id="10" name="Text 6"/>
          <p:cNvSpPr/>
          <p:nvPr/>
        </p:nvSpPr>
        <p:spPr>
          <a:xfrm>
            <a:off x="640080" y="5806440"/>
            <a:ext cx="10881360" cy="365760"/>
          </a:xfrm>
          <a:prstGeom prst="rect">
            <a:avLst/>
          </a:prstGeom>
          <a:noFill/>
          <a:ln/>
        </p:spPr>
        <p:txBody>
          <a:bodyPr wrap="square" lIns="0" tIns="0" rIns="0" bIns="0" rtlCol="0" anchor="ctr"/>
          <a:lstStyle/>
          <a:p>
            <a:pPr algn="ctr" indent="0" marL="0">
              <a:buNone/>
            </a:pPr>
            <a:r>
              <a:rPr lang="en-US" sz="1400" dirty="0">
                <a:solidFill>
                  <a:srgbClr val="26394C"/>
                </a:solidFill>
                <a:latin typeface="Arial" pitchFamily="34" charset="0"/>
                <a:ea typeface="Arial" pitchFamily="34" charset="-122"/>
                <a:cs typeface="Arial" pitchFamily="34" charset="-120"/>
              </a:rPr>
              <a:t>Compact intra–class clusters and clean inter–class gaps; </a:t>
            </a:r>
            <a:pPr algn="ctr" indent="0" marL="0">
              <a:buNone/>
            </a:pPr>
            <a:r>
              <a:rPr lang="en-US" sz="1400" b="1" dirty="0">
                <a:solidFill>
                  <a:srgbClr val="0E7C72"/>
                </a:solidFill>
                <a:latin typeface="Arial" pitchFamily="34" charset="0"/>
                <a:ea typeface="Arial" pitchFamily="34" charset="-122"/>
                <a:cs typeface="Arial" pitchFamily="34" charset="-120"/>
              </a:rPr>
              <a:t>AUC = 1.000</a:t>
            </a:r>
            <a:pPr algn="ctr" indent="0" marL="0">
              <a:buNone/>
            </a:pPr>
            <a:r>
              <a:rPr lang="en-US" sz="1400" dirty="0">
                <a:solidFill>
                  <a:srgbClr val="26394C"/>
                </a:solidFill>
                <a:latin typeface="Arial" pitchFamily="34" charset="0"/>
                <a:ea typeface="Arial" pitchFamily="34" charset="-122"/>
                <a:cs typeface="Arial" pitchFamily="34" charset="-120"/>
              </a:rPr>
              <a:t> for all classes.</a:t>
            </a:r>
            <a:endParaRPr lang="en-US" sz="1400" dirty="0"/>
          </a:p>
        </p:txBody>
      </p:sp>
      <p:sp>
        <p:nvSpPr>
          <p:cNvPr id="11" name="Text 7"/>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5E7184"/>
                </a:solidFill>
                <a:latin typeface="Arial" pitchFamily="34" charset="0"/>
                <a:ea typeface="Arial" pitchFamily="34" charset="-122"/>
                <a:cs typeface="Arial" pitchFamily="34" charset="-120"/>
              </a:rPr>
              <a:t>13</a:t>
            </a:r>
            <a:endParaRPr lang="en-US" sz="1000" dirty="0"/>
          </a:p>
        </p:txBody>
      </p:sp>
      <p:sp>
        <p:nvSpPr>
          <p:cNvPr id="12" name="Text 8"/>
          <p:cNvSpPr/>
          <p:nvPr/>
        </p:nvSpPr>
        <p:spPr>
          <a:xfrm>
            <a:off x="640080" y="6400800"/>
            <a:ext cx="3200400" cy="274320"/>
          </a:xfrm>
          <a:prstGeom prst="rect">
            <a:avLst/>
          </a:prstGeom>
          <a:noFill/>
          <a:ln/>
        </p:spPr>
        <p:txBody>
          <a:bodyPr wrap="square" lIns="0" tIns="0" rIns="0" bIns="0" rtlCol="0" anchor="ctr"/>
          <a:lstStyle/>
          <a:p>
            <a:pPr algn="l" indent="0" marL="0">
              <a:buNone/>
            </a:pPr>
            <a:r>
              <a:rPr lang="en-US" sz="1000" dirty="0">
                <a:solidFill>
                  <a:srgbClr val="5E7184"/>
                </a:solidFill>
                <a:latin typeface="Arial" pitchFamily="34" charset="0"/>
                <a:ea typeface="Arial" pitchFamily="34" charset="-122"/>
                <a:cs typeface="Arial" pitchFamily="34" charset="-120"/>
              </a:rPr>
              <a:t>BurstMAE-MIL</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640080" y="475488"/>
            <a:ext cx="10789920" cy="274320"/>
          </a:xfrm>
          <a:prstGeom prst="rect">
            <a:avLst/>
          </a:prstGeom>
          <a:noFill/>
          <a:ln/>
        </p:spPr>
        <p:txBody>
          <a:bodyPr wrap="square" lIns="0" tIns="0" rIns="0" bIns="0" rtlCol="0" anchor="ctr"/>
          <a:lstStyle/>
          <a:p>
            <a:pPr algn="l" indent="0" marL="0">
              <a:buNone/>
            </a:pPr>
            <a:r>
              <a:rPr lang="en-US" sz="1250" b="1" spc="300" kern="0" dirty="0">
                <a:solidFill>
                  <a:srgbClr val="16A99A"/>
                </a:solidFill>
                <a:latin typeface="Arial" pitchFamily="34" charset="0"/>
                <a:ea typeface="Arial" pitchFamily="34" charset="-122"/>
                <a:cs typeface="Arial" pitchFamily="34" charset="-120"/>
              </a:rPr>
              <a:t>RESULTS · INTERPRETABILITY</a:t>
            </a:r>
            <a:endParaRPr lang="en-US" sz="1250" dirty="0"/>
          </a:p>
        </p:txBody>
      </p:sp>
      <p:sp>
        <p:nvSpPr>
          <p:cNvPr id="3" name="Text 1"/>
          <p:cNvSpPr/>
          <p:nvPr/>
        </p:nvSpPr>
        <p:spPr>
          <a:xfrm>
            <a:off x="640080" y="749808"/>
            <a:ext cx="10881360" cy="777240"/>
          </a:xfrm>
          <a:prstGeom prst="rect">
            <a:avLst/>
          </a:prstGeom>
          <a:noFill/>
          <a:ln/>
        </p:spPr>
        <p:txBody>
          <a:bodyPr wrap="square" lIns="0" tIns="0" rIns="0" bIns="0" rtlCol="0" anchor="ctr"/>
          <a:lstStyle/>
          <a:p>
            <a:pPr algn="l" indent="0" marL="0">
              <a:lnSpc>
                <a:spcPct val="100000"/>
              </a:lnSpc>
              <a:buNone/>
            </a:pPr>
            <a:r>
              <a:rPr lang="en-US" sz="3000" b="1" dirty="0">
                <a:solidFill>
                  <a:srgbClr val="16293B"/>
                </a:solidFill>
                <a:latin typeface="Georgia" pitchFamily="34" charset="0"/>
                <a:ea typeface="Georgia" pitchFamily="34" charset="-122"/>
                <a:cs typeface="Georgia" pitchFamily="34" charset="-120"/>
              </a:rPr>
              <a:t>What the model attends to</a:t>
            </a:r>
            <a:endParaRPr lang="en-US" sz="3000" dirty="0"/>
          </a:p>
        </p:txBody>
      </p:sp>
      <p:sp>
        <p:nvSpPr>
          <p:cNvPr id="4" name="Shape 2"/>
          <p:cNvSpPr/>
          <p:nvPr/>
        </p:nvSpPr>
        <p:spPr>
          <a:xfrm>
            <a:off x="640080" y="1920240"/>
            <a:ext cx="658368" cy="658368"/>
          </a:xfrm>
          <a:prstGeom prst="ellipse">
            <a:avLst/>
          </a:prstGeom>
          <a:solidFill>
            <a:srgbClr val="16A99A"/>
          </a:solidFill>
          <a:ln/>
          <a:effectLst>
            <a:outerShdw sx="100000" sy="100000" kx="0" ky="0" algn="bl" rotWithShape="0" blurRad="76200" dist="25400" dir="5400000">
              <a:srgbClr val="0A1622">
                <a:alpha val="18000"/>
              </a:srgbClr>
            </a:outerShdw>
          </a:effectLst>
        </p:spPr>
      </p:sp>
      <p:pic>
        <p:nvPicPr>
          <p:cNvPr id="5" name="Image 0" descr="preencoded.png">    </p:cNvPr>
          <p:cNvPicPr>
            <a:picLocks noChangeAspect="1"/>
          </p:cNvPicPr>
          <p:nvPr/>
        </p:nvPicPr>
        <p:blipFill>
          <a:blip r:embed="rId1"/>
          <a:stretch>
            <a:fillRect/>
          </a:stretch>
        </p:blipFill>
        <p:spPr>
          <a:xfrm>
            <a:off x="831007" y="2111167"/>
            <a:ext cx="276515" cy="276515"/>
          </a:xfrm>
          <a:prstGeom prst="rect">
            <a:avLst/>
          </a:prstGeom>
        </p:spPr>
      </p:pic>
      <p:sp>
        <p:nvSpPr>
          <p:cNvPr id="6" name="Text 3"/>
          <p:cNvSpPr/>
          <p:nvPr/>
        </p:nvSpPr>
        <p:spPr>
          <a:xfrm>
            <a:off x="1508760" y="1901952"/>
            <a:ext cx="3931920" cy="329184"/>
          </a:xfrm>
          <a:prstGeom prst="rect">
            <a:avLst/>
          </a:prstGeom>
          <a:noFill/>
          <a:ln/>
        </p:spPr>
        <p:txBody>
          <a:bodyPr wrap="square" lIns="0" tIns="0" rIns="0" bIns="0" rtlCol="0" anchor="ctr"/>
          <a:lstStyle/>
          <a:p>
            <a:pPr indent="0" marL="0">
              <a:buNone/>
            </a:pPr>
            <a:r>
              <a:rPr lang="en-US" sz="1600" b="1" dirty="0">
                <a:solidFill>
                  <a:srgbClr val="16293B"/>
                </a:solidFill>
                <a:latin typeface="Arial" pitchFamily="34" charset="0"/>
                <a:ea typeface="Arial" pitchFamily="34" charset="-122"/>
                <a:cs typeface="Arial" pitchFamily="34" charset="-120"/>
              </a:rPr>
              <a:t>Selective focus</a:t>
            </a:r>
            <a:endParaRPr lang="en-US" sz="1600" dirty="0"/>
          </a:p>
        </p:txBody>
      </p:sp>
      <p:sp>
        <p:nvSpPr>
          <p:cNvPr id="7" name="Text 4"/>
          <p:cNvSpPr/>
          <p:nvPr/>
        </p:nvSpPr>
        <p:spPr>
          <a:xfrm>
            <a:off x="1508760" y="2231136"/>
            <a:ext cx="4069080" cy="777240"/>
          </a:xfrm>
          <a:prstGeom prst="rect">
            <a:avLst/>
          </a:prstGeom>
          <a:noFill/>
          <a:ln/>
        </p:spPr>
        <p:txBody>
          <a:bodyPr wrap="square" lIns="0" tIns="0" rIns="0" bIns="0" rtlCol="0" anchor="ctr"/>
          <a:lstStyle/>
          <a:p>
            <a:pPr indent="0" marL="0">
              <a:lnSpc>
                <a:spcPct val="108000"/>
              </a:lnSpc>
              <a:buNone/>
            </a:pPr>
            <a:r>
              <a:rPr lang="en-US" sz="1250" dirty="0">
                <a:solidFill>
                  <a:srgbClr val="5E7184"/>
                </a:solidFill>
                <a:latin typeface="Arial" pitchFamily="34" charset="0"/>
                <a:ea typeface="Arial" pitchFamily="34" charset="-122"/>
                <a:cs typeface="Arial" pitchFamily="34" charset="-120"/>
              </a:rPr>
              <a:t>Attention concentrates on a subset of diagnostically informative bursts.</a:t>
            </a:r>
            <a:endParaRPr lang="en-US" sz="1250" dirty="0"/>
          </a:p>
        </p:txBody>
      </p:sp>
      <p:sp>
        <p:nvSpPr>
          <p:cNvPr id="8" name="Shape 5"/>
          <p:cNvSpPr/>
          <p:nvPr/>
        </p:nvSpPr>
        <p:spPr>
          <a:xfrm>
            <a:off x="640080" y="3108960"/>
            <a:ext cx="658368" cy="658368"/>
          </a:xfrm>
          <a:prstGeom prst="ellipse">
            <a:avLst/>
          </a:prstGeom>
          <a:solidFill>
            <a:srgbClr val="EFA135"/>
          </a:solidFill>
          <a:ln/>
          <a:effectLst>
            <a:outerShdw sx="100000" sy="100000" kx="0" ky="0" algn="bl" rotWithShape="0" blurRad="76200" dist="25400" dir="5400000">
              <a:srgbClr val="0A1622">
                <a:alpha val="18000"/>
              </a:srgbClr>
            </a:outerShdw>
          </a:effectLst>
        </p:spPr>
      </p:sp>
      <p:pic>
        <p:nvPicPr>
          <p:cNvPr id="9" name="Image 1" descr="preencoded.png">    </p:cNvPr>
          <p:cNvPicPr>
            <a:picLocks noChangeAspect="1"/>
          </p:cNvPicPr>
          <p:nvPr/>
        </p:nvPicPr>
        <p:blipFill>
          <a:blip r:embed="rId2"/>
          <a:stretch>
            <a:fillRect/>
          </a:stretch>
        </p:blipFill>
        <p:spPr>
          <a:xfrm>
            <a:off x="831007" y="3299887"/>
            <a:ext cx="276515" cy="276515"/>
          </a:xfrm>
          <a:prstGeom prst="rect">
            <a:avLst/>
          </a:prstGeom>
        </p:spPr>
      </p:pic>
      <p:sp>
        <p:nvSpPr>
          <p:cNvPr id="10" name="Text 6"/>
          <p:cNvSpPr/>
          <p:nvPr/>
        </p:nvSpPr>
        <p:spPr>
          <a:xfrm>
            <a:off x="1508760" y="3090672"/>
            <a:ext cx="3931920" cy="329184"/>
          </a:xfrm>
          <a:prstGeom prst="rect">
            <a:avLst/>
          </a:prstGeom>
          <a:noFill/>
          <a:ln/>
        </p:spPr>
        <p:txBody>
          <a:bodyPr wrap="square" lIns="0" tIns="0" rIns="0" bIns="0" rtlCol="0" anchor="ctr"/>
          <a:lstStyle/>
          <a:p>
            <a:pPr indent="0" marL="0">
              <a:buNone/>
            </a:pPr>
            <a:r>
              <a:rPr lang="en-US" sz="1600" b="1" dirty="0">
                <a:solidFill>
                  <a:srgbClr val="16293B"/>
                </a:solidFill>
                <a:latin typeface="Arial" pitchFamily="34" charset="0"/>
                <a:ea typeface="Arial" pitchFamily="34" charset="-122"/>
                <a:cs typeface="Arial" pitchFamily="34" charset="-120"/>
              </a:rPr>
              <a:t>Class–specific patterns</a:t>
            </a:r>
            <a:endParaRPr lang="en-US" sz="1600" dirty="0"/>
          </a:p>
        </p:txBody>
      </p:sp>
      <p:sp>
        <p:nvSpPr>
          <p:cNvPr id="11" name="Text 7"/>
          <p:cNvSpPr/>
          <p:nvPr/>
        </p:nvSpPr>
        <p:spPr>
          <a:xfrm>
            <a:off x="1508760" y="3419856"/>
            <a:ext cx="4069080" cy="777240"/>
          </a:xfrm>
          <a:prstGeom prst="rect">
            <a:avLst/>
          </a:prstGeom>
          <a:noFill/>
          <a:ln/>
        </p:spPr>
        <p:txBody>
          <a:bodyPr wrap="square" lIns="0" tIns="0" rIns="0" bIns="0" rtlCol="0" anchor="ctr"/>
          <a:lstStyle/>
          <a:p>
            <a:pPr indent="0" marL="0">
              <a:lnSpc>
                <a:spcPct val="108000"/>
              </a:lnSpc>
              <a:buNone/>
            </a:pPr>
            <a:r>
              <a:rPr lang="en-US" sz="1250" dirty="0">
                <a:solidFill>
                  <a:srgbClr val="5E7184"/>
                </a:solidFill>
                <a:latin typeface="Arial" pitchFamily="34" charset="0"/>
                <a:ea typeface="Arial" pitchFamily="34" charset="-122"/>
                <a:cs typeface="Arial" pitchFamily="34" charset="-120"/>
              </a:rPr>
              <a:t>Each fault type elicits a distinct attention signature across bursts.</a:t>
            </a:r>
            <a:endParaRPr lang="en-US" sz="1250" dirty="0"/>
          </a:p>
        </p:txBody>
      </p:sp>
      <p:sp>
        <p:nvSpPr>
          <p:cNvPr id="12" name="Shape 8"/>
          <p:cNvSpPr/>
          <p:nvPr/>
        </p:nvSpPr>
        <p:spPr>
          <a:xfrm>
            <a:off x="640080" y="4297680"/>
            <a:ext cx="658368" cy="658368"/>
          </a:xfrm>
          <a:prstGeom prst="ellipse">
            <a:avLst/>
          </a:prstGeom>
          <a:solidFill>
            <a:srgbClr val="16A99A"/>
          </a:solidFill>
          <a:ln/>
          <a:effectLst>
            <a:outerShdw sx="100000" sy="100000" kx="0" ky="0" algn="bl" rotWithShape="0" blurRad="76200" dist="25400" dir="5400000">
              <a:srgbClr val="0A1622">
                <a:alpha val="18000"/>
              </a:srgbClr>
            </a:outerShdw>
          </a:effectLst>
        </p:spPr>
      </p:sp>
      <p:pic>
        <p:nvPicPr>
          <p:cNvPr id="13" name="Image 2" descr="preencoded.png">    </p:cNvPr>
          <p:cNvPicPr>
            <a:picLocks noChangeAspect="1"/>
          </p:cNvPicPr>
          <p:nvPr/>
        </p:nvPicPr>
        <p:blipFill>
          <a:blip r:embed="rId3"/>
          <a:stretch>
            <a:fillRect/>
          </a:stretch>
        </p:blipFill>
        <p:spPr>
          <a:xfrm>
            <a:off x="831007" y="4488607"/>
            <a:ext cx="276515" cy="276515"/>
          </a:xfrm>
          <a:prstGeom prst="rect">
            <a:avLst/>
          </a:prstGeom>
        </p:spPr>
      </p:pic>
      <p:sp>
        <p:nvSpPr>
          <p:cNvPr id="14" name="Text 9"/>
          <p:cNvSpPr/>
          <p:nvPr/>
        </p:nvSpPr>
        <p:spPr>
          <a:xfrm>
            <a:off x="1508760" y="4279392"/>
            <a:ext cx="3931920" cy="329184"/>
          </a:xfrm>
          <a:prstGeom prst="rect">
            <a:avLst/>
          </a:prstGeom>
          <a:noFill/>
          <a:ln/>
        </p:spPr>
        <p:txBody>
          <a:bodyPr wrap="square" lIns="0" tIns="0" rIns="0" bIns="0" rtlCol="0" anchor="ctr"/>
          <a:lstStyle/>
          <a:p>
            <a:pPr indent="0" marL="0">
              <a:buNone/>
            </a:pPr>
            <a:r>
              <a:rPr lang="en-US" sz="1600" b="1" dirty="0">
                <a:solidFill>
                  <a:srgbClr val="16293B"/>
                </a:solidFill>
                <a:latin typeface="Arial" pitchFamily="34" charset="0"/>
                <a:ea typeface="Arial" pitchFamily="34" charset="-122"/>
                <a:cs typeface="Arial" pitchFamily="34" charset="-120"/>
              </a:rPr>
              <a:t>No burst labels</a:t>
            </a:r>
            <a:endParaRPr lang="en-US" sz="1600" dirty="0"/>
          </a:p>
        </p:txBody>
      </p:sp>
      <p:sp>
        <p:nvSpPr>
          <p:cNvPr id="15" name="Text 10"/>
          <p:cNvSpPr/>
          <p:nvPr/>
        </p:nvSpPr>
        <p:spPr>
          <a:xfrm>
            <a:off x="1508760" y="4608576"/>
            <a:ext cx="4069080" cy="777240"/>
          </a:xfrm>
          <a:prstGeom prst="rect">
            <a:avLst/>
          </a:prstGeom>
          <a:noFill/>
          <a:ln/>
        </p:spPr>
        <p:txBody>
          <a:bodyPr wrap="square" lIns="0" tIns="0" rIns="0" bIns="0" rtlCol="0" anchor="ctr"/>
          <a:lstStyle/>
          <a:p>
            <a:pPr indent="0" marL="0">
              <a:lnSpc>
                <a:spcPct val="108000"/>
              </a:lnSpc>
              <a:buNone/>
            </a:pPr>
            <a:r>
              <a:rPr lang="en-US" sz="1250" dirty="0">
                <a:solidFill>
                  <a:srgbClr val="5E7184"/>
                </a:solidFill>
                <a:latin typeface="Arial" pitchFamily="34" charset="0"/>
                <a:ea typeface="Arial" pitchFamily="34" charset="-122"/>
                <a:cs typeface="Arial" pitchFamily="34" charset="-120"/>
              </a:rPr>
              <a:t>Effective instance selection emerges from recording–level supervision alone.</a:t>
            </a:r>
            <a:endParaRPr lang="en-US" sz="1250" dirty="0"/>
          </a:p>
        </p:txBody>
      </p:sp>
      <p:sp>
        <p:nvSpPr>
          <p:cNvPr id="16" name="Shape 11"/>
          <p:cNvSpPr/>
          <p:nvPr/>
        </p:nvSpPr>
        <p:spPr>
          <a:xfrm>
            <a:off x="5806440" y="1783080"/>
            <a:ext cx="5745175" cy="4480560"/>
          </a:xfrm>
          <a:prstGeom prst="roundRect">
            <a:avLst>
              <a:gd name="adj" fmla="val 2041"/>
            </a:avLst>
          </a:prstGeom>
          <a:solidFill>
            <a:srgbClr val="FFFFFF"/>
          </a:solidFill>
          <a:ln w="12700">
            <a:solidFill>
              <a:srgbClr val="DCE4EA"/>
            </a:solidFill>
            <a:prstDash val="solid"/>
          </a:ln>
          <a:effectLst>
            <a:outerShdw sx="100000" sy="100000" kx="0" ky="0" algn="bl" rotWithShape="0" blurRad="114300" dist="38100" dir="5400000">
              <a:srgbClr val="0A1622">
                <a:alpha val="13000"/>
              </a:srgbClr>
            </a:outerShdw>
          </a:effectLst>
        </p:spPr>
      </p:sp>
      <p:sp>
        <p:nvSpPr>
          <p:cNvPr id="17" name="Text 12"/>
          <p:cNvSpPr/>
          <p:nvPr/>
        </p:nvSpPr>
        <p:spPr>
          <a:xfrm>
            <a:off x="6035040" y="1947672"/>
            <a:ext cx="5287975" cy="274320"/>
          </a:xfrm>
          <a:prstGeom prst="rect">
            <a:avLst/>
          </a:prstGeom>
          <a:noFill/>
          <a:ln/>
        </p:spPr>
        <p:txBody>
          <a:bodyPr wrap="square" lIns="0" tIns="0" rIns="0" bIns="0" rtlCol="0" anchor="ctr"/>
          <a:lstStyle/>
          <a:p>
            <a:pPr algn="ctr" indent="0" marL="0">
              <a:buNone/>
            </a:pPr>
            <a:r>
              <a:rPr lang="en-US" sz="1100" b="1" spc="50" kern="0" dirty="0">
                <a:solidFill>
                  <a:srgbClr val="0E7C72"/>
                </a:solidFill>
                <a:latin typeface="Arial" pitchFamily="34" charset="0"/>
                <a:ea typeface="Arial" pitchFamily="34" charset="-122"/>
                <a:cs typeface="Arial" pitchFamily="34" charset="-120"/>
              </a:rPr>
              <a:t>ATTENTION WEIGHTS PER BURST  ·  BF / GF / TF / N  (720 rpm)</a:t>
            </a:r>
            <a:endParaRPr lang="en-US" sz="1100" dirty="0"/>
          </a:p>
        </p:txBody>
      </p:sp>
      <p:pic>
        <p:nvPicPr>
          <p:cNvPr id="18" name="Image 3" descr="/home/claude/assets/attn_720.png">    </p:cNvPr>
          <p:cNvPicPr>
            <a:picLocks noChangeAspect="1"/>
          </p:cNvPicPr>
          <p:nvPr/>
        </p:nvPicPr>
        <p:blipFill>
          <a:blip r:embed="rId4"/>
          <a:stretch>
            <a:fillRect/>
          </a:stretch>
        </p:blipFill>
        <p:spPr>
          <a:xfrm>
            <a:off x="6035040" y="2286000"/>
            <a:ext cx="5287975" cy="3920313"/>
          </a:xfrm>
          <a:prstGeom prst="rect">
            <a:avLst/>
          </a:prstGeom>
        </p:spPr>
      </p:pic>
      <p:sp>
        <p:nvSpPr>
          <p:cNvPr id="19" name="Text 13"/>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5E7184"/>
                </a:solidFill>
                <a:latin typeface="Arial" pitchFamily="34" charset="0"/>
                <a:ea typeface="Arial" pitchFamily="34" charset="-122"/>
                <a:cs typeface="Arial" pitchFamily="34" charset="-120"/>
              </a:rPr>
              <a:t>14</a:t>
            </a:r>
            <a:endParaRPr lang="en-US" sz="1000" dirty="0"/>
          </a:p>
        </p:txBody>
      </p:sp>
      <p:sp>
        <p:nvSpPr>
          <p:cNvPr id="20" name="Text 14"/>
          <p:cNvSpPr/>
          <p:nvPr/>
        </p:nvSpPr>
        <p:spPr>
          <a:xfrm>
            <a:off x="640080" y="6400800"/>
            <a:ext cx="3200400" cy="274320"/>
          </a:xfrm>
          <a:prstGeom prst="rect">
            <a:avLst/>
          </a:prstGeom>
          <a:noFill/>
          <a:ln/>
        </p:spPr>
        <p:txBody>
          <a:bodyPr wrap="square" lIns="0" tIns="0" rIns="0" bIns="0" rtlCol="0" anchor="ctr"/>
          <a:lstStyle/>
          <a:p>
            <a:pPr algn="l" indent="0" marL="0">
              <a:buNone/>
            </a:pPr>
            <a:r>
              <a:rPr lang="en-US" sz="1000" dirty="0">
                <a:solidFill>
                  <a:srgbClr val="5E7184"/>
                </a:solidFill>
                <a:latin typeface="Arial" pitchFamily="34" charset="0"/>
                <a:ea typeface="Arial" pitchFamily="34" charset="-122"/>
                <a:cs typeface="Arial" pitchFamily="34" charset="-120"/>
              </a:rPr>
              <a:t>BurstMAE-MIL</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640080" y="475488"/>
            <a:ext cx="10789920" cy="274320"/>
          </a:xfrm>
          <a:prstGeom prst="rect">
            <a:avLst/>
          </a:prstGeom>
          <a:noFill/>
          <a:ln/>
        </p:spPr>
        <p:txBody>
          <a:bodyPr wrap="square" lIns="0" tIns="0" rIns="0" bIns="0" rtlCol="0" anchor="ctr"/>
          <a:lstStyle/>
          <a:p>
            <a:pPr algn="l" indent="0" marL="0">
              <a:buNone/>
            </a:pPr>
            <a:r>
              <a:rPr lang="en-US" sz="1250" b="1" spc="300" kern="0" dirty="0">
                <a:solidFill>
                  <a:srgbClr val="16A99A"/>
                </a:solidFill>
                <a:latin typeface="Arial" pitchFamily="34" charset="0"/>
                <a:ea typeface="Arial" pitchFamily="34" charset="-122"/>
                <a:cs typeface="Arial" pitchFamily="34" charset="-120"/>
              </a:rPr>
              <a:t>SYNTHESIS</a:t>
            </a:r>
            <a:endParaRPr lang="en-US" sz="1250" dirty="0"/>
          </a:p>
        </p:txBody>
      </p:sp>
      <p:sp>
        <p:nvSpPr>
          <p:cNvPr id="3" name="Text 1"/>
          <p:cNvSpPr/>
          <p:nvPr/>
        </p:nvSpPr>
        <p:spPr>
          <a:xfrm>
            <a:off x="640080" y="749808"/>
            <a:ext cx="10881360" cy="777240"/>
          </a:xfrm>
          <a:prstGeom prst="rect">
            <a:avLst/>
          </a:prstGeom>
          <a:noFill/>
          <a:ln/>
        </p:spPr>
        <p:txBody>
          <a:bodyPr wrap="square" lIns="0" tIns="0" rIns="0" bIns="0" rtlCol="0" anchor="ctr"/>
          <a:lstStyle/>
          <a:p>
            <a:pPr algn="l" indent="0" marL="0">
              <a:lnSpc>
                <a:spcPct val="100000"/>
              </a:lnSpc>
              <a:buNone/>
            </a:pPr>
            <a:r>
              <a:rPr lang="en-US" sz="3000" b="1" dirty="0">
                <a:solidFill>
                  <a:srgbClr val="16293B"/>
                </a:solidFill>
                <a:latin typeface="Georgia" pitchFamily="34" charset="0"/>
                <a:ea typeface="Georgia" pitchFamily="34" charset="-122"/>
                <a:cs typeface="Georgia" pitchFamily="34" charset="-120"/>
              </a:rPr>
              <a:t>Three reasons it works</a:t>
            </a:r>
            <a:endParaRPr lang="en-US" sz="3000" dirty="0"/>
          </a:p>
        </p:txBody>
      </p:sp>
      <p:sp>
        <p:nvSpPr>
          <p:cNvPr id="4" name="Shape 2"/>
          <p:cNvSpPr/>
          <p:nvPr/>
        </p:nvSpPr>
        <p:spPr>
          <a:xfrm>
            <a:off x="640080" y="1874520"/>
            <a:ext cx="10908792" cy="1143000"/>
          </a:xfrm>
          <a:prstGeom prst="roundRect">
            <a:avLst>
              <a:gd name="adj" fmla="val 8000"/>
            </a:avLst>
          </a:prstGeom>
          <a:solidFill>
            <a:srgbClr val="FFFFFF"/>
          </a:solidFill>
          <a:ln w="12700">
            <a:solidFill>
              <a:srgbClr val="DCE4EA"/>
            </a:solidFill>
            <a:prstDash val="solid"/>
          </a:ln>
          <a:effectLst>
            <a:outerShdw sx="100000" sy="100000" kx="0" ky="0" algn="bl" rotWithShape="0" blurRad="101600" dist="25400" dir="5400000">
              <a:srgbClr val="0A1622">
                <a:alpha val="12000"/>
              </a:srgbClr>
            </a:outerShdw>
          </a:effectLst>
        </p:spPr>
      </p:sp>
      <p:sp>
        <p:nvSpPr>
          <p:cNvPr id="5" name="Shape 3"/>
          <p:cNvSpPr/>
          <p:nvPr/>
        </p:nvSpPr>
        <p:spPr>
          <a:xfrm>
            <a:off x="932688" y="2157984"/>
            <a:ext cx="566928" cy="566928"/>
          </a:xfrm>
          <a:prstGeom prst="ellipse">
            <a:avLst/>
          </a:prstGeom>
          <a:solidFill>
            <a:srgbClr val="16A99A"/>
          </a:solidFill>
          <a:ln/>
          <a:effectLst>
            <a:outerShdw sx="100000" sy="100000" kx="0" ky="0" algn="bl" rotWithShape="0" blurRad="76200" dist="25400" dir="5400000">
              <a:srgbClr val="0A1622">
                <a:alpha val="18000"/>
              </a:srgbClr>
            </a:outerShdw>
          </a:effectLst>
        </p:spPr>
      </p:sp>
      <p:pic>
        <p:nvPicPr>
          <p:cNvPr id="6" name="Image 0" descr="preencoded.png">    </p:cNvPr>
          <p:cNvPicPr>
            <a:picLocks noChangeAspect="1"/>
          </p:cNvPicPr>
          <p:nvPr/>
        </p:nvPicPr>
        <p:blipFill>
          <a:blip r:embed="rId1"/>
          <a:stretch>
            <a:fillRect/>
          </a:stretch>
        </p:blipFill>
        <p:spPr>
          <a:xfrm>
            <a:off x="1097097" y="2322393"/>
            <a:ext cx="238110" cy="238110"/>
          </a:xfrm>
          <a:prstGeom prst="rect">
            <a:avLst/>
          </a:prstGeom>
        </p:spPr>
      </p:pic>
      <p:sp>
        <p:nvSpPr>
          <p:cNvPr id="7" name="Text 4"/>
          <p:cNvSpPr/>
          <p:nvPr/>
        </p:nvSpPr>
        <p:spPr>
          <a:xfrm>
            <a:off x="10698480" y="2130552"/>
            <a:ext cx="640080" cy="640080"/>
          </a:xfrm>
          <a:prstGeom prst="rect">
            <a:avLst/>
          </a:prstGeom>
          <a:noFill/>
          <a:ln/>
        </p:spPr>
        <p:txBody>
          <a:bodyPr wrap="square" lIns="0" tIns="0" rIns="0" bIns="0" rtlCol="0" anchor="ctr"/>
          <a:lstStyle/>
          <a:p>
            <a:pPr algn="r" indent="0" marL="0">
              <a:buNone/>
            </a:pPr>
            <a:r>
              <a:rPr lang="en-US" sz="3000" b="1" dirty="0">
                <a:solidFill>
                  <a:srgbClr val="E3EAEF"/>
                </a:solidFill>
                <a:latin typeface="Georgia" pitchFamily="34" charset="0"/>
                <a:ea typeface="Georgia" pitchFamily="34" charset="-122"/>
                <a:cs typeface="Georgia" pitchFamily="34" charset="-120"/>
              </a:rPr>
              <a:t>01</a:t>
            </a:r>
            <a:endParaRPr lang="en-US" sz="3000" dirty="0"/>
          </a:p>
        </p:txBody>
      </p:sp>
      <p:sp>
        <p:nvSpPr>
          <p:cNvPr id="8" name="Text 5"/>
          <p:cNvSpPr/>
          <p:nvPr/>
        </p:nvSpPr>
        <p:spPr>
          <a:xfrm>
            <a:off x="1737360" y="2075688"/>
            <a:ext cx="7315200" cy="365760"/>
          </a:xfrm>
          <a:prstGeom prst="rect">
            <a:avLst/>
          </a:prstGeom>
          <a:noFill/>
          <a:ln/>
        </p:spPr>
        <p:txBody>
          <a:bodyPr wrap="square" lIns="0" tIns="0" rIns="0" bIns="0" rtlCol="0" anchor="ctr"/>
          <a:lstStyle/>
          <a:p>
            <a:pPr indent="0" marL="0">
              <a:buNone/>
            </a:pPr>
            <a:r>
              <a:rPr lang="en-US" sz="1800" b="1" dirty="0">
                <a:solidFill>
                  <a:srgbClr val="16293B"/>
                </a:solidFill>
                <a:latin typeface="Arial" pitchFamily="34" charset="0"/>
                <a:ea typeface="Arial" pitchFamily="34" charset="-122"/>
                <a:cs typeface="Arial" pitchFamily="34" charset="-120"/>
              </a:rPr>
              <a:t>Event–based focus</a:t>
            </a:r>
            <a:endParaRPr lang="en-US" sz="1800" dirty="0"/>
          </a:p>
        </p:txBody>
      </p:sp>
      <p:sp>
        <p:nvSpPr>
          <p:cNvPr id="9" name="Text 6"/>
          <p:cNvSpPr/>
          <p:nvPr/>
        </p:nvSpPr>
        <p:spPr>
          <a:xfrm>
            <a:off x="1737360" y="2441448"/>
            <a:ext cx="8595360" cy="502920"/>
          </a:xfrm>
          <a:prstGeom prst="rect">
            <a:avLst/>
          </a:prstGeom>
          <a:noFill/>
          <a:ln/>
        </p:spPr>
        <p:txBody>
          <a:bodyPr wrap="square" lIns="0" tIns="0" rIns="0" bIns="0" rtlCol="0" anchor="ctr"/>
          <a:lstStyle/>
          <a:p>
            <a:pPr indent="0" marL="0">
              <a:lnSpc>
                <a:spcPct val="105000"/>
              </a:lnSpc>
              <a:buNone/>
            </a:pPr>
            <a:r>
              <a:rPr lang="en-US" sz="1300" dirty="0">
                <a:solidFill>
                  <a:srgbClr val="5E7184"/>
                </a:solidFill>
                <a:latin typeface="Arial" pitchFamily="34" charset="0"/>
                <a:ea typeface="Arial" pitchFamily="34" charset="-122"/>
                <a:cs typeface="Arial" pitchFamily="34" charset="-120"/>
              </a:rPr>
              <a:t>Burst segmentation guides learning to physical stress–wave events, removing background redundancy.</a:t>
            </a:r>
            <a:endParaRPr lang="en-US" sz="1300" dirty="0"/>
          </a:p>
        </p:txBody>
      </p:sp>
      <p:sp>
        <p:nvSpPr>
          <p:cNvPr id="10" name="Shape 7"/>
          <p:cNvSpPr/>
          <p:nvPr/>
        </p:nvSpPr>
        <p:spPr>
          <a:xfrm>
            <a:off x="640080" y="3200400"/>
            <a:ext cx="10908792" cy="1143000"/>
          </a:xfrm>
          <a:prstGeom prst="roundRect">
            <a:avLst>
              <a:gd name="adj" fmla="val 8000"/>
            </a:avLst>
          </a:prstGeom>
          <a:solidFill>
            <a:srgbClr val="FFFFFF"/>
          </a:solidFill>
          <a:ln w="12700">
            <a:solidFill>
              <a:srgbClr val="DCE4EA"/>
            </a:solidFill>
            <a:prstDash val="solid"/>
          </a:ln>
          <a:effectLst>
            <a:outerShdw sx="100000" sy="100000" kx="0" ky="0" algn="bl" rotWithShape="0" blurRad="101600" dist="25400" dir="5400000">
              <a:srgbClr val="0A1622">
                <a:alpha val="12000"/>
              </a:srgbClr>
            </a:outerShdw>
          </a:effectLst>
        </p:spPr>
      </p:sp>
      <p:sp>
        <p:nvSpPr>
          <p:cNvPr id="11" name="Shape 8"/>
          <p:cNvSpPr/>
          <p:nvPr/>
        </p:nvSpPr>
        <p:spPr>
          <a:xfrm>
            <a:off x="932688" y="3483864"/>
            <a:ext cx="566928" cy="566928"/>
          </a:xfrm>
          <a:prstGeom prst="ellipse">
            <a:avLst/>
          </a:prstGeom>
          <a:solidFill>
            <a:srgbClr val="EFA135"/>
          </a:solidFill>
          <a:ln/>
          <a:effectLst>
            <a:outerShdw sx="100000" sy="100000" kx="0" ky="0" algn="bl" rotWithShape="0" blurRad="76200" dist="25400" dir="5400000">
              <a:srgbClr val="0A1622">
                <a:alpha val="18000"/>
              </a:srgbClr>
            </a:outerShdw>
          </a:effectLst>
        </p:spPr>
      </p:sp>
      <p:pic>
        <p:nvPicPr>
          <p:cNvPr id="12" name="Image 1" descr="preencoded.png">    </p:cNvPr>
          <p:cNvPicPr>
            <a:picLocks noChangeAspect="1"/>
          </p:cNvPicPr>
          <p:nvPr/>
        </p:nvPicPr>
        <p:blipFill>
          <a:blip r:embed="rId2"/>
          <a:stretch>
            <a:fillRect/>
          </a:stretch>
        </p:blipFill>
        <p:spPr>
          <a:xfrm>
            <a:off x="1097097" y="3648273"/>
            <a:ext cx="238110" cy="238110"/>
          </a:xfrm>
          <a:prstGeom prst="rect">
            <a:avLst/>
          </a:prstGeom>
        </p:spPr>
      </p:pic>
      <p:sp>
        <p:nvSpPr>
          <p:cNvPr id="13" name="Text 9"/>
          <p:cNvSpPr/>
          <p:nvPr/>
        </p:nvSpPr>
        <p:spPr>
          <a:xfrm>
            <a:off x="10698480" y="3456432"/>
            <a:ext cx="640080" cy="640080"/>
          </a:xfrm>
          <a:prstGeom prst="rect">
            <a:avLst/>
          </a:prstGeom>
          <a:noFill/>
          <a:ln/>
        </p:spPr>
        <p:txBody>
          <a:bodyPr wrap="square" lIns="0" tIns="0" rIns="0" bIns="0" rtlCol="0" anchor="ctr"/>
          <a:lstStyle/>
          <a:p>
            <a:pPr algn="r" indent="0" marL="0">
              <a:buNone/>
            </a:pPr>
            <a:r>
              <a:rPr lang="en-US" sz="3000" b="1" dirty="0">
                <a:solidFill>
                  <a:srgbClr val="E3EAEF"/>
                </a:solidFill>
                <a:latin typeface="Georgia" pitchFamily="34" charset="0"/>
                <a:ea typeface="Georgia" pitchFamily="34" charset="-122"/>
                <a:cs typeface="Georgia" pitchFamily="34" charset="-120"/>
              </a:rPr>
              <a:t>02</a:t>
            </a:r>
            <a:endParaRPr lang="en-US" sz="3000" dirty="0"/>
          </a:p>
        </p:txBody>
      </p:sp>
      <p:sp>
        <p:nvSpPr>
          <p:cNvPr id="14" name="Text 10"/>
          <p:cNvSpPr/>
          <p:nvPr/>
        </p:nvSpPr>
        <p:spPr>
          <a:xfrm>
            <a:off x="1737360" y="3401568"/>
            <a:ext cx="7315200" cy="365760"/>
          </a:xfrm>
          <a:prstGeom prst="rect">
            <a:avLst/>
          </a:prstGeom>
          <a:noFill/>
          <a:ln/>
        </p:spPr>
        <p:txBody>
          <a:bodyPr wrap="square" lIns="0" tIns="0" rIns="0" bIns="0" rtlCol="0" anchor="ctr"/>
          <a:lstStyle/>
          <a:p>
            <a:pPr indent="0" marL="0">
              <a:buNone/>
            </a:pPr>
            <a:r>
              <a:rPr lang="en-US" sz="1800" b="1" dirty="0">
                <a:solidFill>
                  <a:srgbClr val="16293B"/>
                </a:solidFill>
                <a:latin typeface="Arial" pitchFamily="34" charset="0"/>
                <a:ea typeface="Arial" pitchFamily="34" charset="-122"/>
                <a:cs typeface="Arial" pitchFamily="34" charset="-120"/>
              </a:rPr>
              <a:t>Self–supervised pretraining</a:t>
            </a:r>
            <a:endParaRPr lang="en-US" sz="1800" dirty="0"/>
          </a:p>
        </p:txBody>
      </p:sp>
      <p:sp>
        <p:nvSpPr>
          <p:cNvPr id="15" name="Text 11"/>
          <p:cNvSpPr/>
          <p:nvPr/>
        </p:nvSpPr>
        <p:spPr>
          <a:xfrm>
            <a:off x="1737360" y="3767328"/>
            <a:ext cx="8595360" cy="502920"/>
          </a:xfrm>
          <a:prstGeom prst="rect">
            <a:avLst/>
          </a:prstGeom>
          <a:noFill/>
          <a:ln/>
        </p:spPr>
        <p:txBody>
          <a:bodyPr wrap="square" lIns="0" tIns="0" rIns="0" bIns="0" rtlCol="0" anchor="ctr"/>
          <a:lstStyle/>
          <a:p>
            <a:pPr indent="0" marL="0">
              <a:lnSpc>
                <a:spcPct val="105000"/>
              </a:lnSpc>
              <a:buNone/>
            </a:pPr>
            <a:r>
              <a:rPr lang="en-US" sz="1300" dirty="0">
                <a:solidFill>
                  <a:srgbClr val="5E7184"/>
                </a:solidFill>
                <a:latin typeface="Arial" pitchFamily="34" charset="0"/>
                <a:ea typeface="Arial" pitchFamily="34" charset="-122"/>
                <a:cs typeface="Arial" pitchFamily="34" charset="-120"/>
              </a:rPr>
              <a:t>Robust burst representations are learned without large labeled datasets — critical where AE labels are costly.</a:t>
            </a:r>
            <a:endParaRPr lang="en-US" sz="1300" dirty="0"/>
          </a:p>
        </p:txBody>
      </p:sp>
      <p:sp>
        <p:nvSpPr>
          <p:cNvPr id="16" name="Shape 12"/>
          <p:cNvSpPr/>
          <p:nvPr/>
        </p:nvSpPr>
        <p:spPr>
          <a:xfrm>
            <a:off x="640080" y="4526280"/>
            <a:ext cx="10908792" cy="1143000"/>
          </a:xfrm>
          <a:prstGeom prst="roundRect">
            <a:avLst>
              <a:gd name="adj" fmla="val 8000"/>
            </a:avLst>
          </a:prstGeom>
          <a:solidFill>
            <a:srgbClr val="FFFFFF"/>
          </a:solidFill>
          <a:ln w="12700">
            <a:solidFill>
              <a:srgbClr val="DCE4EA"/>
            </a:solidFill>
            <a:prstDash val="solid"/>
          </a:ln>
          <a:effectLst>
            <a:outerShdw sx="100000" sy="100000" kx="0" ky="0" algn="bl" rotWithShape="0" blurRad="101600" dist="25400" dir="5400000">
              <a:srgbClr val="0A1622">
                <a:alpha val="12000"/>
              </a:srgbClr>
            </a:outerShdw>
          </a:effectLst>
        </p:spPr>
      </p:sp>
      <p:sp>
        <p:nvSpPr>
          <p:cNvPr id="17" name="Shape 13"/>
          <p:cNvSpPr/>
          <p:nvPr/>
        </p:nvSpPr>
        <p:spPr>
          <a:xfrm>
            <a:off x="932688" y="4809744"/>
            <a:ext cx="566928" cy="566928"/>
          </a:xfrm>
          <a:prstGeom prst="ellipse">
            <a:avLst/>
          </a:prstGeom>
          <a:solidFill>
            <a:srgbClr val="16A99A"/>
          </a:solidFill>
          <a:ln/>
          <a:effectLst>
            <a:outerShdw sx="100000" sy="100000" kx="0" ky="0" algn="bl" rotWithShape="0" blurRad="76200" dist="25400" dir="5400000">
              <a:srgbClr val="0A1622">
                <a:alpha val="18000"/>
              </a:srgbClr>
            </a:outerShdw>
          </a:effectLst>
        </p:spPr>
      </p:sp>
      <p:pic>
        <p:nvPicPr>
          <p:cNvPr id="18" name="Image 2" descr="preencoded.png">    </p:cNvPr>
          <p:cNvPicPr>
            <a:picLocks noChangeAspect="1"/>
          </p:cNvPicPr>
          <p:nvPr/>
        </p:nvPicPr>
        <p:blipFill>
          <a:blip r:embed="rId3"/>
          <a:stretch>
            <a:fillRect/>
          </a:stretch>
        </p:blipFill>
        <p:spPr>
          <a:xfrm>
            <a:off x="1097097" y="4974153"/>
            <a:ext cx="238110" cy="238110"/>
          </a:xfrm>
          <a:prstGeom prst="rect">
            <a:avLst/>
          </a:prstGeom>
        </p:spPr>
      </p:pic>
      <p:sp>
        <p:nvSpPr>
          <p:cNvPr id="19" name="Text 14"/>
          <p:cNvSpPr/>
          <p:nvPr/>
        </p:nvSpPr>
        <p:spPr>
          <a:xfrm>
            <a:off x="10698480" y="4782312"/>
            <a:ext cx="640080" cy="640080"/>
          </a:xfrm>
          <a:prstGeom prst="rect">
            <a:avLst/>
          </a:prstGeom>
          <a:noFill/>
          <a:ln/>
        </p:spPr>
        <p:txBody>
          <a:bodyPr wrap="square" lIns="0" tIns="0" rIns="0" bIns="0" rtlCol="0" anchor="ctr"/>
          <a:lstStyle/>
          <a:p>
            <a:pPr algn="r" indent="0" marL="0">
              <a:buNone/>
            </a:pPr>
            <a:r>
              <a:rPr lang="en-US" sz="3000" b="1" dirty="0">
                <a:solidFill>
                  <a:srgbClr val="E3EAEF"/>
                </a:solidFill>
                <a:latin typeface="Georgia" pitchFamily="34" charset="0"/>
                <a:ea typeface="Georgia" pitchFamily="34" charset="-122"/>
                <a:cs typeface="Georgia" pitchFamily="34" charset="-120"/>
              </a:rPr>
              <a:t>03</a:t>
            </a:r>
            <a:endParaRPr lang="en-US" sz="3000" dirty="0"/>
          </a:p>
        </p:txBody>
      </p:sp>
      <p:sp>
        <p:nvSpPr>
          <p:cNvPr id="20" name="Text 15"/>
          <p:cNvSpPr/>
          <p:nvPr/>
        </p:nvSpPr>
        <p:spPr>
          <a:xfrm>
            <a:off x="1737360" y="4727448"/>
            <a:ext cx="7315200" cy="365760"/>
          </a:xfrm>
          <a:prstGeom prst="rect">
            <a:avLst/>
          </a:prstGeom>
          <a:noFill/>
          <a:ln/>
        </p:spPr>
        <p:txBody>
          <a:bodyPr wrap="square" lIns="0" tIns="0" rIns="0" bIns="0" rtlCol="0" anchor="ctr"/>
          <a:lstStyle/>
          <a:p>
            <a:pPr indent="0" marL="0">
              <a:buNone/>
            </a:pPr>
            <a:r>
              <a:rPr lang="en-US" sz="1800" b="1" dirty="0">
                <a:solidFill>
                  <a:srgbClr val="16293B"/>
                </a:solidFill>
                <a:latin typeface="Arial" pitchFamily="34" charset="0"/>
                <a:ea typeface="Arial" pitchFamily="34" charset="-122"/>
                <a:cs typeface="Arial" pitchFamily="34" charset="-120"/>
              </a:rPr>
              <a:t>Attention aggregation</a:t>
            </a:r>
            <a:endParaRPr lang="en-US" sz="1800" dirty="0"/>
          </a:p>
        </p:txBody>
      </p:sp>
      <p:sp>
        <p:nvSpPr>
          <p:cNvPr id="21" name="Text 16"/>
          <p:cNvSpPr/>
          <p:nvPr/>
        </p:nvSpPr>
        <p:spPr>
          <a:xfrm>
            <a:off x="1737360" y="5093208"/>
            <a:ext cx="8595360" cy="502920"/>
          </a:xfrm>
          <a:prstGeom prst="rect">
            <a:avLst/>
          </a:prstGeom>
          <a:noFill/>
          <a:ln/>
        </p:spPr>
        <p:txBody>
          <a:bodyPr wrap="square" lIns="0" tIns="0" rIns="0" bIns="0" rtlCol="0" anchor="ctr"/>
          <a:lstStyle/>
          <a:p>
            <a:pPr indent="0" marL="0">
              <a:lnSpc>
                <a:spcPct val="105000"/>
              </a:lnSpc>
              <a:buNone/>
            </a:pPr>
            <a:r>
              <a:rPr lang="en-US" sz="1300" dirty="0">
                <a:solidFill>
                  <a:srgbClr val="5E7184"/>
                </a:solidFill>
                <a:latin typeface="Arial" pitchFamily="34" charset="0"/>
                <a:ea typeface="Arial" pitchFamily="34" charset="-122"/>
                <a:cs typeface="Arial" pitchFamily="34" charset="-120"/>
              </a:rPr>
              <a:t>Diagnostic bursts are emphasized and irrelevant ones suppressed under weak, recording–level supervision.</a:t>
            </a:r>
            <a:endParaRPr lang="en-US" sz="1300" dirty="0"/>
          </a:p>
        </p:txBody>
      </p:sp>
      <p:sp>
        <p:nvSpPr>
          <p:cNvPr id="22" name="Text 17"/>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5E7184"/>
                </a:solidFill>
                <a:latin typeface="Arial" pitchFamily="34" charset="0"/>
                <a:ea typeface="Arial" pitchFamily="34" charset="-122"/>
                <a:cs typeface="Arial" pitchFamily="34" charset="-120"/>
              </a:rPr>
              <a:t>15</a:t>
            </a:r>
            <a:endParaRPr lang="en-US" sz="1000" dirty="0"/>
          </a:p>
        </p:txBody>
      </p:sp>
      <p:sp>
        <p:nvSpPr>
          <p:cNvPr id="23" name="Text 18"/>
          <p:cNvSpPr/>
          <p:nvPr/>
        </p:nvSpPr>
        <p:spPr>
          <a:xfrm>
            <a:off x="640080" y="6400800"/>
            <a:ext cx="3200400" cy="274320"/>
          </a:xfrm>
          <a:prstGeom prst="rect">
            <a:avLst/>
          </a:prstGeom>
          <a:noFill/>
          <a:ln/>
        </p:spPr>
        <p:txBody>
          <a:bodyPr wrap="square" lIns="0" tIns="0" rIns="0" bIns="0" rtlCol="0" anchor="ctr"/>
          <a:lstStyle/>
          <a:p>
            <a:pPr algn="l" indent="0" marL="0">
              <a:buNone/>
            </a:pPr>
            <a:r>
              <a:rPr lang="en-US" sz="1000" dirty="0">
                <a:solidFill>
                  <a:srgbClr val="5E7184"/>
                </a:solidFill>
                <a:latin typeface="Arial" pitchFamily="34" charset="0"/>
                <a:ea typeface="Arial" pitchFamily="34" charset="-122"/>
                <a:cs typeface="Arial" pitchFamily="34" charset="-120"/>
              </a:rPr>
              <a:t>BurstMAE-MIL</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1A2B"/>
        </a:solidFill>
      </p:bgPr>
    </p:bg>
    <p:spTree>
      <p:nvGrpSpPr>
        <p:cNvPr id="1" name=""/>
        <p:cNvGrpSpPr/>
        <p:nvPr/>
      </p:nvGrpSpPr>
      <p:grpSpPr>
        <a:xfrm>
          <a:off x="0" y="0"/>
          <a:ext cx="0" cy="0"/>
          <a:chOff x="0" y="0"/>
          <a:chExt cx="0" cy="0"/>
        </a:xfrm>
      </p:grpSpPr>
      <p:sp>
        <p:nvSpPr>
          <p:cNvPr id="2" name="Text 0"/>
          <p:cNvSpPr/>
          <p:nvPr/>
        </p:nvSpPr>
        <p:spPr>
          <a:xfrm>
            <a:off x="640080" y="548640"/>
            <a:ext cx="10789920" cy="274320"/>
          </a:xfrm>
          <a:prstGeom prst="rect">
            <a:avLst/>
          </a:prstGeom>
          <a:noFill/>
          <a:ln/>
        </p:spPr>
        <p:txBody>
          <a:bodyPr wrap="square" lIns="0" tIns="0" rIns="0" bIns="0" rtlCol="0" anchor="ctr"/>
          <a:lstStyle/>
          <a:p>
            <a:pPr indent="0" marL="0">
              <a:buNone/>
            </a:pPr>
            <a:r>
              <a:rPr lang="en-US" sz="1250" b="1" spc="300" kern="0" dirty="0">
                <a:solidFill>
                  <a:srgbClr val="16A99A"/>
                </a:solidFill>
                <a:latin typeface="Arial" pitchFamily="34" charset="0"/>
                <a:ea typeface="Arial" pitchFamily="34" charset="-122"/>
                <a:cs typeface="Arial" pitchFamily="34" charset="-120"/>
              </a:rPr>
              <a:t>CONCLUSION</a:t>
            </a:r>
            <a:endParaRPr lang="en-US" sz="1250" dirty="0"/>
          </a:p>
        </p:txBody>
      </p:sp>
      <p:sp>
        <p:nvSpPr>
          <p:cNvPr id="3" name="Text 1"/>
          <p:cNvSpPr/>
          <p:nvPr/>
        </p:nvSpPr>
        <p:spPr>
          <a:xfrm>
            <a:off x="640080" y="841248"/>
            <a:ext cx="10881360" cy="640080"/>
          </a:xfrm>
          <a:prstGeom prst="rect">
            <a:avLst/>
          </a:prstGeom>
          <a:noFill/>
          <a:ln/>
        </p:spPr>
        <p:txBody>
          <a:bodyPr wrap="square" lIns="0" tIns="0" rIns="0" bIns="0"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A reliable, label–efficient path for AE diagnosis</a:t>
            </a:r>
            <a:endParaRPr lang="en-US" sz="2900" dirty="0"/>
          </a:p>
        </p:txBody>
      </p:sp>
      <p:sp>
        <p:nvSpPr>
          <p:cNvPr id="4" name="Text 2"/>
          <p:cNvSpPr/>
          <p:nvPr/>
        </p:nvSpPr>
        <p:spPr>
          <a:xfrm>
            <a:off x="640080" y="1874520"/>
            <a:ext cx="5486400" cy="274320"/>
          </a:xfrm>
          <a:prstGeom prst="rect">
            <a:avLst/>
          </a:prstGeom>
          <a:noFill/>
          <a:ln/>
        </p:spPr>
        <p:txBody>
          <a:bodyPr wrap="square" lIns="0" tIns="0" rIns="0" bIns="0" rtlCol="0" anchor="ctr"/>
          <a:lstStyle/>
          <a:p>
            <a:pPr indent="0" marL="0">
              <a:buNone/>
            </a:pPr>
            <a:r>
              <a:rPr lang="en-US" sz="1200" b="1" spc="200" kern="0" dirty="0">
                <a:solidFill>
                  <a:srgbClr val="EFA135"/>
                </a:solidFill>
                <a:latin typeface="Arial" pitchFamily="34" charset="0"/>
                <a:ea typeface="Arial" pitchFamily="34" charset="-122"/>
                <a:cs typeface="Arial" pitchFamily="34" charset="-120"/>
              </a:rPr>
              <a:t>KEY TAKEAWAYS</a:t>
            </a:r>
            <a:endParaRPr lang="en-US" sz="1200" dirty="0"/>
          </a:p>
        </p:txBody>
      </p:sp>
      <p:sp>
        <p:nvSpPr>
          <p:cNvPr id="5" name="Shape 3"/>
          <p:cNvSpPr/>
          <p:nvPr/>
        </p:nvSpPr>
        <p:spPr>
          <a:xfrm>
            <a:off x="640080" y="2304288"/>
            <a:ext cx="310896" cy="310896"/>
          </a:xfrm>
          <a:prstGeom prst="ellipse">
            <a:avLst/>
          </a:prstGeom>
          <a:solidFill>
            <a:srgbClr val="16A99A"/>
          </a:solidFill>
          <a:ln/>
        </p:spPr>
      </p:sp>
      <p:pic>
        <p:nvPicPr>
          <p:cNvPr id="6" name="Image 0" descr="preencoded.png">    </p:cNvPr>
          <p:cNvPicPr>
            <a:picLocks noChangeAspect="1"/>
          </p:cNvPicPr>
          <p:nvPr/>
        </p:nvPicPr>
        <p:blipFill>
          <a:blip r:embed="rId1"/>
          <a:stretch>
            <a:fillRect/>
          </a:stretch>
        </p:blipFill>
        <p:spPr>
          <a:xfrm>
            <a:off x="704088" y="2368296"/>
            <a:ext cx="182880" cy="182880"/>
          </a:xfrm>
          <a:prstGeom prst="rect">
            <a:avLst/>
          </a:prstGeom>
        </p:spPr>
      </p:pic>
      <p:sp>
        <p:nvSpPr>
          <p:cNvPr id="7" name="Text 4"/>
          <p:cNvSpPr/>
          <p:nvPr/>
        </p:nvSpPr>
        <p:spPr>
          <a:xfrm>
            <a:off x="1143000" y="2231136"/>
            <a:ext cx="4983480" cy="777240"/>
          </a:xfrm>
          <a:prstGeom prst="rect">
            <a:avLst/>
          </a:prstGeom>
          <a:noFill/>
          <a:ln/>
        </p:spPr>
        <p:txBody>
          <a:bodyPr wrap="square" lIns="0" tIns="0" rIns="0" bIns="0" rtlCol="0" anchor="t"/>
          <a:lstStyle/>
          <a:p>
            <a:pPr indent="0" marL="0">
              <a:lnSpc>
                <a:spcPct val="108000"/>
              </a:lnSpc>
              <a:buNone/>
            </a:pPr>
            <a:r>
              <a:rPr lang="en-US" sz="1400" dirty="0">
                <a:solidFill>
                  <a:srgbClr val="FFFFFF"/>
                </a:solidFill>
                <a:latin typeface="Arial" pitchFamily="34" charset="0"/>
                <a:ea typeface="Arial" pitchFamily="34" charset="-122"/>
                <a:cs typeface="Arial" pitchFamily="34" charset="-120"/>
              </a:rPr>
              <a:t>Event–based modeling targets the burst–dominated physics of AE.</a:t>
            </a:r>
            <a:endParaRPr lang="en-US" sz="1400" dirty="0"/>
          </a:p>
        </p:txBody>
      </p:sp>
      <p:sp>
        <p:nvSpPr>
          <p:cNvPr id="8" name="Shape 5"/>
          <p:cNvSpPr/>
          <p:nvPr/>
        </p:nvSpPr>
        <p:spPr>
          <a:xfrm>
            <a:off x="640080" y="3145536"/>
            <a:ext cx="310896" cy="310896"/>
          </a:xfrm>
          <a:prstGeom prst="ellipse">
            <a:avLst/>
          </a:prstGeom>
          <a:solidFill>
            <a:srgbClr val="16A99A"/>
          </a:solidFill>
          <a:ln/>
        </p:spPr>
      </p:sp>
      <p:pic>
        <p:nvPicPr>
          <p:cNvPr id="9" name="Image 1" descr="preencoded.png">    </p:cNvPr>
          <p:cNvPicPr>
            <a:picLocks noChangeAspect="1"/>
          </p:cNvPicPr>
          <p:nvPr/>
        </p:nvPicPr>
        <p:blipFill>
          <a:blip r:embed="rId2"/>
          <a:stretch>
            <a:fillRect/>
          </a:stretch>
        </p:blipFill>
        <p:spPr>
          <a:xfrm>
            <a:off x="704088" y="3209544"/>
            <a:ext cx="182880" cy="182880"/>
          </a:xfrm>
          <a:prstGeom prst="rect">
            <a:avLst/>
          </a:prstGeom>
        </p:spPr>
      </p:pic>
      <p:sp>
        <p:nvSpPr>
          <p:cNvPr id="10" name="Text 6"/>
          <p:cNvSpPr/>
          <p:nvPr/>
        </p:nvSpPr>
        <p:spPr>
          <a:xfrm>
            <a:off x="1143000" y="3072384"/>
            <a:ext cx="4983480" cy="777240"/>
          </a:xfrm>
          <a:prstGeom prst="rect">
            <a:avLst/>
          </a:prstGeom>
          <a:noFill/>
          <a:ln/>
        </p:spPr>
        <p:txBody>
          <a:bodyPr wrap="square" lIns="0" tIns="0" rIns="0" bIns="0" rtlCol="0" anchor="t"/>
          <a:lstStyle/>
          <a:p>
            <a:pPr indent="0" marL="0">
              <a:lnSpc>
                <a:spcPct val="108000"/>
              </a:lnSpc>
              <a:buNone/>
            </a:pPr>
            <a:r>
              <a:rPr lang="en-US" sz="1400" dirty="0">
                <a:solidFill>
                  <a:srgbClr val="FFFFFF"/>
                </a:solidFill>
                <a:latin typeface="Arial" pitchFamily="34" charset="0"/>
                <a:ea typeface="Arial" pitchFamily="34" charset="-122"/>
                <a:cs typeface="Arial" pitchFamily="34" charset="-120"/>
              </a:rPr>
              <a:t>A masked autoencoder learns strong features from unlabeled bursts.</a:t>
            </a:r>
            <a:endParaRPr lang="en-US" sz="1400" dirty="0"/>
          </a:p>
        </p:txBody>
      </p:sp>
      <p:sp>
        <p:nvSpPr>
          <p:cNvPr id="11" name="Shape 7"/>
          <p:cNvSpPr/>
          <p:nvPr/>
        </p:nvSpPr>
        <p:spPr>
          <a:xfrm>
            <a:off x="640080" y="3986784"/>
            <a:ext cx="310896" cy="310896"/>
          </a:xfrm>
          <a:prstGeom prst="ellipse">
            <a:avLst/>
          </a:prstGeom>
          <a:solidFill>
            <a:srgbClr val="16A99A"/>
          </a:solidFill>
          <a:ln/>
        </p:spPr>
      </p:sp>
      <p:pic>
        <p:nvPicPr>
          <p:cNvPr id="12" name="Image 2" descr="preencoded.png">    </p:cNvPr>
          <p:cNvPicPr>
            <a:picLocks noChangeAspect="1"/>
          </p:cNvPicPr>
          <p:nvPr/>
        </p:nvPicPr>
        <p:blipFill>
          <a:blip r:embed="rId3"/>
          <a:stretch>
            <a:fillRect/>
          </a:stretch>
        </p:blipFill>
        <p:spPr>
          <a:xfrm>
            <a:off x="704088" y="4050792"/>
            <a:ext cx="182880" cy="182880"/>
          </a:xfrm>
          <a:prstGeom prst="rect">
            <a:avLst/>
          </a:prstGeom>
        </p:spPr>
      </p:pic>
      <p:sp>
        <p:nvSpPr>
          <p:cNvPr id="13" name="Text 8"/>
          <p:cNvSpPr/>
          <p:nvPr/>
        </p:nvSpPr>
        <p:spPr>
          <a:xfrm>
            <a:off x="1143000" y="3913632"/>
            <a:ext cx="4983480" cy="777240"/>
          </a:xfrm>
          <a:prstGeom prst="rect">
            <a:avLst/>
          </a:prstGeom>
          <a:noFill/>
          <a:ln/>
        </p:spPr>
        <p:txBody>
          <a:bodyPr wrap="square" lIns="0" tIns="0" rIns="0" bIns="0" rtlCol="0" anchor="t"/>
          <a:lstStyle/>
          <a:p>
            <a:pPr indent="0" marL="0">
              <a:lnSpc>
                <a:spcPct val="108000"/>
              </a:lnSpc>
              <a:buNone/>
            </a:pPr>
            <a:r>
              <a:rPr lang="en-US" sz="1400" dirty="0">
                <a:solidFill>
                  <a:srgbClr val="FFFFFF"/>
                </a:solidFill>
                <a:latin typeface="Arial" pitchFamily="34" charset="0"/>
                <a:ea typeface="Arial" pitchFamily="34" charset="-122"/>
                <a:cs typeface="Arial" pitchFamily="34" charset="-120"/>
              </a:rPr>
              <a:t>Attention MIL turns burst embeddings into accurate per–recording labels.</a:t>
            </a:r>
            <a:endParaRPr lang="en-US" sz="1400" dirty="0"/>
          </a:p>
        </p:txBody>
      </p:sp>
      <p:sp>
        <p:nvSpPr>
          <p:cNvPr id="14" name="Shape 9"/>
          <p:cNvSpPr/>
          <p:nvPr/>
        </p:nvSpPr>
        <p:spPr>
          <a:xfrm>
            <a:off x="640080" y="4828032"/>
            <a:ext cx="310896" cy="310896"/>
          </a:xfrm>
          <a:prstGeom prst="ellipse">
            <a:avLst/>
          </a:prstGeom>
          <a:solidFill>
            <a:srgbClr val="16A99A"/>
          </a:solidFill>
          <a:ln/>
        </p:spPr>
      </p:sp>
      <p:pic>
        <p:nvPicPr>
          <p:cNvPr id="15" name="Image 3" descr="preencoded.png">    </p:cNvPr>
          <p:cNvPicPr>
            <a:picLocks noChangeAspect="1"/>
          </p:cNvPicPr>
          <p:nvPr/>
        </p:nvPicPr>
        <p:blipFill>
          <a:blip r:embed="rId4"/>
          <a:stretch>
            <a:fillRect/>
          </a:stretch>
        </p:blipFill>
        <p:spPr>
          <a:xfrm>
            <a:off x="704088" y="4892040"/>
            <a:ext cx="182880" cy="182880"/>
          </a:xfrm>
          <a:prstGeom prst="rect">
            <a:avLst/>
          </a:prstGeom>
        </p:spPr>
      </p:pic>
      <p:sp>
        <p:nvSpPr>
          <p:cNvPr id="16" name="Text 10"/>
          <p:cNvSpPr/>
          <p:nvPr/>
        </p:nvSpPr>
        <p:spPr>
          <a:xfrm>
            <a:off x="1143000" y="4754880"/>
            <a:ext cx="4983480" cy="777240"/>
          </a:xfrm>
          <a:prstGeom prst="rect">
            <a:avLst/>
          </a:prstGeom>
          <a:noFill/>
          <a:ln/>
        </p:spPr>
        <p:txBody>
          <a:bodyPr wrap="square" lIns="0" tIns="0" rIns="0" bIns="0" rtlCol="0" anchor="t"/>
          <a:lstStyle/>
          <a:p>
            <a:pPr indent="0" marL="0">
              <a:lnSpc>
                <a:spcPct val="108000"/>
              </a:lnSpc>
              <a:buNone/>
            </a:pPr>
            <a:r>
              <a:rPr lang="en-US" sz="1400" dirty="0">
                <a:solidFill>
                  <a:srgbClr val="FFFFFF"/>
                </a:solidFill>
                <a:latin typeface="Arial" pitchFamily="34" charset="0"/>
                <a:ea typeface="Arial" pitchFamily="34" charset="-122"/>
                <a:cs typeface="Arial" pitchFamily="34" charset="-120"/>
              </a:rPr>
              <a:t>Perfect sample–level classification at 660 &amp; 720 rpm under scarce labels.</a:t>
            </a:r>
            <a:endParaRPr lang="en-US" sz="1400" dirty="0"/>
          </a:p>
        </p:txBody>
      </p:sp>
      <p:sp>
        <p:nvSpPr>
          <p:cNvPr id="17" name="Shape 11"/>
          <p:cNvSpPr/>
          <p:nvPr/>
        </p:nvSpPr>
        <p:spPr>
          <a:xfrm>
            <a:off x="6446520" y="1828800"/>
            <a:ext cx="5105095" cy="4206240"/>
          </a:xfrm>
          <a:prstGeom prst="roundRect">
            <a:avLst>
              <a:gd name="adj" fmla="val 2609"/>
            </a:avLst>
          </a:prstGeom>
          <a:solidFill>
            <a:srgbClr val="12283E"/>
          </a:solidFill>
          <a:ln w="12700">
            <a:solidFill>
              <a:srgbClr val="1C3A56"/>
            </a:solidFill>
            <a:prstDash val="solid"/>
          </a:ln>
          <a:effectLst>
            <a:outerShdw sx="100000" sy="100000" kx="0" ky="0" algn="bl" rotWithShape="0" blurRad="88900" dist="25400" dir="5400000">
              <a:srgbClr val="22303C">
                <a:alpha val="10000"/>
              </a:srgbClr>
            </a:outerShdw>
          </a:effectLst>
        </p:spPr>
      </p:sp>
      <p:sp>
        <p:nvSpPr>
          <p:cNvPr id="18" name="Text 12"/>
          <p:cNvSpPr/>
          <p:nvPr/>
        </p:nvSpPr>
        <p:spPr>
          <a:xfrm>
            <a:off x="6812280" y="2148840"/>
            <a:ext cx="4373575" cy="274320"/>
          </a:xfrm>
          <a:prstGeom prst="rect">
            <a:avLst/>
          </a:prstGeom>
          <a:noFill/>
          <a:ln/>
        </p:spPr>
        <p:txBody>
          <a:bodyPr wrap="square" lIns="0" tIns="0" rIns="0" bIns="0" rtlCol="0" anchor="ctr"/>
          <a:lstStyle/>
          <a:p>
            <a:pPr indent="0" marL="0">
              <a:buNone/>
            </a:pPr>
            <a:r>
              <a:rPr lang="en-US" sz="1200" b="1" spc="200" kern="0" dirty="0">
                <a:solidFill>
                  <a:srgbClr val="16A99A"/>
                </a:solidFill>
                <a:latin typeface="Arial" pitchFamily="34" charset="0"/>
                <a:ea typeface="Arial" pitchFamily="34" charset="-122"/>
                <a:cs typeface="Arial" pitchFamily="34" charset="-120"/>
              </a:rPr>
              <a:t>WHERE NEXT</a:t>
            </a:r>
            <a:endParaRPr lang="en-US" sz="1200" dirty="0"/>
          </a:p>
        </p:txBody>
      </p:sp>
      <p:sp>
        <p:nvSpPr>
          <p:cNvPr id="19" name="Shape 13"/>
          <p:cNvSpPr/>
          <p:nvPr/>
        </p:nvSpPr>
        <p:spPr>
          <a:xfrm>
            <a:off x="6812280" y="2606040"/>
            <a:ext cx="457200" cy="457200"/>
          </a:xfrm>
          <a:prstGeom prst="ellipse">
            <a:avLst/>
          </a:prstGeom>
          <a:solidFill>
            <a:srgbClr val="16A99A"/>
          </a:solidFill>
          <a:ln/>
          <a:effectLst>
            <a:outerShdw sx="100000" sy="100000" kx="0" ky="0" algn="bl" rotWithShape="0" blurRad="76200" dist="25400" dir="5400000">
              <a:srgbClr val="0A1622">
                <a:alpha val="18000"/>
              </a:srgbClr>
            </a:outerShdw>
          </a:effectLst>
        </p:spPr>
      </p:sp>
      <p:pic>
        <p:nvPicPr>
          <p:cNvPr id="20" name="Image 4" descr="preencoded.png">    </p:cNvPr>
          <p:cNvPicPr>
            <a:picLocks noChangeAspect="1"/>
          </p:cNvPicPr>
          <p:nvPr/>
        </p:nvPicPr>
        <p:blipFill>
          <a:blip r:embed="rId5"/>
          <a:stretch>
            <a:fillRect/>
          </a:stretch>
        </p:blipFill>
        <p:spPr>
          <a:xfrm>
            <a:off x="6944868" y="2738628"/>
            <a:ext cx="192024" cy="192024"/>
          </a:xfrm>
          <a:prstGeom prst="rect">
            <a:avLst/>
          </a:prstGeom>
        </p:spPr>
      </p:pic>
      <p:sp>
        <p:nvSpPr>
          <p:cNvPr id="21" name="Text 14"/>
          <p:cNvSpPr/>
          <p:nvPr/>
        </p:nvSpPr>
        <p:spPr>
          <a:xfrm>
            <a:off x="7406640" y="2606040"/>
            <a:ext cx="3824935" cy="45720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Variable operating conditions</a:t>
            </a:r>
            <a:endParaRPr lang="en-US" sz="1400" dirty="0"/>
          </a:p>
        </p:txBody>
      </p:sp>
      <p:sp>
        <p:nvSpPr>
          <p:cNvPr id="22" name="Shape 15"/>
          <p:cNvSpPr/>
          <p:nvPr/>
        </p:nvSpPr>
        <p:spPr>
          <a:xfrm>
            <a:off x="6812280" y="3264408"/>
            <a:ext cx="457200" cy="457200"/>
          </a:xfrm>
          <a:prstGeom prst="ellipse">
            <a:avLst/>
          </a:prstGeom>
          <a:solidFill>
            <a:srgbClr val="EFA135"/>
          </a:solidFill>
          <a:ln/>
          <a:effectLst>
            <a:outerShdw sx="100000" sy="100000" kx="0" ky="0" algn="bl" rotWithShape="0" blurRad="76200" dist="25400" dir="5400000">
              <a:srgbClr val="0A1622">
                <a:alpha val="18000"/>
              </a:srgbClr>
            </a:outerShdw>
          </a:effectLst>
        </p:spPr>
      </p:sp>
      <p:pic>
        <p:nvPicPr>
          <p:cNvPr id="23" name="Image 5" descr="preencoded.png">    </p:cNvPr>
          <p:cNvPicPr>
            <a:picLocks noChangeAspect="1"/>
          </p:cNvPicPr>
          <p:nvPr/>
        </p:nvPicPr>
        <p:blipFill>
          <a:blip r:embed="rId6"/>
          <a:stretch>
            <a:fillRect/>
          </a:stretch>
        </p:blipFill>
        <p:spPr>
          <a:xfrm>
            <a:off x="6944868" y="3396996"/>
            <a:ext cx="192024" cy="192024"/>
          </a:xfrm>
          <a:prstGeom prst="rect">
            <a:avLst/>
          </a:prstGeom>
        </p:spPr>
      </p:pic>
      <p:sp>
        <p:nvSpPr>
          <p:cNvPr id="24" name="Text 16"/>
          <p:cNvSpPr/>
          <p:nvPr/>
        </p:nvSpPr>
        <p:spPr>
          <a:xfrm>
            <a:off x="7406640" y="3264408"/>
            <a:ext cx="3824935" cy="45720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Cross–machine transfer learning</a:t>
            </a:r>
            <a:endParaRPr lang="en-US" sz="1400" dirty="0"/>
          </a:p>
        </p:txBody>
      </p:sp>
      <p:sp>
        <p:nvSpPr>
          <p:cNvPr id="25" name="Shape 17"/>
          <p:cNvSpPr/>
          <p:nvPr/>
        </p:nvSpPr>
        <p:spPr>
          <a:xfrm>
            <a:off x="6812280" y="3922776"/>
            <a:ext cx="457200" cy="457200"/>
          </a:xfrm>
          <a:prstGeom prst="ellipse">
            <a:avLst/>
          </a:prstGeom>
          <a:solidFill>
            <a:srgbClr val="16A99A"/>
          </a:solidFill>
          <a:ln/>
          <a:effectLst>
            <a:outerShdw sx="100000" sy="100000" kx="0" ky="0" algn="bl" rotWithShape="0" blurRad="76200" dist="25400" dir="5400000">
              <a:srgbClr val="0A1622">
                <a:alpha val="18000"/>
              </a:srgbClr>
            </a:outerShdw>
          </a:effectLst>
        </p:spPr>
      </p:sp>
      <p:pic>
        <p:nvPicPr>
          <p:cNvPr id="26" name="Image 6" descr="preencoded.png">    </p:cNvPr>
          <p:cNvPicPr>
            <a:picLocks noChangeAspect="1"/>
          </p:cNvPicPr>
          <p:nvPr/>
        </p:nvPicPr>
        <p:blipFill>
          <a:blip r:embed="rId7"/>
          <a:stretch>
            <a:fillRect/>
          </a:stretch>
        </p:blipFill>
        <p:spPr>
          <a:xfrm>
            <a:off x="6944868" y="4055364"/>
            <a:ext cx="192024" cy="192024"/>
          </a:xfrm>
          <a:prstGeom prst="rect">
            <a:avLst/>
          </a:prstGeom>
        </p:spPr>
      </p:pic>
      <p:sp>
        <p:nvSpPr>
          <p:cNvPr id="27" name="Text 18"/>
          <p:cNvSpPr/>
          <p:nvPr/>
        </p:nvSpPr>
        <p:spPr>
          <a:xfrm>
            <a:off x="7406640" y="3922776"/>
            <a:ext cx="3824935" cy="45720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Online, streaming adaptation</a:t>
            </a:r>
            <a:endParaRPr lang="en-US" sz="1400" dirty="0"/>
          </a:p>
        </p:txBody>
      </p:sp>
      <p:sp>
        <p:nvSpPr>
          <p:cNvPr id="28" name="Shape 19"/>
          <p:cNvSpPr/>
          <p:nvPr/>
        </p:nvSpPr>
        <p:spPr>
          <a:xfrm>
            <a:off x="6812280" y="4581144"/>
            <a:ext cx="457200" cy="457200"/>
          </a:xfrm>
          <a:prstGeom prst="ellipse">
            <a:avLst/>
          </a:prstGeom>
          <a:solidFill>
            <a:srgbClr val="EFA135"/>
          </a:solidFill>
          <a:ln/>
          <a:effectLst>
            <a:outerShdw sx="100000" sy="100000" kx="0" ky="0" algn="bl" rotWithShape="0" blurRad="76200" dist="25400" dir="5400000">
              <a:srgbClr val="0A1622">
                <a:alpha val="18000"/>
              </a:srgbClr>
            </a:outerShdw>
          </a:effectLst>
        </p:spPr>
      </p:sp>
      <p:pic>
        <p:nvPicPr>
          <p:cNvPr id="29" name="Image 7" descr="preencoded.png">    </p:cNvPr>
          <p:cNvPicPr>
            <a:picLocks noChangeAspect="1"/>
          </p:cNvPicPr>
          <p:nvPr/>
        </p:nvPicPr>
        <p:blipFill>
          <a:blip r:embed="rId8"/>
          <a:stretch>
            <a:fillRect/>
          </a:stretch>
        </p:blipFill>
        <p:spPr>
          <a:xfrm>
            <a:off x="6944868" y="4713732"/>
            <a:ext cx="192024" cy="192024"/>
          </a:xfrm>
          <a:prstGeom prst="rect">
            <a:avLst/>
          </a:prstGeom>
        </p:spPr>
      </p:pic>
      <p:sp>
        <p:nvSpPr>
          <p:cNvPr id="30" name="Text 20"/>
          <p:cNvSpPr/>
          <p:nvPr/>
        </p:nvSpPr>
        <p:spPr>
          <a:xfrm>
            <a:off x="7406640" y="4581144"/>
            <a:ext cx="3824935" cy="45720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Multi–sensor fusion</a:t>
            </a:r>
            <a:endParaRPr lang="en-US" sz="1400" dirty="0"/>
          </a:p>
        </p:txBody>
      </p:sp>
      <p:sp>
        <p:nvSpPr>
          <p:cNvPr id="31" name="Shape 21"/>
          <p:cNvSpPr/>
          <p:nvPr/>
        </p:nvSpPr>
        <p:spPr>
          <a:xfrm>
            <a:off x="6812280" y="5239512"/>
            <a:ext cx="457200" cy="457200"/>
          </a:xfrm>
          <a:prstGeom prst="ellipse">
            <a:avLst/>
          </a:prstGeom>
          <a:solidFill>
            <a:srgbClr val="16A99A"/>
          </a:solidFill>
          <a:ln/>
          <a:effectLst>
            <a:outerShdw sx="100000" sy="100000" kx="0" ky="0" algn="bl" rotWithShape="0" blurRad="76200" dist="25400" dir="5400000">
              <a:srgbClr val="0A1622">
                <a:alpha val="18000"/>
              </a:srgbClr>
            </a:outerShdw>
          </a:effectLst>
        </p:spPr>
      </p:sp>
      <p:pic>
        <p:nvPicPr>
          <p:cNvPr id="32" name="Image 8" descr="preencoded.png">    </p:cNvPr>
          <p:cNvPicPr>
            <a:picLocks noChangeAspect="1"/>
          </p:cNvPicPr>
          <p:nvPr/>
        </p:nvPicPr>
        <p:blipFill>
          <a:blip r:embed="rId9"/>
          <a:stretch>
            <a:fillRect/>
          </a:stretch>
        </p:blipFill>
        <p:spPr>
          <a:xfrm>
            <a:off x="6944868" y="5372100"/>
            <a:ext cx="192024" cy="192024"/>
          </a:xfrm>
          <a:prstGeom prst="rect">
            <a:avLst/>
          </a:prstGeom>
        </p:spPr>
      </p:pic>
      <p:sp>
        <p:nvSpPr>
          <p:cNvPr id="33" name="Text 22"/>
          <p:cNvSpPr/>
          <p:nvPr/>
        </p:nvSpPr>
        <p:spPr>
          <a:xfrm>
            <a:off x="7406640" y="5239512"/>
            <a:ext cx="3824935" cy="45720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Causal analysis of burst–damage links</a:t>
            </a:r>
            <a:endParaRPr lang="en-US" sz="1400" dirty="0"/>
          </a:p>
        </p:txBody>
      </p:sp>
      <p:sp>
        <p:nvSpPr>
          <p:cNvPr id="34" name="Text 23"/>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AFC4D6"/>
                </a:solidFill>
                <a:latin typeface="Arial" pitchFamily="34" charset="0"/>
                <a:ea typeface="Arial" pitchFamily="34" charset="-122"/>
                <a:cs typeface="Arial" pitchFamily="34" charset="-120"/>
              </a:rPr>
              <a:t>16</a:t>
            </a:r>
            <a:endParaRPr lang="en-US" sz="1000" dirty="0"/>
          </a:p>
        </p:txBody>
      </p:sp>
      <p:sp>
        <p:nvSpPr>
          <p:cNvPr id="35" name="Text 24"/>
          <p:cNvSpPr/>
          <p:nvPr/>
        </p:nvSpPr>
        <p:spPr>
          <a:xfrm>
            <a:off x="640080" y="6400800"/>
            <a:ext cx="3200400" cy="274320"/>
          </a:xfrm>
          <a:prstGeom prst="rect">
            <a:avLst/>
          </a:prstGeom>
          <a:noFill/>
          <a:ln/>
        </p:spPr>
        <p:txBody>
          <a:bodyPr wrap="square" lIns="0" tIns="0" rIns="0" bIns="0" rtlCol="0" anchor="ctr"/>
          <a:lstStyle/>
          <a:p>
            <a:pPr algn="l" indent="0" marL="0">
              <a:buNone/>
            </a:pPr>
            <a:r>
              <a:rPr lang="en-US" sz="1000" dirty="0">
                <a:solidFill>
                  <a:srgbClr val="AFC4D6"/>
                </a:solidFill>
                <a:latin typeface="Arial" pitchFamily="34" charset="0"/>
                <a:ea typeface="Arial" pitchFamily="34" charset="-122"/>
                <a:cs typeface="Arial" pitchFamily="34" charset="-120"/>
              </a:rPr>
              <a:t>BurstMAE-MIL</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1A2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6A99A"/>
          </a:solidFill>
          <a:ln/>
        </p:spPr>
      </p:sp>
      <p:sp>
        <p:nvSpPr>
          <p:cNvPr id="3" name="Text 1"/>
          <p:cNvSpPr/>
          <p:nvPr/>
        </p:nvSpPr>
        <p:spPr>
          <a:xfrm>
            <a:off x="0" y="1234440"/>
            <a:ext cx="12191695" cy="365760"/>
          </a:xfrm>
          <a:prstGeom prst="rect">
            <a:avLst/>
          </a:prstGeom>
          <a:noFill/>
          <a:ln/>
        </p:spPr>
        <p:txBody>
          <a:bodyPr wrap="square" rtlCol="0" anchor="ctr"/>
          <a:lstStyle/>
          <a:p>
            <a:pPr algn="ctr" indent="0" marL="0">
              <a:buNone/>
            </a:pPr>
            <a:r>
              <a:rPr lang="en-US" sz="1400" b="1" spc="500" kern="0" dirty="0">
                <a:solidFill>
                  <a:srgbClr val="16A99A"/>
                </a:solidFill>
                <a:latin typeface="Arial" pitchFamily="34" charset="0"/>
                <a:ea typeface="Arial" pitchFamily="34" charset="-122"/>
                <a:cs typeface="Arial" pitchFamily="34" charset="-120"/>
              </a:rPr>
              <a:t>THANK YOU</a:t>
            </a:r>
            <a:endParaRPr lang="en-US" sz="1400" dirty="0"/>
          </a:p>
        </p:txBody>
      </p:sp>
      <p:sp>
        <p:nvSpPr>
          <p:cNvPr id="4" name="Text 2"/>
          <p:cNvSpPr/>
          <p:nvPr/>
        </p:nvSpPr>
        <p:spPr>
          <a:xfrm>
            <a:off x="0" y="1627632"/>
            <a:ext cx="12191695" cy="914400"/>
          </a:xfrm>
          <a:prstGeom prst="rect">
            <a:avLst/>
          </a:prstGeom>
          <a:noFill/>
          <a:ln/>
        </p:spPr>
        <p:txBody>
          <a:bodyPr wrap="square" rtlCol="0" anchor="ctr"/>
          <a:lstStyle/>
          <a:p>
            <a:pPr algn="ctr" indent="0" marL="0">
              <a:buNone/>
            </a:pPr>
            <a:r>
              <a:rPr lang="en-US" sz="4600" b="1" dirty="0">
                <a:solidFill>
                  <a:srgbClr val="FFFFFF"/>
                </a:solidFill>
                <a:latin typeface="Georgia" pitchFamily="34" charset="0"/>
                <a:ea typeface="Georgia" pitchFamily="34" charset="-122"/>
                <a:cs typeface="Georgia" pitchFamily="34" charset="-120"/>
              </a:rPr>
              <a:t>Questions &amp; Discussion</a:t>
            </a:r>
            <a:endParaRPr lang="en-US" sz="4600" dirty="0"/>
          </a:p>
        </p:txBody>
      </p:sp>
      <p:pic>
        <p:nvPicPr>
          <p:cNvPr id="5" name="Image 0" descr="/home/claude/assets/wave_divider.png">    </p:cNvPr>
          <p:cNvPicPr>
            <a:picLocks noChangeAspect="1"/>
          </p:cNvPicPr>
          <p:nvPr/>
        </p:nvPicPr>
        <p:blipFill>
          <a:blip r:embed="rId1"/>
          <a:stretch>
            <a:fillRect/>
          </a:stretch>
        </p:blipFill>
        <p:spPr>
          <a:xfrm>
            <a:off x="1280160" y="2697480"/>
            <a:ext cx="9628632" cy="914400"/>
          </a:xfrm>
          <a:prstGeom prst="rect">
            <a:avLst/>
          </a:prstGeom>
        </p:spPr>
      </p:pic>
      <p:sp>
        <p:nvSpPr>
          <p:cNvPr id="6" name="Shape 3"/>
          <p:cNvSpPr/>
          <p:nvPr/>
        </p:nvSpPr>
        <p:spPr>
          <a:xfrm>
            <a:off x="792328" y="3886200"/>
            <a:ext cx="3291840" cy="868680"/>
          </a:xfrm>
          <a:prstGeom prst="roundRect">
            <a:avLst>
              <a:gd name="adj" fmla="val 10526"/>
            </a:avLst>
          </a:prstGeom>
          <a:solidFill>
            <a:srgbClr val="12283E"/>
          </a:solidFill>
          <a:ln w="12700">
            <a:solidFill>
              <a:srgbClr val="1C3A56"/>
            </a:solidFill>
            <a:prstDash val="solid"/>
          </a:ln>
          <a:effectLst>
            <a:outerShdw sx="100000" sy="100000" kx="0" ky="0" algn="bl" rotWithShape="0" blurRad="88900" dist="25400" dir="5400000">
              <a:srgbClr val="22303C">
                <a:alpha val="10000"/>
              </a:srgbClr>
            </a:outerShdw>
          </a:effectLst>
        </p:spPr>
      </p:sp>
      <p:sp>
        <p:nvSpPr>
          <p:cNvPr id="7" name="Text 4"/>
          <p:cNvSpPr/>
          <p:nvPr/>
        </p:nvSpPr>
        <p:spPr>
          <a:xfrm>
            <a:off x="792328" y="4032504"/>
            <a:ext cx="3291840" cy="237744"/>
          </a:xfrm>
          <a:prstGeom prst="rect">
            <a:avLst/>
          </a:prstGeom>
          <a:noFill/>
          <a:ln/>
        </p:spPr>
        <p:txBody>
          <a:bodyPr wrap="square" lIns="0" tIns="0" rIns="0" bIns="0" rtlCol="0" anchor="ctr"/>
          <a:lstStyle/>
          <a:p>
            <a:pPr algn="ctr" indent="0" marL="0">
              <a:buNone/>
            </a:pPr>
            <a:r>
              <a:rPr lang="en-US" sz="1000" b="1" spc="150" kern="0" dirty="0">
                <a:solidFill>
                  <a:srgbClr val="16A99A"/>
                </a:solidFill>
                <a:latin typeface="Arial" pitchFamily="34" charset="0"/>
                <a:ea typeface="Arial" pitchFamily="34" charset="-122"/>
                <a:cs typeface="Arial" pitchFamily="34" charset="-120"/>
              </a:rPr>
              <a:t>PRESENTER</a:t>
            </a:r>
            <a:endParaRPr lang="en-US" sz="1000" dirty="0"/>
          </a:p>
        </p:txBody>
      </p:sp>
      <p:sp>
        <p:nvSpPr>
          <p:cNvPr id="8" name="Text 5"/>
          <p:cNvSpPr/>
          <p:nvPr/>
        </p:nvSpPr>
        <p:spPr>
          <a:xfrm>
            <a:off x="929488" y="4288536"/>
            <a:ext cx="3017520" cy="365760"/>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Muhammad Umar</a:t>
            </a:r>
            <a:endParaRPr lang="en-US" sz="1350" dirty="0"/>
          </a:p>
        </p:txBody>
      </p:sp>
      <p:sp>
        <p:nvSpPr>
          <p:cNvPr id="9" name="Shape 6"/>
          <p:cNvSpPr/>
          <p:nvPr/>
        </p:nvSpPr>
        <p:spPr>
          <a:xfrm>
            <a:off x="4449928" y="3886200"/>
            <a:ext cx="3291840" cy="868680"/>
          </a:xfrm>
          <a:prstGeom prst="roundRect">
            <a:avLst>
              <a:gd name="adj" fmla="val 10526"/>
            </a:avLst>
          </a:prstGeom>
          <a:solidFill>
            <a:srgbClr val="12283E"/>
          </a:solidFill>
          <a:ln w="12700">
            <a:solidFill>
              <a:srgbClr val="1C3A56"/>
            </a:solidFill>
            <a:prstDash val="solid"/>
          </a:ln>
          <a:effectLst>
            <a:outerShdw sx="100000" sy="100000" kx="0" ky="0" algn="bl" rotWithShape="0" blurRad="88900" dist="25400" dir="5400000">
              <a:srgbClr val="22303C">
                <a:alpha val="10000"/>
              </a:srgbClr>
            </a:outerShdw>
          </a:effectLst>
        </p:spPr>
      </p:sp>
      <p:sp>
        <p:nvSpPr>
          <p:cNvPr id="10" name="Text 7"/>
          <p:cNvSpPr/>
          <p:nvPr/>
        </p:nvSpPr>
        <p:spPr>
          <a:xfrm>
            <a:off x="4449928" y="4032504"/>
            <a:ext cx="3291840" cy="237744"/>
          </a:xfrm>
          <a:prstGeom prst="rect">
            <a:avLst/>
          </a:prstGeom>
          <a:noFill/>
          <a:ln/>
        </p:spPr>
        <p:txBody>
          <a:bodyPr wrap="square" lIns="0" tIns="0" rIns="0" bIns="0" rtlCol="0" anchor="ctr"/>
          <a:lstStyle/>
          <a:p>
            <a:pPr algn="ctr" indent="0" marL="0">
              <a:buNone/>
            </a:pPr>
            <a:r>
              <a:rPr lang="en-US" sz="1000" b="1" spc="150" kern="0" dirty="0">
                <a:solidFill>
                  <a:srgbClr val="16A99A"/>
                </a:solidFill>
                <a:latin typeface="Arial" pitchFamily="34" charset="0"/>
                <a:ea typeface="Arial" pitchFamily="34" charset="-122"/>
                <a:cs typeface="Arial" pitchFamily="34" charset="-120"/>
              </a:rPr>
              <a:t>AFFILIATION</a:t>
            </a:r>
            <a:endParaRPr lang="en-US" sz="1000" dirty="0"/>
          </a:p>
        </p:txBody>
      </p:sp>
      <p:sp>
        <p:nvSpPr>
          <p:cNvPr id="11" name="Text 8"/>
          <p:cNvSpPr/>
          <p:nvPr/>
        </p:nvSpPr>
        <p:spPr>
          <a:xfrm>
            <a:off x="4587088" y="4288536"/>
            <a:ext cx="3017520" cy="365760"/>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University of Ulsan, Korea</a:t>
            </a:r>
            <a:endParaRPr lang="en-US" sz="1350" dirty="0"/>
          </a:p>
        </p:txBody>
      </p:sp>
      <p:sp>
        <p:nvSpPr>
          <p:cNvPr id="12" name="Shape 9"/>
          <p:cNvSpPr/>
          <p:nvPr/>
        </p:nvSpPr>
        <p:spPr>
          <a:xfrm>
            <a:off x="8107528" y="3886200"/>
            <a:ext cx="3291840" cy="868680"/>
          </a:xfrm>
          <a:prstGeom prst="roundRect">
            <a:avLst>
              <a:gd name="adj" fmla="val 10526"/>
            </a:avLst>
          </a:prstGeom>
          <a:solidFill>
            <a:srgbClr val="12283E"/>
          </a:solidFill>
          <a:ln w="12700">
            <a:solidFill>
              <a:srgbClr val="1C3A56"/>
            </a:solidFill>
            <a:prstDash val="solid"/>
          </a:ln>
          <a:effectLst>
            <a:outerShdw sx="100000" sy="100000" kx="0" ky="0" algn="bl" rotWithShape="0" blurRad="88900" dist="25400" dir="5400000">
              <a:srgbClr val="22303C">
                <a:alpha val="10000"/>
              </a:srgbClr>
            </a:outerShdw>
          </a:effectLst>
        </p:spPr>
      </p:sp>
      <p:sp>
        <p:nvSpPr>
          <p:cNvPr id="13" name="Text 10"/>
          <p:cNvSpPr/>
          <p:nvPr/>
        </p:nvSpPr>
        <p:spPr>
          <a:xfrm>
            <a:off x="8107528" y="4032504"/>
            <a:ext cx="3291840" cy="237744"/>
          </a:xfrm>
          <a:prstGeom prst="rect">
            <a:avLst/>
          </a:prstGeom>
          <a:noFill/>
          <a:ln/>
        </p:spPr>
        <p:txBody>
          <a:bodyPr wrap="square" lIns="0" tIns="0" rIns="0" bIns="0" rtlCol="0" anchor="ctr"/>
          <a:lstStyle/>
          <a:p>
            <a:pPr algn="ctr" indent="0" marL="0">
              <a:buNone/>
            </a:pPr>
            <a:r>
              <a:rPr lang="en-US" sz="1000" b="1" spc="150" kern="0" dirty="0">
                <a:solidFill>
                  <a:srgbClr val="16A99A"/>
                </a:solidFill>
                <a:latin typeface="Arial" pitchFamily="34" charset="0"/>
                <a:ea typeface="Arial" pitchFamily="34" charset="-122"/>
                <a:cs typeface="Arial" pitchFamily="34" charset="-120"/>
              </a:rPr>
              <a:t>CORRESPONDING</a:t>
            </a:r>
            <a:endParaRPr lang="en-US" sz="1000" dirty="0"/>
          </a:p>
        </p:txBody>
      </p:sp>
      <p:sp>
        <p:nvSpPr>
          <p:cNvPr id="14" name="Text 11"/>
          <p:cNvSpPr/>
          <p:nvPr/>
        </p:nvSpPr>
        <p:spPr>
          <a:xfrm>
            <a:off x="8244688" y="4288536"/>
            <a:ext cx="3017520" cy="365760"/>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jmkim07@ulsan.ac.kr</a:t>
            </a:r>
            <a:endParaRPr lang="en-US" sz="1350" dirty="0"/>
          </a:p>
        </p:txBody>
      </p:sp>
      <p:sp>
        <p:nvSpPr>
          <p:cNvPr id="15" name="Text 12"/>
          <p:cNvSpPr/>
          <p:nvPr/>
        </p:nvSpPr>
        <p:spPr>
          <a:xfrm>
            <a:off x="0" y="5074920"/>
            <a:ext cx="12191695" cy="274320"/>
          </a:xfrm>
          <a:prstGeom prst="rect">
            <a:avLst/>
          </a:prstGeom>
          <a:noFill/>
          <a:ln/>
        </p:spPr>
        <p:txBody>
          <a:bodyPr wrap="square" rtlCol="0" anchor="ctr"/>
          <a:lstStyle/>
          <a:p>
            <a:pPr algn="ctr" indent="0" marL="0">
              <a:buNone/>
            </a:pPr>
            <a:r>
              <a:rPr lang="en-US" sz="1200" b="1" spc="100" kern="0" dirty="0">
                <a:solidFill>
                  <a:srgbClr val="CFE8E4"/>
                </a:solidFill>
                <a:latin typeface="Arial" pitchFamily="34" charset="0"/>
                <a:ea typeface="Arial" pitchFamily="34" charset="-122"/>
                <a:cs typeface="Arial" pitchFamily="34" charset="-120"/>
              </a:rPr>
              <a:t>BurstMAE–MIL  ·  MLMI 2026, Japan</a:t>
            </a:r>
            <a:endParaRPr lang="en-US" sz="1200" dirty="0"/>
          </a:p>
        </p:txBody>
      </p:sp>
      <p:sp>
        <p:nvSpPr>
          <p:cNvPr id="16" name="Text 13"/>
          <p:cNvSpPr/>
          <p:nvPr/>
        </p:nvSpPr>
        <p:spPr>
          <a:xfrm>
            <a:off x="1371600" y="5989320"/>
            <a:ext cx="9445752" cy="548640"/>
          </a:xfrm>
          <a:prstGeom prst="rect">
            <a:avLst/>
          </a:prstGeom>
          <a:noFill/>
          <a:ln/>
        </p:spPr>
        <p:txBody>
          <a:bodyPr wrap="square" rtlCol="0" anchor="ctr"/>
          <a:lstStyle/>
          <a:p>
            <a:pPr algn="ctr" indent="0" marL="0">
              <a:lnSpc>
                <a:spcPct val="110000"/>
              </a:lnSpc>
              <a:buNone/>
            </a:pPr>
            <a:r>
              <a:rPr lang="en-US" sz="950" i="1" dirty="0">
                <a:solidFill>
                  <a:srgbClr val="AFC4D6"/>
                </a:solidFill>
                <a:latin typeface="Arial" pitchFamily="34" charset="0"/>
                <a:ea typeface="Arial" pitchFamily="34" charset="-122"/>
                <a:cs typeface="Arial" pitchFamily="34" charset="-120"/>
              </a:rPr>
              <a:t>Supported by the NIPA Manufacturing Industry AI Convergence Infrastructure Project (S0403–25–1001) and the MOTIE Technology Innovation Program (RS–2022–00142509).</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BurstMAE-MIL — MLMI 2026</dc:title>
  <dc:subject>PptxGenJS Presentation</dc:subject>
  <dc:creator>Muhammad Umar</dc:creator>
  <cp:lastModifiedBy>Muhammad Umar</cp:lastModifiedBy>
  <cp:revision>1</cp:revision>
  <dcterms:created xsi:type="dcterms:W3CDTF">2026-06-17T07:16:42Z</dcterms:created>
  <dcterms:modified xsi:type="dcterms:W3CDTF">2026-06-17T07:16:42Z</dcterms:modified>
</cp:coreProperties>
</file>